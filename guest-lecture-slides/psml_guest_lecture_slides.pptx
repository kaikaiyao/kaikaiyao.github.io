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95" r:id="rId3"/>
    <p:sldId id="279" r:id="rId4"/>
    <p:sldId id="286" r:id="rId5"/>
    <p:sldId id="280" r:id="rId6"/>
    <p:sldId id="284" r:id="rId7"/>
    <p:sldId id="285" r:id="rId8"/>
    <p:sldId id="281" r:id="rId9"/>
    <p:sldId id="283" r:id="rId10"/>
    <p:sldId id="290" r:id="rId11"/>
    <p:sldId id="288" r:id="rId12"/>
    <p:sldId id="298" r:id="rId13"/>
    <p:sldId id="297" r:id="rId14"/>
    <p:sldId id="291" r:id="rId15"/>
    <p:sldId id="287" r:id="rId16"/>
    <p:sldId id="289" r:id="rId17"/>
    <p:sldId id="296" r:id="rId18"/>
    <p:sldId id="293" r:id="rId19"/>
    <p:sldId id="294" r:id="rId20"/>
    <p:sldId id="282"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71AE"/>
    <a:srgbClr val="F7F8FA"/>
    <a:srgbClr val="F8F9FA"/>
    <a:srgbClr val="E14432"/>
    <a:srgbClr val="F2F2F4"/>
    <a:srgbClr val="5B6670"/>
    <a:srgbClr val="97979B"/>
    <a:srgbClr val="A3A8B0"/>
    <a:srgbClr val="F6C0B3"/>
    <a:srgbClr val="F7E6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4D4956-A513-6C4A-A0DE-45B21B5C3896}" v="44" dt="2026-03-19T23:12:29.9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42"/>
    <p:restoredTop sz="94935"/>
  </p:normalViewPr>
  <p:slideViewPr>
    <p:cSldViewPr snapToGrid="0" snapToObjects="1">
      <p:cViewPr varScale="1">
        <p:scale>
          <a:sx n="101" d="100"/>
          <a:sy n="101" d="100"/>
        </p:scale>
        <p:origin x="216"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i Yao" userId="792bab22-b15c-47af-9fb0-dea23048c891" providerId="ADAL" clId="{B307D502-80B3-51A6-A2CE-CF663ECCF47A}"/>
    <pc:docChg chg="undo custSel delSld modSld">
      <pc:chgData name="Kai Yao" userId="792bab22-b15c-47af-9fb0-dea23048c891" providerId="ADAL" clId="{B307D502-80B3-51A6-A2CE-CF663ECCF47A}" dt="2026-03-25T05:07:23.357" v="227" actId="1076"/>
      <pc:docMkLst>
        <pc:docMk/>
      </pc:docMkLst>
      <pc:sldChg chg="addSp delSp modSp mod">
        <pc:chgData name="Kai Yao" userId="792bab22-b15c-47af-9fb0-dea23048c891" providerId="ADAL" clId="{B307D502-80B3-51A6-A2CE-CF663ECCF47A}" dt="2026-03-19T18:43:05.175" v="28" actId="20577"/>
        <pc:sldMkLst>
          <pc:docMk/>
          <pc:sldMk cId="0" sldId="256"/>
        </pc:sldMkLst>
        <pc:spChg chg="mod">
          <ac:chgData name="Kai Yao" userId="792bab22-b15c-47af-9fb0-dea23048c891" providerId="ADAL" clId="{B307D502-80B3-51A6-A2CE-CF663ECCF47A}" dt="2026-03-19T18:43:05.175" v="28" actId="20577"/>
          <ac:spMkLst>
            <pc:docMk/>
            <pc:sldMk cId="0" sldId="256"/>
            <ac:spMk id="3" creationId="{00000000-0000-0000-0000-000000000000}"/>
          </ac:spMkLst>
        </pc:spChg>
        <pc:picChg chg="add mod">
          <ac:chgData name="Kai Yao" userId="792bab22-b15c-47af-9fb0-dea23048c891" providerId="ADAL" clId="{B307D502-80B3-51A6-A2CE-CF663ECCF47A}" dt="2026-03-19T18:42:47.129" v="27" actId="1076"/>
          <ac:picMkLst>
            <pc:docMk/>
            <pc:sldMk cId="0" sldId="256"/>
            <ac:picMk id="5" creationId="{2AE468AF-A37B-1E33-C489-9AC77C20E6B9}"/>
          </ac:picMkLst>
        </pc:picChg>
      </pc:sldChg>
      <pc:sldChg chg="modSp mod modAnim">
        <pc:chgData name="Kai Yao" userId="792bab22-b15c-47af-9fb0-dea23048c891" providerId="ADAL" clId="{B307D502-80B3-51A6-A2CE-CF663ECCF47A}" dt="2026-03-19T23:01:03.824" v="35"/>
        <pc:sldMkLst>
          <pc:docMk/>
          <pc:sldMk cId="4095709008" sldId="280"/>
        </pc:sldMkLst>
        <pc:spChg chg="mod">
          <ac:chgData name="Kai Yao" userId="792bab22-b15c-47af-9fb0-dea23048c891" providerId="ADAL" clId="{B307D502-80B3-51A6-A2CE-CF663ECCF47A}" dt="2026-03-19T23:00:56.108" v="33" actId="1076"/>
          <ac:spMkLst>
            <pc:docMk/>
            <pc:sldMk cId="4095709008" sldId="280"/>
            <ac:spMk id="9" creationId="{6B817152-577A-83DD-39F5-BE29DA305B05}"/>
          </ac:spMkLst>
        </pc:spChg>
      </pc:sldChg>
      <pc:sldChg chg="modAnim">
        <pc:chgData name="Kai Yao" userId="792bab22-b15c-47af-9fb0-dea23048c891" providerId="ADAL" clId="{B307D502-80B3-51A6-A2CE-CF663ECCF47A}" dt="2026-03-19T23:02:50.220" v="77"/>
        <pc:sldMkLst>
          <pc:docMk/>
          <pc:sldMk cId="4082240810" sldId="281"/>
        </pc:sldMkLst>
      </pc:sldChg>
      <pc:sldChg chg="modSp mod modNotesTx">
        <pc:chgData name="Kai Yao" userId="792bab22-b15c-47af-9fb0-dea23048c891" providerId="ADAL" clId="{B307D502-80B3-51A6-A2CE-CF663ECCF47A}" dt="2026-03-20T09:34:55.159" v="181" actId="20577"/>
        <pc:sldMkLst>
          <pc:docMk/>
          <pc:sldMk cId="357280388" sldId="282"/>
        </pc:sldMkLst>
        <pc:spChg chg="mod">
          <ac:chgData name="Kai Yao" userId="792bab22-b15c-47af-9fb0-dea23048c891" providerId="ADAL" clId="{B307D502-80B3-51A6-A2CE-CF663ECCF47A}" dt="2026-03-19T23:04:52.778" v="101" actId="207"/>
          <ac:spMkLst>
            <pc:docMk/>
            <pc:sldMk cId="357280388" sldId="282"/>
            <ac:spMk id="11" creationId="{F42928ED-0548-1878-86D5-FAA7B8CD2E95}"/>
          </ac:spMkLst>
        </pc:spChg>
      </pc:sldChg>
      <pc:sldChg chg="addSp modSp mod modAnim">
        <pc:chgData name="Kai Yao" userId="792bab22-b15c-47af-9fb0-dea23048c891" providerId="ADAL" clId="{B307D502-80B3-51A6-A2CE-CF663ECCF47A}" dt="2026-03-19T23:02:33.985" v="74"/>
        <pc:sldMkLst>
          <pc:docMk/>
          <pc:sldMk cId="3677453009" sldId="285"/>
        </pc:sldMkLst>
        <pc:spChg chg="add mod">
          <ac:chgData name="Kai Yao" userId="792bab22-b15c-47af-9fb0-dea23048c891" providerId="ADAL" clId="{B307D502-80B3-51A6-A2CE-CF663ECCF47A}" dt="2026-03-19T23:02:10.601" v="64" actId="1035"/>
          <ac:spMkLst>
            <pc:docMk/>
            <pc:sldMk cId="3677453009" sldId="285"/>
            <ac:spMk id="7" creationId="{DB137CC9-9C8C-E78C-484C-BFD659E3E348}"/>
          </ac:spMkLst>
        </pc:spChg>
        <pc:spChg chg="mod">
          <ac:chgData name="Kai Yao" userId="792bab22-b15c-47af-9fb0-dea23048c891" providerId="ADAL" clId="{B307D502-80B3-51A6-A2CE-CF663ECCF47A}" dt="2026-03-19T23:02:21.962" v="71" actId="34135"/>
          <ac:spMkLst>
            <pc:docMk/>
            <pc:sldMk cId="3677453009" sldId="285"/>
            <ac:spMk id="8" creationId="{C3AD63F6-B4FD-E46D-6D96-8A84D0E54D17}"/>
          </ac:spMkLst>
        </pc:spChg>
        <pc:spChg chg="mod">
          <ac:chgData name="Kai Yao" userId="792bab22-b15c-47af-9fb0-dea23048c891" providerId="ADAL" clId="{B307D502-80B3-51A6-A2CE-CF663ECCF47A}" dt="2026-03-19T23:01:18.113" v="36" actId="20577"/>
          <ac:spMkLst>
            <pc:docMk/>
            <pc:sldMk cId="3677453009" sldId="285"/>
            <ac:spMk id="12" creationId="{6A1ED6AC-2D5F-3DD5-6A76-FCC4F0EB6EFB}"/>
          </ac:spMkLst>
        </pc:spChg>
        <pc:spChg chg="add mod">
          <ac:chgData name="Kai Yao" userId="792bab22-b15c-47af-9fb0-dea23048c891" providerId="ADAL" clId="{B307D502-80B3-51A6-A2CE-CF663ECCF47A}" dt="2026-03-19T23:02:18.966" v="70" actId="1076"/>
          <ac:spMkLst>
            <pc:docMk/>
            <pc:sldMk cId="3677453009" sldId="285"/>
            <ac:spMk id="13" creationId="{2EE81A40-D45E-FE8B-AC9D-1E3AEAAFEE85}"/>
          </ac:spMkLst>
        </pc:spChg>
      </pc:sldChg>
      <pc:sldChg chg="modSp mod modAnim">
        <pc:chgData name="Kai Yao" userId="792bab22-b15c-47af-9fb0-dea23048c891" providerId="ADAL" clId="{B307D502-80B3-51A6-A2CE-CF663ECCF47A}" dt="2026-03-25T05:07:23.357" v="227" actId="1076"/>
        <pc:sldMkLst>
          <pc:docMk/>
          <pc:sldMk cId="845034297" sldId="286"/>
        </pc:sldMkLst>
        <pc:spChg chg="mod">
          <ac:chgData name="Kai Yao" userId="792bab22-b15c-47af-9fb0-dea23048c891" providerId="ADAL" clId="{B307D502-80B3-51A6-A2CE-CF663ECCF47A}" dt="2026-03-20T08:57:20.317" v="179" actId="113"/>
          <ac:spMkLst>
            <pc:docMk/>
            <pc:sldMk cId="845034297" sldId="286"/>
            <ac:spMk id="12" creationId="{3F0365A0-BA72-0E44-6BAE-5DAF6EA08CB6}"/>
          </ac:spMkLst>
        </pc:spChg>
        <pc:spChg chg="mod">
          <ac:chgData name="Kai Yao" userId="792bab22-b15c-47af-9fb0-dea23048c891" providerId="ADAL" clId="{B307D502-80B3-51A6-A2CE-CF663ECCF47A}" dt="2026-03-25T05:07:21.115" v="226" actId="1076"/>
          <ac:spMkLst>
            <pc:docMk/>
            <pc:sldMk cId="845034297" sldId="286"/>
            <ac:spMk id="21" creationId="{468100CD-BA08-5CDB-D4B7-167CDF93B941}"/>
          </ac:spMkLst>
        </pc:spChg>
        <pc:spChg chg="mod">
          <ac:chgData name="Kai Yao" userId="792bab22-b15c-47af-9fb0-dea23048c891" providerId="ADAL" clId="{B307D502-80B3-51A6-A2CE-CF663ECCF47A}" dt="2026-03-20T08:57:24.077" v="180" actId="1076"/>
          <ac:spMkLst>
            <pc:docMk/>
            <pc:sldMk cId="845034297" sldId="286"/>
            <ac:spMk id="27" creationId="{46F9B50B-0AF1-6BCC-D042-80A8ECC75FAA}"/>
          </ac:spMkLst>
        </pc:spChg>
        <pc:spChg chg="mod">
          <ac:chgData name="Kai Yao" userId="792bab22-b15c-47af-9fb0-dea23048c891" providerId="ADAL" clId="{B307D502-80B3-51A6-A2CE-CF663ECCF47A}" dt="2026-03-25T05:07:23.357" v="227" actId="1076"/>
          <ac:spMkLst>
            <pc:docMk/>
            <pc:sldMk cId="845034297" sldId="286"/>
            <ac:spMk id="28" creationId="{EC36699F-FA34-B4B7-46DC-A8399AB23CA2}"/>
          </ac:spMkLst>
        </pc:spChg>
      </pc:sldChg>
      <pc:sldChg chg="modSp mod">
        <pc:chgData name="Kai Yao" userId="792bab22-b15c-47af-9fb0-dea23048c891" providerId="ADAL" clId="{B307D502-80B3-51A6-A2CE-CF663ECCF47A}" dt="2026-03-19T23:09:14.350" v="154" actId="113"/>
        <pc:sldMkLst>
          <pc:docMk/>
          <pc:sldMk cId="1388759663" sldId="287"/>
        </pc:sldMkLst>
        <pc:spChg chg="mod">
          <ac:chgData name="Kai Yao" userId="792bab22-b15c-47af-9fb0-dea23048c891" providerId="ADAL" clId="{B307D502-80B3-51A6-A2CE-CF663ECCF47A}" dt="2026-03-19T23:09:14.350" v="154" actId="113"/>
          <ac:spMkLst>
            <pc:docMk/>
            <pc:sldMk cId="1388759663" sldId="287"/>
            <ac:spMk id="19" creationId="{FE58BB11-C628-6D2D-CF36-28A66B885E1F}"/>
          </ac:spMkLst>
        </pc:spChg>
      </pc:sldChg>
      <pc:sldChg chg="modAnim">
        <pc:chgData name="Kai Yao" userId="792bab22-b15c-47af-9fb0-dea23048c891" providerId="ADAL" clId="{B307D502-80B3-51A6-A2CE-CF663ECCF47A}" dt="2026-03-19T23:03:13.568" v="79"/>
        <pc:sldMkLst>
          <pc:docMk/>
          <pc:sldMk cId="2169324121" sldId="288"/>
        </pc:sldMkLst>
      </pc:sldChg>
      <pc:sldChg chg="modAnim">
        <pc:chgData name="Kai Yao" userId="792bab22-b15c-47af-9fb0-dea23048c891" providerId="ADAL" clId="{B307D502-80B3-51A6-A2CE-CF663ECCF47A}" dt="2026-03-19T23:03:51.562" v="84"/>
        <pc:sldMkLst>
          <pc:docMk/>
          <pc:sldMk cId="2270952507" sldId="289"/>
        </pc:sldMkLst>
      </pc:sldChg>
      <pc:sldChg chg="addSp delSp modSp mod modAnim">
        <pc:chgData name="Kai Yao" userId="792bab22-b15c-47af-9fb0-dea23048c891" providerId="ADAL" clId="{B307D502-80B3-51A6-A2CE-CF663ECCF47A}" dt="2026-03-19T23:12:29.975" v="177"/>
        <pc:sldMkLst>
          <pc:docMk/>
          <pc:sldMk cId="488391714" sldId="291"/>
        </pc:sldMkLst>
        <pc:spChg chg="add mod">
          <ac:chgData name="Kai Yao" userId="792bab22-b15c-47af-9fb0-dea23048c891" providerId="ADAL" clId="{B307D502-80B3-51A6-A2CE-CF663ECCF47A}" dt="2026-03-19T23:11:55.515" v="168" actId="207"/>
          <ac:spMkLst>
            <pc:docMk/>
            <pc:sldMk cId="488391714" sldId="291"/>
            <ac:spMk id="12" creationId="{AE1EB7CC-779C-AE0B-90E1-E3A70E060F2D}"/>
          </ac:spMkLst>
        </pc:spChg>
        <pc:picChg chg="add mod">
          <ac:chgData name="Kai Yao" userId="792bab22-b15c-47af-9fb0-dea23048c891" providerId="ADAL" clId="{B307D502-80B3-51A6-A2CE-CF663ECCF47A}" dt="2026-03-19T23:11:24.663" v="161" actId="208"/>
          <ac:picMkLst>
            <pc:docMk/>
            <pc:sldMk cId="488391714" sldId="291"/>
            <ac:picMk id="7" creationId="{01DA2EDD-6A7C-4390-202C-28988557B843}"/>
          </ac:picMkLst>
        </pc:picChg>
        <pc:cxnChg chg="add mod">
          <ac:chgData name="Kai Yao" userId="792bab22-b15c-47af-9fb0-dea23048c891" providerId="ADAL" clId="{B307D502-80B3-51A6-A2CE-CF663ECCF47A}" dt="2026-03-19T23:12:22.481" v="176" actId="1582"/>
          <ac:cxnSpMkLst>
            <pc:docMk/>
            <pc:sldMk cId="488391714" sldId="291"/>
            <ac:cxnSpMk id="15" creationId="{DCD8FC94-5CA9-05E3-BAB6-84932FEB9DAB}"/>
          </ac:cxnSpMkLst>
        </pc:cxnChg>
      </pc:sldChg>
      <pc:sldChg chg="modSp mod">
        <pc:chgData name="Kai Yao" userId="792bab22-b15c-47af-9fb0-dea23048c891" providerId="ADAL" clId="{B307D502-80B3-51A6-A2CE-CF663ECCF47A}" dt="2026-03-19T23:04:23.855" v="97" actId="1076"/>
        <pc:sldMkLst>
          <pc:docMk/>
          <pc:sldMk cId="3772129884" sldId="293"/>
        </pc:sldMkLst>
        <pc:spChg chg="mod">
          <ac:chgData name="Kai Yao" userId="792bab22-b15c-47af-9fb0-dea23048c891" providerId="ADAL" clId="{B307D502-80B3-51A6-A2CE-CF663ECCF47A}" dt="2026-03-19T23:04:18.530" v="94" actId="20577"/>
          <ac:spMkLst>
            <pc:docMk/>
            <pc:sldMk cId="3772129884" sldId="293"/>
            <ac:spMk id="11" creationId="{A8C36565-96FE-8E5A-43EF-A8A96DFE01A3}"/>
          </ac:spMkLst>
        </pc:spChg>
        <pc:spChg chg="mod">
          <ac:chgData name="Kai Yao" userId="792bab22-b15c-47af-9fb0-dea23048c891" providerId="ADAL" clId="{B307D502-80B3-51A6-A2CE-CF663ECCF47A}" dt="2026-03-19T23:04:23.855" v="97" actId="1076"/>
          <ac:spMkLst>
            <pc:docMk/>
            <pc:sldMk cId="3772129884" sldId="293"/>
            <ac:spMk id="12" creationId="{A07E0BB2-4D52-6284-C0FB-50FD542B4CA7}"/>
          </ac:spMkLst>
        </pc:spChg>
        <pc:spChg chg="mod">
          <ac:chgData name="Kai Yao" userId="792bab22-b15c-47af-9fb0-dea23048c891" providerId="ADAL" clId="{B307D502-80B3-51A6-A2CE-CF663ECCF47A}" dt="2026-03-19T23:04:23.855" v="97" actId="1076"/>
          <ac:spMkLst>
            <pc:docMk/>
            <pc:sldMk cId="3772129884" sldId="293"/>
            <ac:spMk id="14" creationId="{4C145C3F-D8B8-8434-571B-792AA308093A}"/>
          </ac:spMkLst>
        </pc:spChg>
        <pc:picChg chg="mod">
          <ac:chgData name="Kai Yao" userId="792bab22-b15c-47af-9fb0-dea23048c891" providerId="ADAL" clId="{B307D502-80B3-51A6-A2CE-CF663ECCF47A}" dt="2026-03-19T23:04:23.855" v="97" actId="1076"/>
          <ac:picMkLst>
            <pc:docMk/>
            <pc:sldMk cId="3772129884" sldId="293"/>
            <ac:picMk id="10" creationId="{1625A22E-0D6D-0578-87E8-9CCC96E5C6D6}"/>
          </ac:picMkLst>
        </pc:picChg>
      </pc:sldChg>
      <pc:sldChg chg="addSp modSp mod modAnim modNotesTx">
        <pc:chgData name="Kai Yao" userId="792bab22-b15c-47af-9fb0-dea23048c891" providerId="ADAL" clId="{B307D502-80B3-51A6-A2CE-CF663ECCF47A}" dt="2026-03-20T09:35:02.280" v="183" actId="20577"/>
        <pc:sldMkLst>
          <pc:docMk/>
          <pc:sldMk cId="2041269390" sldId="294"/>
        </pc:sldMkLst>
        <pc:spChg chg="mod">
          <ac:chgData name="Kai Yao" userId="792bab22-b15c-47af-9fb0-dea23048c891" providerId="ADAL" clId="{B307D502-80B3-51A6-A2CE-CF663ECCF47A}" dt="2026-03-19T23:08:54.070" v="151" actId="1037"/>
          <ac:spMkLst>
            <pc:docMk/>
            <pc:sldMk cId="2041269390" sldId="294"/>
            <ac:spMk id="9" creationId="{DEF4BA24-0159-065F-6C2F-EECB719B9341}"/>
          </ac:spMkLst>
        </pc:spChg>
        <pc:spChg chg="mod">
          <ac:chgData name="Kai Yao" userId="792bab22-b15c-47af-9fb0-dea23048c891" providerId="ADAL" clId="{B307D502-80B3-51A6-A2CE-CF663ECCF47A}" dt="2026-03-19T23:08:52.704" v="149" actId="1037"/>
          <ac:spMkLst>
            <pc:docMk/>
            <pc:sldMk cId="2041269390" sldId="294"/>
            <ac:spMk id="10" creationId="{A7E0DC4B-3D7B-DE58-8CAB-B8052E36A872}"/>
          </ac:spMkLst>
        </pc:spChg>
        <pc:spChg chg="mod">
          <ac:chgData name="Kai Yao" userId="792bab22-b15c-47af-9fb0-dea23048c891" providerId="ADAL" clId="{B307D502-80B3-51A6-A2CE-CF663ECCF47A}" dt="2026-03-19T23:08:51.403" v="146" actId="1037"/>
          <ac:spMkLst>
            <pc:docMk/>
            <pc:sldMk cId="2041269390" sldId="294"/>
            <ac:spMk id="11" creationId="{DAAEBC6D-2038-4937-E838-A45C72FF6A59}"/>
          </ac:spMkLst>
        </pc:spChg>
        <pc:spChg chg="mod">
          <ac:chgData name="Kai Yao" userId="792bab22-b15c-47af-9fb0-dea23048c891" providerId="ADAL" clId="{B307D502-80B3-51A6-A2CE-CF663ECCF47A}" dt="2026-03-19T23:06:47.707" v="128" actId="1036"/>
          <ac:spMkLst>
            <pc:docMk/>
            <pc:sldMk cId="2041269390" sldId="294"/>
            <ac:spMk id="20" creationId="{993FD779-392F-694E-4FA9-F4DD6F6DF17E}"/>
          </ac:spMkLst>
        </pc:spChg>
        <pc:spChg chg="mod">
          <ac:chgData name="Kai Yao" userId="792bab22-b15c-47af-9fb0-dea23048c891" providerId="ADAL" clId="{B307D502-80B3-51A6-A2CE-CF663ECCF47A}" dt="2026-03-19T23:06:47.707" v="128" actId="1036"/>
          <ac:spMkLst>
            <pc:docMk/>
            <pc:sldMk cId="2041269390" sldId="294"/>
            <ac:spMk id="21" creationId="{84812890-BAB1-CD04-E9C6-B45845A30A45}"/>
          </ac:spMkLst>
        </pc:spChg>
        <pc:spChg chg="mod">
          <ac:chgData name="Kai Yao" userId="792bab22-b15c-47af-9fb0-dea23048c891" providerId="ADAL" clId="{B307D502-80B3-51A6-A2CE-CF663ECCF47A}" dt="2026-03-19T23:06:47.707" v="128" actId="1036"/>
          <ac:spMkLst>
            <pc:docMk/>
            <pc:sldMk cId="2041269390" sldId="294"/>
            <ac:spMk id="22" creationId="{7485DFC1-EF68-F590-6038-45FD71D0BEB0}"/>
          </ac:spMkLst>
        </pc:spChg>
        <pc:picChg chg="add mod">
          <ac:chgData name="Kai Yao" userId="792bab22-b15c-47af-9fb0-dea23048c891" providerId="ADAL" clId="{B307D502-80B3-51A6-A2CE-CF663ECCF47A}" dt="2026-03-19T23:06:44.150" v="124" actId="1038"/>
          <ac:picMkLst>
            <pc:docMk/>
            <pc:sldMk cId="2041269390" sldId="294"/>
            <ac:picMk id="6" creationId="{C8A0DFCD-3094-2CC3-9A57-69506697563F}"/>
          </ac:picMkLst>
        </pc:picChg>
        <pc:picChg chg="add mod">
          <ac:chgData name="Kai Yao" userId="792bab22-b15c-47af-9fb0-dea23048c891" providerId="ADAL" clId="{B307D502-80B3-51A6-A2CE-CF663ECCF47A}" dt="2026-03-19T23:06:40.320" v="123" actId="1076"/>
          <ac:picMkLst>
            <pc:docMk/>
            <pc:sldMk cId="2041269390" sldId="294"/>
            <ac:picMk id="7" creationId="{FABDD120-F378-52A3-C481-0613B08C3D2F}"/>
          </ac:picMkLst>
        </pc:picChg>
        <pc:picChg chg="mod">
          <ac:chgData name="Kai Yao" userId="792bab22-b15c-47af-9fb0-dea23048c891" providerId="ADAL" clId="{B307D502-80B3-51A6-A2CE-CF663ECCF47A}" dt="2026-03-19T23:06:45.750" v="125" actId="1036"/>
          <ac:picMkLst>
            <pc:docMk/>
            <pc:sldMk cId="2041269390" sldId="294"/>
            <ac:picMk id="19" creationId="{91FACC44-21D6-C53D-A675-276F2ED38FD4}"/>
          </ac:picMkLst>
        </pc:picChg>
      </pc:sldChg>
      <pc:sldChg chg="modSp mod">
        <pc:chgData name="Kai Yao" userId="792bab22-b15c-47af-9fb0-dea23048c891" providerId="ADAL" clId="{B307D502-80B3-51A6-A2CE-CF663ECCF47A}" dt="2026-03-19T23:04:26.584" v="98" actId="1076"/>
        <pc:sldMkLst>
          <pc:docMk/>
          <pc:sldMk cId="4167668030" sldId="296"/>
        </pc:sldMkLst>
        <pc:spChg chg="mod">
          <ac:chgData name="Kai Yao" userId="792bab22-b15c-47af-9fb0-dea23048c891" providerId="ADAL" clId="{B307D502-80B3-51A6-A2CE-CF663ECCF47A}" dt="2026-03-19T23:04:12.368" v="93" actId="20577"/>
          <ac:spMkLst>
            <pc:docMk/>
            <pc:sldMk cId="4167668030" sldId="296"/>
            <ac:spMk id="11" creationId="{3F3CF1DA-E5E7-FF23-55B2-388B69E6143C}"/>
          </ac:spMkLst>
        </pc:spChg>
        <pc:spChg chg="mod">
          <ac:chgData name="Kai Yao" userId="792bab22-b15c-47af-9fb0-dea23048c891" providerId="ADAL" clId="{B307D502-80B3-51A6-A2CE-CF663ECCF47A}" dt="2026-03-19T23:04:26.584" v="98" actId="1076"/>
          <ac:spMkLst>
            <pc:docMk/>
            <pc:sldMk cId="4167668030" sldId="296"/>
            <ac:spMk id="12" creationId="{DA2E6119-22D9-97D2-7923-1C99F18C0D25}"/>
          </ac:spMkLst>
        </pc:spChg>
        <pc:spChg chg="mod">
          <ac:chgData name="Kai Yao" userId="792bab22-b15c-47af-9fb0-dea23048c891" providerId="ADAL" clId="{B307D502-80B3-51A6-A2CE-CF663ECCF47A}" dt="2026-03-19T23:04:26.584" v="98" actId="1076"/>
          <ac:spMkLst>
            <pc:docMk/>
            <pc:sldMk cId="4167668030" sldId="296"/>
            <ac:spMk id="14" creationId="{DCDB9239-13C7-153E-6FD6-1C36FC7426B0}"/>
          </ac:spMkLst>
        </pc:spChg>
        <pc:picChg chg="mod">
          <ac:chgData name="Kai Yao" userId="792bab22-b15c-47af-9fb0-dea23048c891" providerId="ADAL" clId="{B307D502-80B3-51A6-A2CE-CF663ECCF47A}" dt="2026-03-19T23:04:26.584" v="98" actId="1076"/>
          <ac:picMkLst>
            <pc:docMk/>
            <pc:sldMk cId="4167668030" sldId="296"/>
            <ac:picMk id="13" creationId="{1E8F142E-B3A0-64AF-803F-34458CD74852}"/>
          </ac:picMkLst>
        </pc:picChg>
      </pc:sldChg>
      <pc:sldChg chg="modAnim">
        <pc:chgData name="Kai Yao" userId="792bab22-b15c-47af-9fb0-dea23048c891" providerId="ADAL" clId="{B307D502-80B3-51A6-A2CE-CF663ECCF47A}" dt="2026-03-19T23:03:26.224" v="81"/>
        <pc:sldMkLst>
          <pc:docMk/>
          <pc:sldMk cId="2977977801" sldId="29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8828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4A0D5-FFE2-C82F-1F43-BD6E34C7A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01CF2B-C642-5311-31E9-1796429C7B8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1AC1674-59EC-5001-0D9F-97BF9E2B08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FD6834-F8BA-1C63-8EB5-1ABDDF3399E7}"/>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448041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43BA9-E87B-D273-87C0-5C08DD4413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A6B2AF-FF3A-3FC5-560E-34DBE683249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9643465-6952-D98D-6DB8-9D6885EC49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D282DA-C0FC-E100-E12F-9100154B8CBC}"/>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384492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F4B81-BEC8-6296-D215-61029940F9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0EE75-512A-BADB-1D49-6B2B39FFFD1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0DCDB95-A7CD-EA9D-4B83-88F3530BF3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F1095F-7ED1-DD2D-CEB6-F8E12DE361E7}"/>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129148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DF1E1-D411-39F1-7326-838A70E8B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7FE35D-8D9E-1056-D42F-09CD849E00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98330E6-DA6B-5285-D323-B9C6C33EEA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41A2E6-4310-C409-2C14-3EF13E70777D}"/>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078451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626A9-EE2A-FBA2-7502-BE4A98600E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B646A7-6AAB-F90B-6460-1B7DB77CA62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A804CF-B61F-B6BB-FD25-2200592848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E0513C-3EB0-144B-7EB2-0A4F9429C43B}"/>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8706507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B2B1A-9E7C-D7A5-8368-C9D90A17E1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F42DF2-BC70-6BB2-CD21-7743EC6E289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2FE8AA4-77D3-9EFA-B79C-9098288B6D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06697D-F7C3-1100-AE42-A137CD6B88A2}"/>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971994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A72E1-931E-6FB0-A8A5-EF4FC7EB30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B578A-9FB4-98EF-6651-342FA6CF679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AA857DF-4D04-1437-4E34-DF60E58ABD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825797-8F67-5010-A18D-5870F8DF200E}"/>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17415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51876-156B-3BB8-D2AA-E419971B5A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722CE-1B4A-B6D2-2380-E344D353062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7229741-55F9-A04C-9AA1-11ADAEFC280F}"/>
              </a:ext>
            </a:extLst>
          </p:cNvPr>
          <p:cNvSpPr>
            <a:spLocks noGrp="1"/>
          </p:cNvSpPr>
          <p:nvPr>
            <p:ph type="body" idx="1"/>
          </p:nvPr>
        </p:nvSpPr>
        <p:spPr/>
        <p:txBody>
          <a:bodyPr/>
          <a:lstStyle/>
          <a:p>
            <a:r>
              <a:rPr lang="en-US" dirty="0">
                <a:latin typeface="Google Sans" pitchFamily="2" charset="0"/>
                <a:ea typeface="Google Sans" pitchFamily="2" charset="0"/>
                <a:cs typeface="Google Sans" pitchFamily="2" charset="0"/>
              </a:rPr>
              <a:t>https://</a:t>
            </a:r>
            <a:r>
              <a:rPr lang="en-US" dirty="0" err="1">
                <a:latin typeface="Google Sans" pitchFamily="2" charset="0"/>
                <a:ea typeface="Google Sans" pitchFamily="2" charset="0"/>
                <a:cs typeface="Google Sans" pitchFamily="2" charset="0"/>
              </a:rPr>
              <a:t>arxiv.org</a:t>
            </a:r>
            <a:r>
              <a:rPr lang="en-US" dirty="0">
                <a:latin typeface="Google Sans" pitchFamily="2" charset="0"/>
                <a:ea typeface="Google Sans" pitchFamily="2" charset="0"/>
                <a:cs typeface="Google Sans" pitchFamily="2" charset="0"/>
              </a:rPr>
              <a:t>/pdf/2007.08457</a:t>
            </a:r>
          </a:p>
        </p:txBody>
      </p:sp>
      <p:sp>
        <p:nvSpPr>
          <p:cNvPr id="4" name="Slide Number Placeholder 3">
            <a:extLst>
              <a:ext uri="{FF2B5EF4-FFF2-40B4-BE49-F238E27FC236}">
                <a16:creationId xmlns:a16="http://schemas.microsoft.com/office/drawing/2014/main" id="{BABC0BBA-664D-F97D-A823-BB978AA788F6}"/>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2800111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DB72F-2154-46C6-5D3C-897AFA0D7D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FB5C42-F8F1-3BF3-F038-E5A58517458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676B210-FB6F-923A-AAD3-D63ECDE3D8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B83145-D2F1-7C83-C14E-F0A55A2CB06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50591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4FC16-BF7E-A9EE-6323-382DB0AC1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EA0074-A10B-EA8D-8CE7-B809D603CC8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B9AAEC8-C823-734D-93EA-F27C7EF19D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C929D0-A193-C2A0-D1CA-08BCA6713AB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8458042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5E96F-F8F3-7454-5117-A9E02E81F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42AF97-E231-F9F4-BD14-D0F8548D620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BD253A1-D32D-E8FE-42EA-E7FE825019E2}"/>
              </a:ext>
            </a:extLst>
          </p:cNvPr>
          <p:cNvSpPr>
            <a:spLocks noGrp="1"/>
          </p:cNvSpPr>
          <p:nvPr>
            <p:ph type="body" idx="1"/>
          </p:nvPr>
        </p:nvSpPr>
        <p:spPr/>
        <p:txBody>
          <a:bodyPr/>
          <a:lstStyle/>
          <a:p>
            <a:r>
              <a:rPr lang="en-US" dirty="0">
                <a:latin typeface="Google Sans" pitchFamily="2" charset="0"/>
                <a:ea typeface="Google Sans" pitchFamily="2" charset="0"/>
                <a:cs typeface="Google Sans" pitchFamily="2" charset="0"/>
              </a:rPr>
              <a:t>https://</a:t>
            </a:r>
            <a:r>
              <a:rPr lang="en-US" dirty="0" err="1">
                <a:latin typeface="Google Sans" pitchFamily="2" charset="0"/>
                <a:ea typeface="Google Sans" pitchFamily="2" charset="0"/>
                <a:cs typeface="Google Sans" pitchFamily="2" charset="0"/>
              </a:rPr>
              <a:t>arxiv.org</a:t>
            </a:r>
            <a:r>
              <a:rPr lang="en-US" dirty="0">
                <a:latin typeface="Google Sans" pitchFamily="2" charset="0"/>
                <a:ea typeface="Google Sans" pitchFamily="2" charset="0"/>
                <a:cs typeface="Google Sans" pitchFamily="2" charset="0"/>
              </a:rPr>
              <a:t>/pdf/2007.08457</a:t>
            </a:r>
          </a:p>
        </p:txBody>
      </p:sp>
      <p:sp>
        <p:nvSpPr>
          <p:cNvPr id="4" name="Slide Number Placeholder 3">
            <a:extLst>
              <a:ext uri="{FF2B5EF4-FFF2-40B4-BE49-F238E27FC236}">
                <a16:creationId xmlns:a16="http://schemas.microsoft.com/office/drawing/2014/main" id="{1E43C792-5D92-3750-6674-0F770CB193B3}"/>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962353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F9708-48AC-22CA-9161-DEA237E652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0FE54-B4CA-4E43-5824-6AE03D1B78C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E58A2FC-030D-E4B6-6D5E-2A596438C8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210A4B-BF89-B447-F9A3-B7220B30DA85}"/>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0958625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AC4D9-89C2-2FE7-C971-70C927E30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887C6C-F214-828C-A76E-E49B6968F14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2E89D3A-B578-B060-024B-A8DD307001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F9461B-7B62-62DD-1AB5-0EAD127A2F0A}"/>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138331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3997C-C1B5-C2D3-2861-9C244BB817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234CE7-C46C-5ABB-1F3F-80C57B822E4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A688373-2B62-8AFF-6B86-A69A32A066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D64B9C-64A6-C460-360F-500A68086DC7}"/>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4659866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0B224-7BA3-F7A4-9B2B-C7D25F60D9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C2A946-7710-334B-1B3F-45E3AEFCA73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351F339-DAD3-C8C1-FC0E-E424D4BB39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AD307E-5A0A-B8D4-5DC5-B659E54EDF47}"/>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3856869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2AAB8-9E78-7EC0-01DD-D250CA5024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922721-DADD-1A82-7BAD-EB637A99623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A44BC1B-3B8C-61AB-2528-66CFD39DC7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4FD531-06C9-944F-6A2F-64052C20412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125357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6064B-9587-003D-5EEE-DCD729F70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D11DB9-7FFA-3692-057B-FC46EC5F95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111241-07BD-1604-0346-F138463777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F45CDE-0D1A-A140-0376-6AAF9B193605}"/>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7771784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C5335-8ECD-7682-4EDC-17A424BFE9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8CE46F-A75D-CCFB-69C9-33FF9FF8EC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EEE8D88-BCD9-4314-9C52-53304CE104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47047A-2C7D-38CE-3CDD-EF6C440A282E}"/>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752561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124C2-1D32-FFBD-45E6-2C44D0F1E6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1490D-D366-C605-0C3B-A1171B4260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BF2D3DB-649E-23AB-37FD-B25EE7171C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4E73D2-A597-0DF4-36A8-1F6D9760821F}"/>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241262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help.openai.com/en/articles/8912793-c2pa-in-chatgpt-images"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hyperlink" Target="https://verify.contentauthenticity.or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hyperlink" Target="https://deepmind.google/models/synthid/"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hyperlink" Target="https://pierrefdz.github.io/publications/stablesignature/"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hyperlink" Target="https://arxiv.org/pdf/2401.08573" TargetMode="Externa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0.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26.png"/><Relationship Id="rId4" Type="http://schemas.openxmlformats.org/officeDocument/2006/relationships/image" Target="../media/image35.png"/><Relationship Id="rId9"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Text 1"/>
          <p:cNvSpPr/>
          <p:nvPr/>
        </p:nvSpPr>
        <p:spPr>
          <a:xfrm>
            <a:off x="676655" y="2678216"/>
            <a:ext cx="8145611" cy="475488"/>
          </a:xfrm>
          <a:prstGeom prst="rect">
            <a:avLst/>
          </a:prstGeom>
          <a:noFill/>
          <a:ln/>
        </p:spPr>
        <p:txBody>
          <a:bodyPr wrap="square" lIns="0" tIns="0" rIns="0" bIns="0" rtlCol="0" anchor="ctr"/>
          <a:lstStyle/>
          <a:p>
            <a:pPr marL="0" indent="0">
              <a:buNone/>
            </a:pPr>
            <a:r>
              <a:rPr lang="en-US" sz="3200" b="1">
                <a:solidFill>
                  <a:srgbClr val="13293D"/>
                </a:solidFill>
                <a:latin typeface="Google Sans" pitchFamily="2" charset="0"/>
                <a:ea typeface="Google Sans" pitchFamily="2" charset="0"/>
                <a:cs typeface="Google Sans" pitchFamily="2" charset="0"/>
              </a:rPr>
              <a:t>Who </a:t>
            </a:r>
            <a:r>
              <a:rPr lang="en-US" sz="3200" b="1" dirty="0">
                <a:solidFill>
                  <a:srgbClr val="13293D"/>
                </a:solidFill>
                <a:latin typeface="Google Sans" pitchFamily="2" charset="0"/>
                <a:ea typeface="Google Sans" pitchFamily="2" charset="0"/>
                <a:cs typeface="Google Sans" pitchFamily="2" charset="0"/>
              </a:rPr>
              <a:t>generated this image?</a:t>
            </a:r>
            <a:endParaRPr lang="en-US" sz="3200" dirty="0">
              <a:latin typeface="Google Sans" pitchFamily="2" charset="0"/>
              <a:ea typeface="Google Sans" pitchFamily="2" charset="0"/>
              <a:cs typeface="Google Sans" pitchFamily="2" charset="0"/>
            </a:endParaRPr>
          </a:p>
        </p:txBody>
      </p:sp>
      <p:sp>
        <p:nvSpPr>
          <p:cNvPr id="4" name="Text 2"/>
          <p:cNvSpPr/>
          <p:nvPr/>
        </p:nvSpPr>
        <p:spPr>
          <a:xfrm>
            <a:off x="694943" y="3104490"/>
            <a:ext cx="11308199" cy="530352"/>
          </a:xfrm>
          <a:prstGeom prst="rect">
            <a:avLst/>
          </a:prstGeom>
          <a:noFill/>
          <a:ln/>
        </p:spPr>
        <p:txBody>
          <a:bodyPr wrap="square" lIns="0" tIns="0" rIns="0" bIns="0" rtlCol="0" anchor="ctr"/>
          <a:lstStyle/>
          <a:p>
            <a:pPr marL="0" indent="0">
              <a:buNone/>
            </a:pPr>
            <a:r>
              <a:rPr lang="en-US" sz="2000" b="1" dirty="0">
                <a:solidFill>
                  <a:srgbClr val="0070C0"/>
                </a:solidFill>
                <a:latin typeface="Google Sans" pitchFamily="2" charset="0"/>
                <a:ea typeface="Google Sans" pitchFamily="2" charset="0"/>
                <a:cs typeface="Google Sans" pitchFamily="2" charset="0"/>
              </a:rPr>
              <a:t>Image provenance </a:t>
            </a:r>
            <a:r>
              <a:rPr lang="en-US" sz="2000" b="1" dirty="0">
                <a:solidFill>
                  <a:srgbClr val="5B6670"/>
                </a:solidFill>
                <a:latin typeface="Google Sans" pitchFamily="2" charset="0"/>
                <a:ea typeface="Google Sans" pitchFamily="2" charset="0"/>
                <a:cs typeface="Google Sans" pitchFamily="2" charset="0"/>
              </a:rPr>
              <a:t>in the AI era: techniques, pitfalls, and future landscape</a:t>
            </a:r>
            <a:endParaRPr lang="en-US" sz="2000" b="1" dirty="0">
              <a:latin typeface="Google Sans" pitchFamily="2" charset="0"/>
              <a:ea typeface="Google Sans" pitchFamily="2" charset="0"/>
              <a:cs typeface="Google Sans" pitchFamily="2" charset="0"/>
            </a:endParaRPr>
          </a:p>
        </p:txBody>
      </p:sp>
      <p:sp>
        <p:nvSpPr>
          <p:cNvPr id="6" name="Text 4"/>
          <p:cNvSpPr/>
          <p:nvPr/>
        </p:nvSpPr>
        <p:spPr>
          <a:xfrm>
            <a:off x="676656" y="3704297"/>
            <a:ext cx="7467600" cy="891704"/>
          </a:xfrm>
          <a:prstGeom prst="rect">
            <a:avLst/>
          </a:prstGeom>
          <a:noFill/>
          <a:ln/>
        </p:spPr>
        <p:txBody>
          <a:bodyPr wrap="square" lIns="0" tIns="0" rIns="0" bIns="0" rtlCol="0" anchor="ctr"/>
          <a:lstStyle/>
          <a:p>
            <a:r>
              <a:rPr lang="en-US" sz="1600" dirty="0">
                <a:solidFill>
                  <a:srgbClr val="13293D"/>
                </a:solidFill>
                <a:latin typeface="Google Sans" pitchFamily="2" charset="0"/>
                <a:ea typeface="Google Sans" pitchFamily="2" charset="0"/>
                <a:cs typeface="Google Sans" pitchFamily="2" charset="0"/>
              </a:rPr>
              <a:t>Kai Yao, PhD Candidate</a:t>
            </a:r>
          </a:p>
          <a:p>
            <a:r>
              <a:rPr lang="en-US" sz="1600" dirty="0">
                <a:solidFill>
                  <a:srgbClr val="13293D"/>
                </a:solidFill>
                <a:latin typeface="Google Sans" pitchFamily="2" charset="0"/>
                <a:ea typeface="Google Sans" pitchFamily="2" charset="0"/>
                <a:cs typeface="Google Sans" pitchFamily="2" charset="0"/>
              </a:rPr>
              <a:t>School of Informatics, The University of Edinburgh</a:t>
            </a:r>
          </a:p>
          <a:p>
            <a:r>
              <a:rPr lang="en-US" sz="1600" i="1" dirty="0">
                <a:solidFill>
                  <a:schemeClr val="bg1">
                    <a:lumMod val="65000"/>
                  </a:schemeClr>
                </a:solidFill>
                <a:latin typeface="Google Sans" pitchFamily="2" charset="0"/>
                <a:ea typeface="Google Sans" pitchFamily="2" charset="0"/>
                <a:cs typeface="Google Sans" pitchFamily="2" charset="0"/>
              </a:rPr>
              <a:t>PSML 2026 Spring - Guest Lecture</a:t>
            </a:r>
          </a:p>
        </p:txBody>
      </p:sp>
      <p:sp>
        <p:nvSpPr>
          <p:cNvPr id="27" name="Text 24"/>
          <p:cNvSpPr/>
          <p:nvPr/>
        </p:nvSpPr>
        <p:spPr>
          <a:xfrm>
            <a:off x="676656" y="6324954"/>
            <a:ext cx="3840480" cy="164592"/>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The University of Edinburgh</a:t>
            </a:r>
            <a:endParaRPr lang="en-US" sz="1100" dirty="0">
              <a:latin typeface="Google Sans" pitchFamily="2" charset="0"/>
              <a:ea typeface="Google Sans" pitchFamily="2" charset="0"/>
              <a:cs typeface="Google Sans" pitchFamily="2" charset="0"/>
            </a:endParaRPr>
          </a:p>
        </p:txBody>
      </p:sp>
      <p:pic>
        <p:nvPicPr>
          <p:cNvPr id="5" name="Picture 4">
            <a:extLst>
              <a:ext uri="{FF2B5EF4-FFF2-40B4-BE49-F238E27FC236}">
                <a16:creationId xmlns:a16="http://schemas.microsoft.com/office/drawing/2014/main" id="{2AE468AF-A37B-1E33-C489-9AC77C20E6B9}"/>
              </a:ext>
            </a:extLst>
          </p:cNvPr>
          <p:cNvPicPr>
            <a:picLocks noChangeAspect="1"/>
          </p:cNvPicPr>
          <p:nvPr/>
        </p:nvPicPr>
        <p:blipFill>
          <a:blip r:embed="rId3"/>
          <a:stretch>
            <a:fillRect/>
          </a:stretch>
        </p:blipFill>
        <p:spPr>
          <a:xfrm>
            <a:off x="9045373" y="5857042"/>
            <a:ext cx="2469971" cy="583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F7B27DA5-5C4E-386B-EB04-11BF56951C2D}"/>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C91A6045-06BD-1A0A-ADDC-56C2DD6A4995}"/>
              </a:ext>
            </a:extLst>
          </p:cNvPr>
          <p:cNvSpPr/>
          <p:nvPr/>
        </p:nvSpPr>
        <p:spPr>
          <a:xfrm>
            <a:off x="658368" y="1228191"/>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BFAA40B6-39EF-8B9C-319F-E74AF131A12A}"/>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952825DA-10F3-4224-33A2-1272D084FE52}"/>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BF6A0CAC-16FA-945C-B323-311EA9CD8548}"/>
              </a:ext>
            </a:extLst>
          </p:cNvPr>
          <p:cNvSpPr/>
          <p:nvPr/>
        </p:nvSpPr>
        <p:spPr>
          <a:xfrm>
            <a:off x="566928" y="448056"/>
            <a:ext cx="10789920" cy="384048"/>
          </a:xfrm>
          <a:prstGeom prst="rect">
            <a:avLst/>
          </a:prstGeom>
          <a:noFill/>
          <a:ln/>
        </p:spPr>
        <p:txBody>
          <a:bodyPr wrap="square" lIns="0" tIns="0" rIns="0" bIns="0" rtlCol="0" anchor="ctr"/>
          <a:lstStyle/>
          <a:p>
            <a:r>
              <a:rPr lang="en-US" sz="2400" b="1" dirty="0">
                <a:solidFill>
                  <a:srgbClr val="13293D"/>
                </a:solidFill>
                <a:latin typeface="Google Sans" pitchFamily="2" charset="0"/>
                <a:ea typeface="Google Sans" pitchFamily="2" charset="0"/>
                <a:cs typeface="Google Sans" pitchFamily="2" charset="0"/>
              </a:rPr>
              <a:t>Self-Intro</a:t>
            </a:r>
            <a:endParaRPr lang="en-US" sz="2400" dirty="0">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5B0E67AE-9ED3-49A3-7146-36AC2A530A31}"/>
              </a:ext>
            </a:extLst>
          </p:cNvPr>
          <p:cNvSpPr/>
          <p:nvPr/>
        </p:nvSpPr>
        <p:spPr>
          <a:xfrm>
            <a:off x="585216" y="834999"/>
            <a:ext cx="10972800" cy="274320"/>
          </a:xfrm>
          <a:prstGeom prst="rect">
            <a:avLst/>
          </a:prstGeom>
          <a:noFill/>
          <a:ln/>
        </p:spPr>
        <p:txBody>
          <a:bodyPr wrap="square" lIns="0" tIns="0" rIns="0" bIns="0" rtlCol="0" anchor="ctr"/>
          <a:lstStyle/>
          <a:p>
            <a:r>
              <a:rPr lang="en-US" sz="1600" dirty="0">
                <a:solidFill>
                  <a:srgbClr val="5B6670"/>
                </a:solidFill>
                <a:latin typeface="Google Sans" pitchFamily="2" charset="0"/>
                <a:ea typeface="Google Sans" pitchFamily="2" charset="0"/>
                <a:cs typeface="Google Sans" pitchFamily="2" charset="0"/>
              </a:rPr>
              <a:t>Who am I?</a:t>
            </a:r>
            <a:endParaRPr lang="en-US" sz="1600" dirty="0">
              <a:latin typeface="Google Sans" pitchFamily="2" charset="0"/>
              <a:ea typeface="Google Sans" pitchFamily="2" charset="0"/>
              <a:cs typeface="Google Sans" pitchFamily="2" charset="0"/>
            </a:endParaRPr>
          </a:p>
        </p:txBody>
      </p:sp>
      <p:sp>
        <p:nvSpPr>
          <p:cNvPr id="6" name="Text 4">
            <a:extLst>
              <a:ext uri="{FF2B5EF4-FFF2-40B4-BE49-F238E27FC236}">
                <a16:creationId xmlns:a16="http://schemas.microsoft.com/office/drawing/2014/main" id="{D42F273A-5F65-AA28-CD6B-793DA95577B3}"/>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7" name="Text 5">
            <a:extLst>
              <a:ext uri="{FF2B5EF4-FFF2-40B4-BE49-F238E27FC236}">
                <a16:creationId xmlns:a16="http://schemas.microsoft.com/office/drawing/2014/main" id="{0B1052C7-0D87-C35C-39B4-4D5CD54709E8}"/>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1</a:t>
            </a:r>
            <a:endParaRPr lang="en-US" sz="1100" dirty="0">
              <a:latin typeface="Google Sans" pitchFamily="2" charset="0"/>
              <a:ea typeface="Google Sans" pitchFamily="2" charset="0"/>
              <a:cs typeface="Google Sans" pitchFamily="2" charset="0"/>
            </a:endParaRPr>
          </a:p>
        </p:txBody>
      </p:sp>
      <p:sp>
        <p:nvSpPr>
          <p:cNvPr id="17" name="Shape 14">
            <a:extLst>
              <a:ext uri="{FF2B5EF4-FFF2-40B4-BE49-F238E27FC236}">
                <a16:creationId xmlns:a16="http://schemas.microsoft.com/office/drawing/2014/main" id="{36B982C4-570F-4D04-36CF-444C0B48D029}"/>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b="1" dirty="0">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077DFB22-AEB7-32CA-17EA-940998143742}"/>
              </a:ext>
            </a:extLst>
          </p:cNvPr>
          <p:cNvSpPr/>
          <p:nvPr/>
        </p:nvSpPr>
        <p:spPr>
          <a:xfrm>
            <a:off x="854964" y="5861304"/>
            <a:ext cx="10469880" cy="164592"/>
          </a:xfrm>
          <a:prstGeom prst="rect">
            <a:avLst/>
          </a:prstGeom>
          <a:noFill/>
          <a:ln/>
        </p:spPr>
        <p:txBody>
          <a:bodyPr wrap="square" lIns="0" tIns="0" rIns="0" bIns="0" rtlCol="0" anchor="ctr"/>
          <a:lstStyle/>
          <a:p>
            <a:pPr marL="0" indent="0" algn="ctr">
              <a:buNone/>
            </a:pPr>
            <a:r>
              <a:rPr lang="en-US" sz="1500" dirty="0">
                <a:solidFill>
                  <a:schemeClr val="bg1"/>
                </a:solidFill>
                <a:latin typeface="Google Sans" pitchFamily="2" charset="0"/>
                <a:ea typeface="Google Sans" pitchFamily="2" charset="0"/>
                <a:cs typeface="Google Sans" pitchFamily="2" charset="0"/>
              </a:rPr>
              <a:t>I hope this lecture is informative enough to guide you through the current landscape of image provenance research.</a:t>
            </a:r>
          </a:p>
        </p:txBody>
      </p:sp>
      <p:sp>
        <p:nvSpPr>
          <p:cNvPr id="11" name="TextBox 10">
            <a:extLst>
              <a:ext uri="{FF2B5EF4-FFF2-40B4-BE49-F238E27FC236}">
                <a16:creationId xmlns:a16="http://schemas.microsoft.com/office/drawing/2014/main" id="{D343470E-229A-3B7C-D787-E1792E820014}"/>
              </a:ext>
            </a:extLst>
          </p:cNvPr>
          <p:cNvSpPr txBox="1"/>
          <p:nvPr/>
        </p:nvSpPr>
        <p:spPr>
          <a:xfrm>
            <a:off x="955672" y="1433358"/>
            <a:ext cx="10401176" cy="3908762"/>
          </a:xfrm>
          <a:prstGeom prst="rect">
            <a:avLst/>
          </a:prstGeom>
          <a:noFill/>
        </p:spPr>
        <p:txBody>
          <a:bodyPr wrap="square">
            <a:spAutoFit/>
          </a:bodyPr>
          <a:lstStyle/>
          <a:p>
            <a:r>
              <a:rPr lang="en-GB" sz="1600" b="0" i="0" dirty="0">
                <a:effectLst/>
                <a:latin typeface="Google Sans" pitchFamily="2" charset="0"/>
                <a:ea typeface="Google Sans" pitchFamily="2" charset="0"/>
                <a:cs typeface="Google Sans" pitchFamily="2" charset="0"/>
              </a:rPr>
              <a:t>I’m a final-year PhD student at School </a:t>
            </a:r>
            <a:r>
              <a:rPr lang="en-GB" sz="1600" dirty="0">
                <a:latin typeface="Google Sans" pitchFamily="2" charset="0"/>
                <a:ea typeface="Google Sans" pitchFamily="2" charset="0"/>
                <a:cs typeface="Google Sans" pitchFamily="2" charset="0"/>
              </a:rPr>
              <a:t>of Informatics, supervised by Dr. Marc Juarez. </a:t>
            </a:r>
          </a:p>
          <a:p>
            <a:r>
              <a:rPr lang="en-GB" sz="1600" dirty="0">
                <a:latin typeface="Google Sans" pitchFamily="2" charset="0"/>
                <a:ea typeface="Google Sans" pitchFamily="2" charset="0"/>
                <a:cs typeface="Google Sans" pitchFamily="2" charset="0"/>
              </a:rPr>
              <a:t>I </a:t>
            </a:r>
            <a:r>
              <a:rPr lang="en-GB" sz="1600" i="0" dirty="0">
                <a:effectLst/>
                <a:latin typeface="Google Sans" pitchFamily="2" charset="0"/>
                <a:ea typeface="Google Sans" pitchFamily="2" charset="0"/>
                <a:cs typeface="Google Sans" pitchFamily="2" charset="0"/>
              </a:rPr>
              <a:t>study </a:t>
            </a:r>
            <a:r>
              <a:rPr lang="en-GB" sz="1600" b="1" i="0" dirty="0">
                <a:effectLst/>
                <a:latin typeface="Google Sans" pitchFamily="2" charset="0"/>
                <a:ea typeface="Google Sans" pitchFamily="2" charset="0"/>
                <a:cs typeface="Google Sans" pitchFamily="2" charset="0"/>
              </a:rPr>
              <a:t>secure and trustworthy machine learning</a:t>
            </a:r>
            <a:r>
              <a:rPr lang="en-GB" sz="1600" i="0" dirty="0">
                <a:effectLst/>
                <a:latin typeface="Google Sans" pitchFamily="2" charset="0"/>
                <a:ea typeface="Google Sans" pitchFamily="2" charset="0"/>
                <a:cs typeface="Google Sans" pitchFamily="2" charset="0"/>
              </a:rPr>
              <a:t>, and my current research projects focus on </a:t>
            </a:r>
            <a:r>
              <a:rPr lang="en-GB" sz="1600" b="1" i="0" dirty="0">
                <a:effectLst/>
                <a:latin typeface="Google Sans" pitchFamily="2" charset="0"/>
                <a:ea typeface="Google Sans" pitchFamily="2" charset="0"/>
                <a:cs typeface="Google Sans" pitchFamily="2" charset="0"/>
              </a:rPr>
              <a:t>provenance for image generation models</a:t>
            </a:r>
            <a:r>
              <a:rPr lang="en-GB" sz="1600" i="0" dirty="0">
                <a:effectLst/>
                <a:latin typeface="Google Sans" pitchFamily="2" charset="0"/>
                <a:ea typeface="Google Sans" pitchFamily="2" charset="0"/>
                <a:cs typeface="Google Sans" pitchFamily="2" charset="0"/>
              </a:rPr>
              <a:t>, where </a:t>
            </a:r>
            <a:r>
              <a:rPr lang="en-GB" sz="1600" dirty="0">
                <a:latin typeface="Google Sans" pitchFamily="2" charset="0"/>
                <a:ea typeface="Google Sans" pitchFamily="2" charset="0"/>
                <a:cs typeface="Google Sans" pitchFamily="2" charset="0"/>
              </a:rPr>
              <a:t>we</a:t>
            </a:r>
            <a:r>
              <a:rPr lang="en-GB" sz="1600" i="0" dirty="0">
                <a:effectLst/>
                <a:latin typeface="Google Sans" pitchFamily="2" charset="0"/>
                <a:ea typeface="Google Sans" pitchFamily="2" charset="0"/>
                <a:cs typeface="Google Sans" pitchFamily="2" charset="0"/>
              </a:rPr>
              <a:t> develop novel techniques and conduct robustness evaluations </a:t>
            </a:r>
            <a:r>
              <a:rPr lang="en-GB" sz="1600" b="0" i="0" dirty="0">
                <a:effectLst/>
                <a:latin typeface="Google Sans" pitchFamily="2" charset="0"/>
                <a:ea typeface="Google Sans" pitchFamily="2" charset="0"/>
                <a:cs typeface="Google Sans" pitchFamily="2" charset="0"/>
              </a:rPr>
              <a:t>of image fingerprinting and image watermarking.</a:t>
            </a:r>
            <a:endParaRPr lang="en-GB" sz="1600" dirty="0">
              <a:latin typeface="Google Sans" pitchFamily="2" charset="0"/>
              <a:ea typeface="Google Sans" pitchFamily="2" charset="0"/>
              <a:cs typeface="Google Sans" pitchFamily="2" charset="0"/>
            </a:endParaRPr>
          </a:p>
          <a:p>
            <a:endParaRPr lang="en-GB" sz="1600" dirty="0">
              <a:latin typeface="Google Sans" pitchFamily="2" charset="0"/>
              <a:ea typeface="Google Sans" pitchFamily="2" charset="0"/>
              <a:cs typeface="Google Sans" pitchFamily="2" charset="0"/>
            </a:endParaRPr>
          </a:p>
          <a:p>
            <a:r>
              <a:rPr lang="en-GB" sz="1600" dirty="0">
                <a:latin typeface="Google Sans" pitchFamily="2" charset="0"/>
                <a:ea typeface="Google Sans" pitchFamily="2" charset="0"/>
                <a:cs typeface="Google Sans" pitchFamily="2" charset="0"/>
              </a:rPr>
              <a:t>Experiences:</a:t>
            </a:r>
            <a:endParaRPr lang="en-GB" sz="1200" dirty="0">
              <a:latin typeface="Google Sans" pitchFamily="2" charset="0"/>
              <a:ea typeface="Google Sans" pitchFamily="2" charset="0"/>
              <a:cs typeface="Google Sans" pitchFamily="2" charset="0"/>
            </a:endParaRPr>
          </a:p>
          <a:p>
            <a:pPr marL="285750" indent="-285750">
              <a:buFont typeface="Arial" panose="020B0604020202020204" pitchFamily="34" charset="0"/>
              <a:buChar char="•"/>
            </a:pPr>
            <a:r>
              <a:rPr lang="en-GB" sz="1200" b="1" dirty="0">
                <a:latin typeface="Google Sans" pitchFamily="2" charset="0"/>
                <a:ea typeface="Google Sans" pitchFamily="2" charset="0"/>
                <a:cs typeface="Google Sans" pitchFamily="2" charset="0"/>
              </a:rPr>
              <a:t>Fudan University   </a:t>
            </a:r>
            <a:r>
              <a:rPr lang="en-GB" sz="1200" dirty="0">
                <a:latin typeface="Google Sans" pitchFamily="2" charset="0"/>
                <a:ea typeface="Google Sans" pitchFamily="2" charset="0"/>
                <a:cs typeface="Google Sans" pitchFamily="2" charset="0"/>
              </a:rPr>
              <a:t>B.Sc. in Theoretical &amp; Applied Mechanics</a:t>
            </a:r>
          </a:p>
          <a:p>
            <a:pPr marL="285750" indent="-285750">
              <a:buFont typeface="Arial" panose="020B0604020202020204" pitchFamily="34" charset="0"/>
              <a:buChar char="•"/>
            </a:pPr>
            <a:r>
              <a:rPr lang="en-GB" sz="1200" b="1" dirty="0">
                <a:latin typeface="Google Sans" pitchFamily="2" charset="0"/>
                <a:ea typeface="Google Sans" pitchFamily="2" charset="0"/>
                <a:cs typeface="Google Sans" pitchFamily="2" charset="0"/>
              </a:rPr>
              <a:t>Johns Hopkins University   </a:t>
            </a:r>
            <a:r>
              <a:rPr lang="en-GB" sz="1200" dirty="0">
                <a:latin typeface="Google Sans" pitchFamily="2" charset="0"/>
                <a:ea typeface="Google Sans" pitchFamily="2" charset="0"/>
                <a:cs typeface="Google Sans" pitchFamily="2" charset="0"/>
              </a:rPr>
              <a:t>M.Sc. in Mechanical Engineering</a:t>
            </a:r>
            <a:endParaRPr lang="en-US" sz="1200" dirty="0">
              <a:latin typeface="Google Sans" pitchFamily="2" charset="0"/>
              <a:ea typeface="Google Sans" pitchFamily="2" charset="0"/>
              <a:cs typeface="Google Sans" pitchFamily="2" charset="0"/>
            </a:endParaRPr>
          </a:p>
          <a:p>
            <a:pPr marL="285750" indent="-285750">
              <a:buFont typeface="Arial" panose="020B0604020202020204" pitchFamily="34" charset="0"/>
              <a:buChar char="•"/>
            </a:pPr>
            <a:r>
              <a:rPr lang="en-US" sz="1200" b="1" dirty="0">
                <a:latin typeface="Google Sans" pitchFamily="2" charset="0"/>
                <a:ea typeface="Google Sans" pitchFamily="2" charset="0"/>
                <a:cs typeface="Google Sans" pitchFamily="2" charset="0"/>
              </a:rPr>
              <a:t>Huawei   </a:t>
            </a:r>
            <a:r>
              <a:rPr lang="en-US" sz="1200" dirty="0">
                <a:latin typeface="Google Sans" pitchFamily="2" charset="0"/>
                <a:ea typeface="Google Sans" pitchFamily="2" charset="0"/>
                <a:cs typeface="Google Sans" pitchFamily="2" charset="0"/>
              </a:rPr>
              <a:t>AI Algorithm Engineer</a:t>
            </a:r>
          </a:p>
          <a:p>
            <a:pPr marL="285750" indent="-285750">
              <a:buFont typeface="Arial" panose="020B0604020202020204" pitchFamily="34" charset="0"/>
              <a:buChar char="•"/>
            </a:pPr>
            <a:r>
              <a:rPr lang="en-US" sz="1200" b="1" dirty="0">
                <a:latin typeface="Google Sans" pitchFamily="2" charset="0"/>
                <a:ea typeface="Google Sans" pitchFamily="2" charset="0"/>
                <a:cs typeface="Google Sans" pitchFamily="2" charset="0"/>
              </a:rPr>
              <a:t>Intel   </a:t>
            </a:r>
            <a:r>
              <a:rPr lang="en-US" sz="1200" dirty="0">
                <a:latin typeface="Google Sans" pitchFamily="2" charset="0"/>
                <a:ea typeface="Google Sans" pitchFamily="2" charset="0"/>
                <a:cs typeface="Google Sans" pitchFamily="2" charset="0"/>
              </a:rPr>
              <a:t>Senior AI Algorithm Engineer</a:t>
            </a:r>
            <a:endParaRPr lang="en-GB" sz="1200" dirty="0">
              <a:latin typeface="Google Sans" pitchFamily="2" charset="0"/>
              <a:ea typeface="Google Sans" pitchFamily="2" charset="0"/>
              <a:cs typeface="Google Sans" pitchFamily="2" charset="0"/>
            </a:endParaRPr>
          </a:p>
          <a:p>
            <a:pPr marL="285750" indent="-285750">
              <a:buFont typeface="Arial" panose="020B0604020202020204" pitchFamily="34" charset="0"/>
              <a:buChar char="•"/>
            </a:pPr>
            <a:r>
              <a:rPr lang="en-GB" sz="1200" b="1" dirty="0">
                <a:latin typeface="Google Sans" pitchFamily="2" charset="0"/>
                <a:ea typeface="Google Sans" pitchFamily="2" charset="0"/>
                <a:cs typeface="Google Sans" pitchFamily="2" charset="0"/>
              </a:rPr>
              <a:t>University of Edinburgh   </a:t>
            </a:r>
            <a:r>
              <a:rPr lang="en-GB" sz="1200" dirty="0">
                <a:latin typeface="Google Sans" pitchFamily="2" charset="0"/>
                <a:ea typeface="Google Sans" pitchFamily="2" charset="0"/>
                <a:cs typeface="Google Sans" pitchFamily="2" charset="0"/>
              </a:rPr>
              <a:t>Ph.D. in Cyber Security, Privacy, and Trust</a:t>
            </a:r>
          </a:p>
          <a:p>
            <a:pPr marL="285750" indent="-285750">
              <a:buFont typeface="Arial" panose="020B0604020202020204" pitchFamily="34" charset="0"/>
              <a:buChar char="•"/>
            </a:pPr>
            <a:endParaRPr lang="en-GB" sz="1600" dirty="0">
              <a:latin typeface="Google Sans" pitchFamily="2" charset="0"/>
              <a:ea typeface="Google Sans" pitchFamily="2" charset="0"/>
              <a:cs typeface="Google Sans" pitchFamily="2" charset="0"/>
            </a:endParaRPr>
          </a:p>
          <a:p>
            <a:r>
              <a:rPr lang="en-GB" sz="1600" dirty="0">
                <a:latin typeface="Google Sans" pitchFamily="2" charset="0"/>
                <a:ea typeface="Google Sans" pitchFamily="2" charset="0"/>
                <a:cs typeface="Google Sans" pitchFamily="2" charset="0"/>
              </a:rPr>
              <a:t>Publications (selected):</a:t>
            </a:r>
          </a:p>
          <a:p>
            <a:pPr marL="171450" indent="-171450">
              <a:buFont typeface="Arial" panose="020B0604020202020204" pitchFamily="34" charset="0"/>
              <a:buChar char="•"/>
            </a:pPr>
            <a:r>
              <a:rPr lang="en-GB" sz="1200" dirty="0">
                <a:latin typeface="Google Sans" pitchFamily="2" charset="0"/>
                <a:ea typeface="Google Sans" pitchFamily="2" charset="0"/>
                <a:cs typeface="Google Sans" pitchFamily="2" charset="0"/>
              </a:rPr>
              <a:t>Yao K, Juarez M. </a:t>
            </a:r>
            <a:r>
              <a:rPr lang="en-GB" sz="1200" i="1" dirty="0">
                <a:latin typeface="Google Sans" pitchFamily="2" charset="0"/>
                <a:ea typeface="Google Sans" pitchFamily="2" charset="0"/>
                <a:cs typeface="Google Sans" pitchFamily="2" charset="0"/>
              </a:rPr>
              <a:t>Smudged Fingerprints: A Systematic Evaluation of the Robustness of AI Image Fingerprints. </a:t>
            </a:r>
            <a:r>
              <a:rPr lang="en-GB" sz="1200" dirty="0">
                <a:latin typeface="Google Sans" pitchFamily="2" charset="0"/>
                <a:ea typeface="Google Sans" pitchFamily="2" charset="0"/>
                <a:cs typeface="Google Sans" pitchFamily="2" charset="0"/>
              </a:rPr>
              <a:t>To appear in the 4th IEEE Secure and Trustworthy Machine Learning Conference, 2026 (Accepted).</a:t>
            </a:r>
          </a:p>
          <a:p>
            <a:pPr marL="171450" indent="-171450">
              <a:buFont typeface="Arial" panose="020B0604020202020204" pitchFamily="34" charset="0"/>
              <a:buChar char="•"/>
            </a:pPr>
            <a:r>
              <a:rPr lang="en-GB" sz="1200" dirty="0">
                <a:latin typeface="Google Sans" pitchFamily="2" charset="0"/>
                <a:ea typeface="Google Sans" pitchFamily="2" charset="0"/>
                <a:cs typeface="Google Sans" pitchFamily="2" charset="0"/>
              </a:rPr>
              <a:t>Yao K, Juarez M. </a:t>
            </a:r>
            <a:r>
              <a:rPr lang="en-GB" sz="1200" i="1" dirty="0" err="1">
                <a:latin typeface="Google Sans" pitchFamily="2" charset="0"/>
                <a:ea typeface="Google Sans" pitchFamily="2" charset="0"/>
                <a:cs typeface="Google Sans" pitchFamily="2" charset="0"/>
              </a:rPr>
              <a:t>AuthPrint</a:t>
            </a:r>
            <a:r>
              <a:rPr lang="en-GB" sz="1200" i="1" dirty="0">
                <a:latin typeface="Google Sans" pitchFamily="2" charset="0"/>
                <a:ea typeface="Google Sans" pitchFamily="2" charset="0"/>
                <a:cs typeface="Google Sans" pitchFamily="2" charset="0"/>
              </a:rPr>
              <a:t>: Fingerprinting Generative Models Against Malicious Model Providers. </a:t>
            </a:r>
            <a:r>
              <a:rPr lang="en-GB" sz="1200" dirty="0" err="1">
                <a:latin typeface="Google Sans" pitchFamily="2" charset="0"/>
                <a:ea typeface="Google Sans" pitchFamily="2" charset="0"/>
                <a:cs typeface="Google Sans" pitchFamily="2" charset="0"/>
              </a:rPr>
              <a:t>arXiv</a:t>
            </a:r>
            <a:r>
              <a:rPr lang="en-GB" sz="1200" dirty="0">
                <a:latin typeface="Google Sans" pitchFamily="2" charset="0"/>
                <a:ea typeface="Google Sans" pitchFamily="2" charset="0"/>
                <a:cs typeface="Google Sans" pitchFamily="2" charset="0"/>
              </a:rPr>
              <a:t>. preprint, 2025.</a:t>
            </a:r>
          </a:p>
          <a:p>
            <a:pPr marL="171450" indent="-171450">
              <a:buFont typeface="Arial" panose="020B0604020202020204" pitchFamily="34" charset="0"/>
              <a:buChar char="•"/>
            </a:pPr>
            <a:r>
              <a:rPr lang="en-GB" sz="1200" dirty="0">
                <a:latin typeface="Google Sans" pitchFamily="2" charset="0"/>
                <a:ea typeface="Google Sans" pitchFamily="2" charset="0"/>
                <a:cs typeface="Google Sans" pitchFamily="2" charset="0"/>
              </a:rPr>
              <a:t>Yao K, Juarez M. </a:t>
            </a:r>
            <a:r>
              <a:rPr lang="en-GB" sz="1200" i="1" dirty="0" err="1">
                <a:latin typeface="Google Sans" pitchFamily="2" charset="0"/>
                <a:ea typeface="Google Sans" pitchFamily="2" charset="0"/>
                <a:cs typeface="Google Sans" pitchFamily="2" charset="0"/>
              </a:rPr>
              <a:t>SoK</a:t>
            </a:r>
            <a:r>
              <a:rPr lang="en-GB" sz="1200" i="1" dirty="0">
                <a:latin typeface="Google Sans" pitchFamily="2" charset="0"/>
                <a:ea typeface="Google Sans" pitchFamily="2" charset="0"/>
                <a:cs typeface="Google Sans" pitchFamily="2" charset="0"/>
              </a:rPr>
              <a:t>: What Makes Private Learning Unfair? </a:t>
            </a:r>
            <a:r>
              <a:rPr lang="en-GB" sz="1200" dirty="0">
                <a:latin typeface="Google Sans" pitchFamily="2" charset="0"/>
                <a:ea typeface="Google Sans" pitchFamily="2" charset="0"/>
                <a:cs typeface="Google Sans" pitchFamily="2" charset="0"/>
              </a:rPr>
              <a:t>Proceedings of the 3rd IEEE Secure and Trustworthy Machine Learning Conference, 2025.</a:t>
            </a:r>
          </a:p>
        </p:txBody>
      </p:sp>
      <p:pic>
        <p:nvPicPr>
          <p:cNvPr id="15" name="Picture 2">
            <a:extLst>
              <a:ext uri="{FF2B5EF4-FFF2-40B4-BE49-F238E27FC236}">
                <a16:creationId xmlns:a16="http://schemas.microsoft.com/office/drawing/2014/main" id="{1988D6F4-6739-C2F3-6854-17FAAE73BE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16690" y="342569"/>
            <a:ext cx="741326" cy="741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411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7791582E-70D2-6A75-ACD1-A7C2FD195BB8}"/>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D54DEE55-5615-EEF5-ABA0-3815FB9738DA}"/>
              </a:ext>
            </a:extLst>
          </p:cNvPr>
          <p:cNvSpPr/>
          <p:nvPr/>
        </p:nvSpPr>
        <p:spPr>
          <a:xfrm>
            <a:off x="658368" y="1228191"/>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FF7682EE-FD89-8061-AC80-00B27F96FF38}"/>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C6BD2D3B-D873-81B0-CF89-7E1790FA6A3C}"/>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8402ADA4-B487-3ED6-B36B-7C2CB48DB5E7}"/>
              </a:ext>
            </a:extLst>
          </p:cNvPr>
          <p:cNvSpPr/>
          <p:nvPr/>
        </p:nvSpPr>
        <p:spPr>
          <a:xfrm>
            <a:off x="566928" y="448056"/>
            <a:ext cx="10789920" cy="384048"/>
          </a:xfrm>
          <a:prstGeom prst="rect">
            <a:avLst/>
          </a:prstGeom>
          <a:noFill/>
          <a:ln/>
        </p:spPr>
        <p:txBody>
          <a:bodyPr wrap="square" lIns="0" tIns="0" rIns="0" bIns="0" rtlCol="0" anchor="ctr"/>
          <a:lstStyle/>
          <a:p>
            <a:r>
              <a:rPr lang="en-US" sz="2400" b="1" dirty="0">
                <a:solidFill>
                  <a:srgbClr val="13293D"/>
                </a:solidFill>
                <a:latin typeface="Google Sans" pitchFamily="2" charset="0"/>
                <a:ea typeface="Google Sans" pitchFamily="2" charset="0"/>
                <a:cs typeface="Google Sans" pitchFamily="2" charset="0"/>
              </a:rPr>
              <a:t>Content table</a:t>
            </a:r>
            <a:endParaRPr lang="en-US" sz="2400" dirty="0">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9FAB8721-E80E-71A2-05D6-B2AC69CECDB8}"/>
              </a:ext>
            </a:extLst>
          </p:cNvPr>
          <p:cNvSpPr/>
          <p:nvPr/>
        </p:nvSpPr>
        <p:spPr>
          <a:xfrm>
            <a:off x="585216" y="834999"/>
            <a:ext cx="10972800" cy="274320"/>
          </a:xfrm>
          <a:prstGeom prst="rect">
            <a:avLst/>
          </a:prstGeom>
          <a:noFill/>
          <a:ln/>
        </p:spPr>
        <p:txBody>
          <a:bodyPr wrap="square" lIns="0" tIns="0" rIns="0" bIns="0" rtlCol="0" anchor="ctr"/>
          <a:lstStyle/>
          <a:p>
            <a:r>
              <a:rPr lang="en-US" sz="1600" dirty="0">
                <a:solidFill>
                  <a:srgbClr val="5B6670"/>
                </a:solidFill>
                <a:latin typeface="Google Sans" pitchFamily="2" charset="0"/>
                <a:ea typeface="Google Sans" pitchFamily="2" charset="0"/>
                <a:cs typeface="Google Sans" pitchFamily="2" charset="0"/>
              </a:rPr>
              <a:t>What do we aim to cover in this lecture?</a:t>
            </a:r>
            <a:endParaRPr lang="en-US" sz="1600" dirty="0">
              <a:latin typeface="Google Sans" pitchFamily="2" charset="0"/>
              <a:ea typeface="Google Sans" pitchFamily="2" charset="0"/>
              <a:cs typeface="Google Sans" pitchFamily="2" charset="0"/>
            </a:endParaRPr>
          </a:p>
        </p:txBody>
      </p:sp>
      <p:sp>
        <p:nvSpPr>
          <p:cNvPr id="17" name="Shape 14">
            <a:extLst>
              <a:ext uri="{FF2B5EF4-FFF2-40B4-BE49-F238E27FC236}">
                <a16:creationId xmlns:a16="http://schemas.microsoft.com/office/drawing/2014/main" id="{78A771A6-D8C9-19B9-8630-5EF84422D43F}"/>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b="1" dirty="0">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445DB7E8-85C0-2413-ADA6-9FAD3485AE41}"/>
              </a:ext>
            </a:extLst>
          </p:cNvPr>
          <p:cNvSpPr/>
          <p:nvPr/>
        </p:nvSpPr>
        <p:spPr>
          <a:xfrm>
            <a:off x="854964" y="5861304"/>
            <a:ext cx="10469880" cy="164592"/>
          </a:xfrm>
          <a:prstGeom prst="rect">
            <a:avLst/>
          </a:prstGeom>
          <a:noFill/>
          <a:ln/>
        </p:spPr>
        <p:txBody>
          <a:bodyPr wrap="square" lIns="0" tIns="0" rIns="0" bIns="0" rtlCol="0" anchor="ctr"/>
          <a:lstStyle/>
          <a:p>
            <a:pPr marL="0" indent="0" algn="ctr">
              <a:buNone/>
            </a:pPr>
            <a:r>
              <a:rPr lang="en-US" sz="1500" dirty="0">
                <a:solidFill>
                  <a:srgbClr val="FFFFFF"/>
                </a:solidFill>
                <a:latin typeface="Google Sans" pitchFamily="2" charset="0"/>
                <a:ea typeface="Google Sans" pitchFamily="2" charset="0"/>
                <a:cs typeface="Google Sans" pitchFamily="2" charset="0"/>
              </a:rPr>
              <a:t>Let’s begin!</a:t>
            </a:r>
            <a:endParaRPr lang="en-US" sz="1500" dirty="0">
              <a:latin typeface="Google Sans" pitchFamily="2" charset="0"/>
              <a:ea typeface="Google Sans" pitchFamily="2" charset="0"/>
              <a:cs typeface="Google Sans" pitchFamily="2" charset="0"/>
            </a:endParaRPr>
          </a:p>
        </p:txBody>
      </p:sp>
      <p:sp>
        <p:nvSpPr>
          <p:cNvPr id="10" name="TextBox 9">
            <a:extLst>
              <a:ext uri="{FF2B5EF4-FFF2-40B4-BE49-F238E27FC236}">
                <a16:creationId xmlns:a16="http://schemas.microsoft.com/office/drawing/2014/main" id="{561D6719-B0DA-AA29-2AC9-AEC4AB93EE65}"/>
              </a:ext>
            </a:extLst>
          </p:cNvPr>
          <p:cNvSpPr txBox="1"/>
          <p:nvPr/>
        </p:nvSpPr>
        <p:spPr>
          <a:xfrm>
            <a:off x="2931499" y="1868883"/>
            <a:ext cx="8754533" cy="3139321"/>
          </a:xfrm>
          <a:prstGeom prst="rect">
            <a:avLst/>
          </a:prstGeom>
          <a:noFill/>
        </p:spPr>
        <p:txBody>
          <a:bodyPr wrap="square">
            <a:spAutoFit/>
          </a:bodyPr>
          <a:lstStyle/>
          <a:p>
            <a:r>
              <a:rPr lang="en-GB" b="1" dirty="0">
                <a:latin typeface="Google Sans" pitchFamily="2" charset="0"/>
                <a:ea typeface="Google Sans" pitchFamily="2" charset="0"/>
                <a:cs typeface="Google Sans" pitchFamily="2" charset="0"/>
              </a:rPr>
              <a:t>What</a:t>
            </a:r>
            <a:r>
              <a:rPr lang="en-GB" dirty="0">
                <a:latin typeface="Google Sans" pitchFamily="2" charset="0"/>
                <a:ea typeface="Google Sans" pitchFamily="2" charset="0"/>
                <a:cs typeface="Google Sans" pitchFamily="2" charset="0"/>
              </a:rPr>
              <a:t> is image provenance, and </a:t>
            </a:r>
            <a:r>
              <a:rPr lang="en-GB" b="1" dirty="0">
                <a:latin typeface="Google Sans" pitchFamily="2" charset="0"/>
                <a:ea typeface="Google Sans" pitchFamily="2" charset="0"/>
                <a:cs typeface="Google Sans" pitchFamily="2" charset="0"/>
              </a:rPr>
              <a:t>why</a:t>
            </a:r>
            <a:r>
              <a:rPr lang="en-GB" dirty="0">
                <a:latin typeface="Google Sans" pitchFamily="2" charset="0"/>
                <a:ea typeface="Google Sans" pitchFamily="2" charset="0"/>
                <a:cs typeface="Google Sans" pitchFamily="2" charset="0"/>
              </a:rPr>
              <a:t> does it matter?</a:t>
            </a:r>
          </a:p>
          <a:p>
            <a:endParaRPr lang="en-US" dirty="0">
              <a:latin typeface="Google Sans" pitchFamily="2" charset="0"/>
              <a:ea typeface="Google Sans" pitchFamily="2" charset="0"/>
              <a:cs typeface="Google Sans" pitchFamily="2" charset="0"/>
            </a:endParaRPr>
          </a:p>
          <a:p>
            <a:endParaRPr lang="en-US" dirty="0">
              <a:latin typeface="Google Sans" pitchFamily="2" charset="0"/>
              <a:ea typeface="Google Sans" pitchFamily="2" charset="0"/>
              <a:cs typeface="Google Sans" pitchFamily="2" charset="0"/>
            </a:endParaRPr>
          </a:p>
          <a:p>
            <a:endParaRPr lang="en-US" dirty="0">
              <a:latin typeface="Google Sans" pitchFamily="2" charset="0"/>
              <a:ea typeface="Google Sans" pitchFamily="2" charset="0"/>
              <a:cs typeface="Google Sans" pitchFamily="2" charset="0"/>
            </a:endParaRPr>
          </a:p>
          <a:p>
            <a:endParaRPr lang="en-US" dirty="0">
              <a:latin typeface="Google Sans" pitchFamily="2" charset="0"/>
              <a:ea typeface="Google Sans" pitchFamily="2" charset="0"/>
              <a:cs typeface="Google Sans" pitchFamily="2" charset="0"/>
            </a:endParaRPr>
          </a:p>
          <a:p>
            <a:r>
              <a:rPr lang="en-GB" b="1" dirty="0">
                <a:latin typeface="Google Sans" pitchFamily="2" charset="0"/>
                <a:ea typeface="Google Sans" pitchFamily="2" charset="0"/>
                <a:cs typeface="Google Sans" pitchFamily="2" charset="0"/>
              </a:rPr>
              <a:t>Approaches</a:t>
            </a:r>
            <a:r>
              <a:rPr lang="en-GB" dirty="0">
                <a:latin typeface="Google Sans" pitchFamily="2" charset="0"/>
                <a:ea typeface="Google Sans" pitchFamily="2" charset="0"/>
                <a:cs typeface="Google Sans" pitchFamily="2" charset="0"/>
              </a:rPr>
              <a:t> to image provenance: taxonomy, examples, and failure cases</a:t>
            </a:r>
          </a:p>
          <a:p>
            <a:endParaRPr lang="en-US" dirty="0">
              <a:latin typeface="Google Sans" pitchFamily="2" charset="0"/>
              <a:ea typeface="Google Sans" pitchFamily="2" charset="0"/>
              <a:cs typeface="Google Sans" pitchFamily="2" charset="0"/>
            </a:endParaRPr>
          </a:p>
          <a:p>
            <a:endParaRPr lang="en-US" dirty="0">
              <a:latin typeface="Google Sans" pitchFamily="2" charset="0"/>
              <a:ea typeface="Google Sans" pitchFamily="2" charset="0"/>
              <a:cs typeface="Google Sans" pitchFamily="2" charset="0"/>
            </a:endParaRPr>
          </a:p>
          <a:p>
            <a:endParaRPr lang="en-US" dirty="0">
              <a:latin typeface="Google Sans" pitchFamily="2" charset="0"/>
              <a:ea typeface="Google Sans" pitchFamily="2" charset="0"/>
              <a:cs typeface="Google Sans" pitchFamily="2" charset="0"/>
            </a:endParaRPr>
          </a:p>
          <a:p>
            <a:endParaRPr lang="en-US" dirty="0">
              <a:latin typeface="Google Sans" pitchFamily="2" charset="0"/>
              <a:ea typeface="Google Sans" pitchFamily="2" charset="0"/>
              <a:cs typeface="Google Sans" pitchFamily="2" charset="0"/>
            </a:endParaRPr>
          </a:p>
          <a:p>
            <a:r>
              <a:rPr lang="en-GB" b="1" dirty="0">
                <a:latin typeface="Google Sans" pitchFamily="2" charset="0"/>
                <a:ea typeface="Google Sans" pitchFamily="2" charset="0"/>
                <a:cs typeface="Google Sans" pitchFamily="2" charset="0"/>
              </a:rPr>
              <a:t>Case study: </a:t>
            </a:r>
            <a:r>
              <a:rPr lang="en-GB" dirty="0">
                <a:latin typeface="Google Sans" pitchFamily="2" charset="0"/>
                <a:ea typeface="Google Sans" pitchFamily="2" charset="0"/>
                <a:cs typeface="Google Sans" pitchFamily="2" charset="0"/>
              </a:rPr>
              <a:t>systematic robustness evaluation of image fingerprinting</a:t>
            </a:r>
          </a:p>
        </p:txBody>
      </p:sp>
      <p:pic>
        <p:nvPicPr>
          <p:cNvPr id="20" name="Picture 19">
            <a:extLst>
              <a:ext uri="{FF2B5EF4-FFF2-40B4-BE49-F238E27FC236}">
                <a16:creationId xmlns:a16="http://schemas.microsoft.com/office/drawing/2014/main" id="{085D6B1A-F2F0-BCC0-00AB-6FE8A645CB5F}"/>
              </a:ext>
            </a:extLst>
          </p:cNvPr>
          <p:cNvPicPr>
            <a:picLocks noChangeAspect="1"/>
          </p:cNvPicPr>
          <p:nvPr/>
        </p:nvPicPr>
        <p:blipFill>
          <a:blip r:embed="rId3"/>
          <a:srcRect l="24305" t="8035" r="22947" b="3367"/>
          <a:stretch>
            <a:fillRect/>
          </a:stretch>
        </p:blipFill>
        <p:spPr>
          <a:xfrm>
            <a:off x="1394163" y="4164334"/>
            <a:ext cx="1285099" cy="1176215"/>
          </a:xfrm>
          <a:prstGeom prst="rect">
            <a:avLst/>
          </a:prstGeom>
        </p:spPr>
      </p:pic>
      <p:pic>
        <p:nvPicPr>
          <p:cNvPr id="21" name="Picture 20">
            <a:extLst>
              <a:ext uri="{FF2B5EF4-FFF2-40B4-BE49-F238E27FC236}">
                <a16:creationId xmlns:a16="http://schemas.microsoft.com/office/drawing/2014/main" id="{0456E26C-731C-B4C3-8563-B7555FAE46B0}"/>
              </a:ext>
            </a:extLst>
          </p:cNvPr>
          <p:cNvPicPr>
            <a:picLocks noChangeAspect="1"/>
          </p:cNvPicPr>
          <p:nvPr/>
        </p:nvPicPr>
        <p:blipFill>
          <a:blip r:embed="rId4"/>
          <a:srcRect l="18393" t="11401" r="10357"/>
          <a:stretch>
            <a:fillRect/>
          </a:stretch>
        </p:blipFill>
        <p:spPr>
          <a:xfrm>
            <a:off x="1166950" y="2867143"/>
            <a:ext cx="1648698" cy="1117168"/>
          </a:xfrm>
          <a:prstGeom prst="rect">
            <a:avLst/>
          </a:prstGeom>
        </p:spPr>
      </p:pic>
      <p:pic>
        <p:nvPicPr>
          <p:cNvPr id="23" name="Picture 22" descr="A cartoon of a brown animal holding a picture&#10;&#10;AI-generated content may be incorrect.">
            <a:extLst>
              <a:ext uri="{FF2B5EF4-FFF2-40B4-BE49-F238E27FC236}">
                <a16:creationId xmlns:a16="http://schemas.microsoft.com/office/drawing/2014/main" id="{E2A076A6-3E17-F6A9-03CB-8367BD3EB2F5}"/>
              </a:ext>
            </a:extLst>
          </p:cNvPr>
          <p:cNvPicPr>
            <a:picLocks noChangeAspect="1"/>
          </p:cNvPicPr>
          <p:nvPr/>
        </p:nvPicPr>
        <p:blipFill>
          <a:blip r:embed="rId5"/>
          <a:stretch>
            <a:fillRect/>
          </a:stretch>
        </p:blipFill>
        <p:spPr>
          <a:xfrm>
            <a:off x="1352986" y="1465748"/>
            <a:ext cx="1367452" cy="1184515"/>
          </a:xfrm>
          <a:prstGeom prst="rect">
            <a:avLst/>
          </a:prstGeom>
        </p:spPr>
      </p:pic>
      <p:sp>
        <p:nvSpPr>
          <p:cNvPr id="9" name="Text 4">
            <a:extLst>
              <a:ext uri="{FF2B5EF4-FFF2-40B4-BE49-F238E27FC236}">
                <a16:creationId xmlns:a16="http://schemas.microsoft.com/office/drawing/2014/main" id="{5873DFEF-3201-1415-66D2-BAB7498DE363}"/>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11" name="Text 5">
            <a:extLst>
              <a:ext uri="{FF2B5EF4-FFF2-40B4-BE49-F238E27FC236}">
                <a16:creationId xmlns:a16="http://schemas.microsoft.com/office/drawing/2014/main" id="{761FF87B-ABFC-8FDD-017D-A2F81675FC6D}"/>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2</a:t>
            </a:r>
            <a:endParaRPr lang="en-US" sz="1100" dirty="0">
              <a:latin typeface="Google Sans" pitchFamily="2" charset="0"/>
              <a:ea typeface="Google Sans" pitchFamily="2" charset="0"/>
              <a:cs typeface="Google Sans" pitchFamily="2" charset="0"/>
            </a:endParaRPr>
          </a:p>
        </p:txBody>
      </p:sp>
    </p:spTree>
    <p:extLst>
      <p:ext uri="{BB962C8B-B14F-4D97-AF65-F5344CB8AC3E}">
        <p14:creationId xmlns:p14="http://schemas.microsoft.com/office/powerpoint/2010/main" val="2999598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BDE344A9-9CD3-A6F2-3B04-3D9AE6AA7A91}"/>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E6102B5B-3B33-B983-1721-9E3E3711AEF4}"/>
              </a:ext>
            </a:extLst>
          </p:cNvPr>
          <p:cNvSpPr/>
          <p:nvPr/>
        </p:nvSpPr>
        <p:spPr>
          <a:xfrm>
            <a:off x="658368" y="1228191"/>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AC4DD5FA-51BF-1D36-4989-617A35F5D185}"/>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86A3EFFA-2C53-CB55-5ECB-17975C742B00}"/>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1C0AB7D7-CC5F-D7DA-597A-A6754E8916AD}"/>
              </a:ext>
            </a:extLst>
          </p:cNvPr>
          <p:cNvSpPr/>
          <p:nvPr/>
        </p:nvSpPr>
        <p:spPr>
          <a:xfrm>
            <a:off x="566928" y="448056"/>
            <a:ext cx="10789920" cy="384048"/>
          </a:xfrm>
          <a:prstGeom prst="rect">
            <a:avLst/>
          </a:prstGeom>
          <a:noFill/>
          <a:ln/>
        </p:spPr>
        <p:txBody>
          <a:bodyPr wrap="square" lIns="0" tIns="0" rIns="0" bIns="0" rtlCol="0" anchor="ctr"/>
          <a:lstStyle/>
          <a:p>
            <a:r>
              <a:rPr lang="en-US" sz="2400" b="1" dirty="0">
                <a:solidFill>
                  <a:srgbClr val="13293D"/>
                </a:solidFill>
                <a:latin typeface="Google Sans" pitchFamily="2" charset="0"/>
                <a:ea typeface="Google Sans" pitchFamily="2" charset="0"/>
                <a:cs typeface="Google Sans" pitchFamily="2" charset="0"/>
              </a:rPr>
              <a:t>Guess it: which capibara is real?</a:t>
            </a:r>
            <a:endParaRPr lang="en-US" sz="2400" dirty="0">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511893BC-79BB-C21A-6D2B-76C7272C2E00}"/>
              </a:ext>
            </a:extLst>
          </p:cNvPr>
          <p:cNvSpPr/>
          <p:nvPr/>
        </p:nvSpPr>
        <p:spPr>
          <a:xfrm>
            <a:off x="585216" y="834999"/>
            <a:ext cx="10972800" cy="274320"/>
          </a:xfrm>
          <a:prstGeom prst="rect">
            <a:avLst/>
          </a:prstGeom>
          <a:noFill/>
          <a:ln/>
        </p:spPr>
        <p:txBody>
          <a:bodyPr wrap="square" lIns="0" tIns="0" rIns="0" bIns="0" rtlCol="0" anchor="ctr"/>
          <a:lstStyle/>
          <a:p>
            <a:r>
              <a:rPr lang="en-US" sz="1600" dirty="0">
                <a:solidFill>
                  <a:srgbClr val="5B6670"/>
                </a:solidFill>
                <a:latin typeface="Google Sans" pitchFamily="2" charset="0"/>
                <a:ea typeface="Google Sans" pitchFamily="2" charset="0"/>
                <a:cs typeface="Google Sans" pitchFamily="2" charset="0"/>
              </a:rPr>
              <a:t>Q1: Real vs AI ?     Q2: GPT vs Gemini vs Claude ?</a:t>
            </a:r>
            <a:endParaRPr lang="en-US" sz="1600" dirty="0">
              <a:latin typeface="Google Sans" pitchFamily="2" charset="0"/>
              <a:ea typeface="Google Sans" pitchFamily="2" charset="0"/>
              <a:cs typeface="Google Sans" pitchFamily="2" charset="0"/>
            </a:endParaRPr>
          </a:p>
        </p:txBody>
      </p:sp>
      <p:sp>
        <p:nvSpPr>
          <p:cNvPr id="17" name="Shape 14">
            <a:extLst>
              <a:ext uri="{FF2B5EF4-FFF2-40B4-BE49-F238E27FC236}">
                <a16:creationId xmlns:a16="http://schemas.microsoft.com/office/drawing/2014/main" id="{7741695D-A2CB-F0A7-FC57-C051AB07D06A}"/>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EE861A80-D92B-EE32-B9EE-AE1CE8BA84CA}"/>
              </a:ext>
            </a:extLst>
          </p:cNvPr>
          <p:cNvSpPr/>
          <p:nvPr/>
        </p:nvSpPr>
        <p:spPr>
          <a:xfrm>
            <a:off x="854964" y="5861304"/>
            <a:ext cx="10469880" cy="164592"/>
          </a:xfrm>
          <a:prstGeom prst="rect">
            <a:avLst/>
          </a:prstGeom>
          <a:noFill/>
          <a:ln/>
        </p:spPr>
        <p:txBody>
          <a:bodyPr wrap="square" lIns="0" tIns="0" rIns="0" bIns="0" rtlCol="0" anchor="ctr"/>
          <a:lstStyle/>
          <a:p>
            <a:pPr algn="ctr"/>
            <a:r>
              <a:rPr lang="en-US" sz="1500" dirty="0">
                <a:solidFill>
                  <a:srgbClr val="FFFFFF"/>
                </a:solidFill>
                <a:latin typeface="Google Sans" pitchFamily="2" charset="0"/>
                <a:ea typeface="Google Sans" pitchFamily="2" charset="0"/>
                <a:cs typeface="Google Sans" pitchFamily="2" charset="0"/>
              </a:rPr>
              <a:t>AI has advanced </a:t>
            </a:r>
            <a:r>
              <a:rPr lang="en-US" sz="1500" b="1" dirty="0">
                <a:solidFill>
                  <a:srgbClr val="FFFFFF"/>
                </a:solidFill>
                <a:latin typeface="Google Sans" pitchFamily="2" charset="0"/>
                <a:ea typeface="Google Sans" pitchFamily="2" charset="0"/>
                <a:cs typeface="Google Sans" pitchFamily="2" charset="0"/>
              </a:rPr>
              <a:t>incredibly fast</a:t>
            </a:r>
            <a:r>
              <a:rPr lang="en-US" sz="1500" dirty="0">
                <a:solidFill>
                  <a:srgbClr val="FFFFFF"/>
                </a:solidFill>
                <a:latin typeface="Google Sans" pitchFamily="2" charset="0"/>
                <a:ea typeface="Google Sans" pitchFamily="2" charset="0"/>
                <a:cs typeface="Google Sans" pitchFamily="2" charset="0"/>
              </a:rPr>
              <a:t>, making photorealistic image and video generation </a:t>
            </a:r>
            <a:r>
              <a:rPr lang="en-US" sz="1500" b="1" dirty="0">
                <a:solidFill>
                  <a:srgbClr val="FFFFFF"/>
                </a:solidFill>
                <a:latin typeface="Google Sans" pitchFamily="2" charset="0"/>
                <a:ea typeface="Google Sans" pitchFamily="2" charset="0"/>
                <a:cs typeface="Google Sans" pitchFamily="2" charset="0"/>
              </a:rPr>
              <a:t>much harder to detect</a:t>
            </a:r>
            <a:r>
              <a:rPr lang="en-US" sz="1500" dirty="0">
                <a:solidFill>
                  <a:srgbClr val="FFFFFF"/>
                </a:solidFill>
                <a:latin typeface="Google Sans" pitchFamily="2" charset="0"/>
                <a:ea typeface="Google Sans" pitchFamily="2" charset="0"/>
                <a:cs typeface="Google Sans" pitchFamily="2" charset="0"/>
              </a:rPr>
              <a:t>.</a:t>
            </a:r>
            <a:endParaRPr lang="en-US" sz="1500" dirty="0">
              <a:latin typeface="Google Sans" pitchFamily="2" charset="0"/>
              <a:ea typeface="Google Sans" pitchFamily="2" charset="0"/>
              <a:cs typeface="Google Sans" pitchFamily="2" charset="0"/>
            </a:endParaRPr>
          </a:p>
        </p:txBody>
      </p:sp>
      <p:sp>
        <p:nvSpPr>
          <p:cNvPr id="12" name="TextBox 11">
            <a:extLst>
              <a:ext uri="{FF2B5EF4-FFF2-40B4-BE49-F238E27FC236}">
                <a16:creationId xmlns:a16="http://schemas.microsoft.com/office/drawing/2014/main" id="{3F0365A0-BA72-0E44-6BAE-5DAF6EA08CB6}"/>
              </a:ext>
            </a:extLst>
          </p:cNvPr>
          <p:cNvSpPr txBox="1"/>
          <p:nvPr/>
        </p:nvSpPr>
        <p:spPr>
          <a:xfrm>
            <a:off x="5246260" y="5209863"/>
            <a:ext cx="2199641" cy="369332"/>
          </a:xfrm>
          <a:prstGeom prst="rect">
            <a:avLst/>
          </a:prstGeom>
          <a:noFill/>
        </p:spPr>
        <p:txBody>
          <a:bodyPr wrap="none" rtlCol="0">
            <a:spAutoFit/>
          </a:bodyPr>
          <a:lstStyle/>
          <a:p>
            <a:pPr algn="ctr"/>
            <a:r>
              <a:rPr lang="en-US" b="1" dirty="0">
                <a:latin typeface="Google Sans" pitchFamily="2" charset="0"/>
                <a:ea typeface="Google Sans" pitchFamily="2" charset="0"/>
                <a:cs typeface="Google Sans" pitchFamily="2" charset="0"/>
              </a:rPr>
              <a:t>Real (zoo capture)</a:t>
            </a:r>
          </a:p>
        </p:txBody>
      </p:sp>
      <p:pic>
        <p:nvPicPr>
          <p:cNvPr id="14" name="Picture 13" descr="A brown rodent lying in grass&#10;&#10;AI-generated content may be incorrect.">
            <a:extLst>
              <a:ext uri="{FF2B5EF4-FFF2-40B4-BE49-F238E27FC236}">
                <a16:creationId xmlns:a16="http://schemas.microsoft.com/office/drawing/2014/main" id="{8A0469F4-ABF1-D1FF-F102-500C5B129FCB}"/>
              </a:ext>
            </a:extLst>
          </p:cNvPr>
          <p:cNvPicPr>
            <a:picLocks noChangeAspect="1"/>
          </p:cNvPicPr>
          <p:nvPr/>
        </p:nvPicPr>
        <p:blipFill>
          <a:blip r:embed="rId3"/>
          <a:stretch>
            <a:fillRect/>
          </a:stretch>
        </p:blipFill>
        <p:spPr>
          <a:xfrm>
            <a:off x="1858098" y="1946825"/>
            <a:ext cx="1976233" cy="2964349"/>
          </a:xfrm>
          <a:prstGeom prst="rect">
            <a:avLst/>
          </a:prstGeom>
        </p:spPr>
      </p:pic>
      <p:pic>
        <p:nvPicPr>
          <p:cNvPr id="16" name="Picture 15" descr="A brown animal lying in grass&#10;&#10;AI-generated content may be incorrect.">
            <a:extLst>
              <a:ext uri="{FF2B5EF4-FFF2-40B4-BE49-F238E27FC236}">
                <a16:creationId xmlns:a16="http://schemas.microsoft.com/office/drawing/2014/main" id="{13BEFF96-4A58-218F-12C2-00961665A40D}"/>
              </a:ext>
            </a:extLst>
          </p:cNvPr>
          <p:cNvPicPr>
            <a:picLocks noChangeAspect="1"/>
          </p:cNvPicPr>
          <p:nvPr/>
        </p:nvPicPr>
        <p:blipFill>
          <a:blip r:embed="rId4"/>
          <a:stretch>
            <a:fillRect/>
          </a:stretch>
        </p:blipFill>
        <p:spPr>
          <a:xfrm>
            <a:off x="4367121" y="1325759"/>
            <a:ext cx="3146556" cy="1716304"/>
          </a:xfrm>
          <a:prstGeom prst="rect">
            <a:avLst/>
          </a:prstGeom>
        </p:spPr>
      </p:pic>
      <p:pic>
        <p:nvPicPr>
          <p:cNvPr id="20" name="Picture 19" descr="A brown animal lying in grass&#10;&#10;AI-generated content may be incorrect.">
            <a:extLst>
              <a:ext uri="{FF2B5EF4-FFF2-40B4-BE49-F238E27FC236}">
                <a16:creationId xmlns:a16="http://schemas.microsoft.com/office/drawing/2014/main" id="{747D4023-0F5A-80AD-D94F-223B74F3A87A}"/>
              </a:ext>
            </a:extLst>
          </p:cNvPr>
          <p:cNvPicPr>
            <a:picLocks noChangeAspect="1"/>
          </p:cNvPicPr>
          <p:nvPr/>
        </p:nvPicPr>
        <p:blipFill>
          <a:blip r:embed="rId5"/>
          <a:stretch>
            <a:fillRect/>
          </a:stretch>
        </p:blipFill>
        <p:spPr>
          <a:xfrm>
            <a:off x="8152363" y="2323176"/>
            <a:ext cx="2611143" cy="1958357"/>
          </a:xfrm>
          <a:prstGeom prst="rect">
            <a:avLst/>
          </a:prstGeom>
        </p:spPr>
      </p:pic>
      <p:sp>
        <p:nvSpPr>
          <p:cNvPr id="21" name="TextBox 20">
            <a:extLst>
              <a:ext uri="{FF2B5EF4-FFF2-40B4-BE49-F238E27FC236}">
                <a16:creationId xmlns:a16="http://schemas.microsoft.com/office/drawing/2014/main" id="{468100CD-BA08-5CDB-D4B7-167CDF93B941}"/>
              </a:ext>
            </a:extLst>
          </p:cNvPr>
          <p:cNvSpPr txBox="1"/>
          <p:nvPr/>
        </p:nvSpPr>
        <p:spPr>
          <a:xfrm>
            <a:off x="8524024" y="4281533"/>
            <a:ext cx="1867819" cy="369332"/>
          </a:xfrm>
          <a:prstGeom prst="rect">
            <a:avLst/>
          </a:prstGeom>
          <a:noFill/>
        </p:spPr>
        <p:txBody>
          <a:bodyPr wrap="none" rtlCol="0">
            <a:spAutoFit/>
          </a:bodyPr>
          <a:lstStyle/>
          <a:p>
            <a:pPr algn="ctr"/>
            <a:r>
              <a:rPr lang="en-US" dirty="0">
                <a:latin typeface="Google Sans" pitchFamily="2" charset="0"/>
                <a:ea typeface="Google Sans" pitchFamily="2" charset="0"/>
                <a:cs typeface="Google Sans" pitchFamily="2" charset="0"/>
              </a:rPr>
              <a:t>Stable Diffusion</a:t>
            </a:r>
          </a:p>
        </p:txBody>
      </p:sp>
      <p:sp>
        <p:nvSpPr>
          <p:cNvPr id="22" name="TextBox 21">
            <a:extLst>
              <a:ext uri="{FF2B5EF4-FFF2-40B4-BE49-F238E27FC236}">
                <a16:creationId xmlns:a16="http://schemas.microsoft.com/office/drawing/2014/main" id="{D12C7FB9-C9AB-EA47-3E0C-DEC9EA91CED7}"/>
              </a:ext>
            </a:extLst>
          </p:cNvPr>
          <p:cNvSpPr txBox="1"/>
          <p:nvPr/>
        </p:nvSpPr>
        <p:spPr>
          <a:xfrm>
            <a:off x="5386401" y="3079774"/>
            <a:ext cx="1107996" cy="369332"/>
          </a:xfrm>
          <a:prstGeom prst="rect">
            <a:avLst/>
          </a:prstGeom>
          <a:noFill/>
        </p:spPr>
        <p:txBody>
          <a:bodyPr wrap="none" rtlCol="0">
            <a:spAutoFit/>
          </a:bodyPr>
          <a:lstStyle/>
          <a:p>
            <a:pPr algn="ctr"/>
            <a:r>
              <a:rPr lang="en-US" dirty="0">
                <a:latin typeface="Google Sans" pitchFamily="2" charset="0"/>
                <a:ea typeface="Google Sans" pitchFamily="2" charset="0"/>
                <a:cs typeface="Google Sans" pitchFamily="2" charset="0"/>
              </a:rPr>
              <a:t>Gemini 3</a:t>
            </a:r>
          </a:p>
        </p:txBody>
      </p:sp>
      <p:sp>
        <p:nvSpPr>
          <p:cNvPr id="23" name="TextBox 22">
            <a:extLst>
              <a:ext uri="{FF2B5EF4-FFF2-40B4-BE49-F238E27FC236}">
                <a16:creationId xmlns:a16="http://schemas.microsoft.com/office/drawing/2014/main" id="{E71A2FCF-8F59-50BF-2926-41328279EC67}"/>
              </a:ext>
            </a:extLst>
          </p:cNvPr>
          <p:cNvSpPr txBox="1"/>
          <p:nvPr/>
        </p:nvSpPr>
        <p:spPr>
          <a:xfrm>
            <a:off x="2438890" y="4935099"/>
            <a:ext cx="814647" cy="369332"/>
          </a:xfrm>
          <a:prstGeom prst="rect">
            <a:avLst/>
          </a:prstGeom>
          <a:noFill/>
        </p:spPr>
        <p:txBody>
          <a:bodyPr wrap="none" rtlCol="0">
            <a:spAutoFit/>
          </a:bodyPr>
          <a:lstStyle/>
          <a:p>
            <a:pPr algn="ctr"/>
            <a:r>
              <a:rPr lang="en-US" dirty="0">
                <a:latin typeface="Google Sans" pitchFamily="2" charset="0"/>
                <a:ea typeface="Google Sans" pitchFamily="2" charset="0"/>
                <a:cs typeface="Google Sans" pitchFamily="2" charset="0"/>
              </a:rPr>
              <a:t>GPT 4</a:t>
            </a:r>
          </a:p>
        </p:txBody>
      </p:sp>
      <p:pic>
        <p:nvPicPr>
          <p:cNvPr id="24" name="Picture 23">
            <a:extLst>
              <a:ext uri="{FF2B5EF4-FFF2-40B4-BE49-F238E27FC236}">
                <a16:creationId xmlns:a16="http://schemas.microsoft.com/office/drawing/2014/main" id="{40447F29-20AF-50D9-332D-9FBD737A0B31}"/>
              </a:ext>
            </a:extLst>
          </p:cNvPr>
          <p:cNvPicPr>
            <a:picLocks noChangeAspect="1"/>
          </p:cNvPicPr>
          <p:nvPr/>
        </p:nvPicPr>
        <p:blipFill>
          <a:blip r:embed="rId6"/>
          <a:stretch>
            <a:fillRect/>
          </a:stretch>
        </p:blipFill>
        <p:spPr>
          <a:xfrm>
            <a:off x="5157030" y="3511454"/>
            <a:ext cx="2520855" cy="1672167"/>
          </a:xfrm>
          <a:prstGeom prst="rect">
            <a:avLst/>
          </a:prstGeom>
        </p:spPr>
      </p:pic>
      <p:sp>
        <p:nvSpPr>
          <p:cNvPr id="25" name="Rectangle 24">
            <a:extLst>
              <a:ext uri="{FF2B5EF4-FFF2-40B4-BE49-F238E27FC236}">
                <a16:creationId xmlns:a16="http://schemas.microsoft.com/office/drawing/2014/main" id="{161D800A-7B36-246A-7850-7057918E3510}"/>
              </a:ext>
            </a:extLst>
          </p:cNvPr>
          <p:cNvSpPr/>
          <p:nvPr/>
        </p:nvSpPr>
        <p:spPr>
          <a:xfrm>
            <a:off x="1842199" y="4970054"/>
            <a:ext cx="2008028" cy="32929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oogle Sans" pitchFamily="2" charset="0"/>
                <a:ea typeface="Google Sans" pitchFamily="2" charset="0"/>
                <a:cs typeface="Google Sans" pitchFamily="2" charset="0"/>
              </a:rPr>
              <a:t>Reveal the Answer</a:t>
            </a:r>
          </a:p>
        </p:txBody>
      </p:sp>
      <p:sp>
        <p:nvSpPr>
          <p:cNvPr id="26" name="Rectangle 25">
            <a:extLst>
              <a:ext uri="{FF2B5EF4-FFF2-40B4-BE49-F238E27FC236}">
                <a16:creationId xmlns:a16="http://schemas.microsoft.com/office/drawing/2014/main" id="{ADA0674F-1AA0-A783-80A0-D543B1622866}"/>
              </a:ext>
            </a:extLst>
          </p:cNvPr>
          <p:cNvSpPr/>
          <p:nvPr/>
        </p:nvSpPr>
        <p:spPr>
          <a:xfrm>
            <a:off x="4936385" y="3096872"/>
            <a:ext cx="2008028" cy="32929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oogle Sans" pitchFamily="2" charset="0"/>
                <a:ea typeface="Google Sans" pitchFamily="2" charset="0"/>
                <a:cs typeface="Google Sans" pitchFamily="2" charset="0"/>
              </a:rPr>
              <a:t>Reveal the Answer</a:t>
            </a:r>
          </a:p>
        </p:txBody>
      </p:sp>
      <p:sp>
        <p:nvSpPr>
          <p:cNvPr id="27" name="Rectangle 26">
            <a:extLst>
              <a:ext uri="{FF2B5EF4-FFF2-40B4-BE49-F238E27FC236}">
                <a16:creationId xmlns:a16="http://schemas.microsoft.com/office/drawing/2014/main" id="{46F9B50B-0AF1-6BCC-D042-80A8ECC75FAA}"/>
              </a:ext>
            </a:extLst>
          </p:cNvPr>
          <p:cNvSpPr/>
          <p:nvPr/>
        </p:nvSpPr>
        <p:spPr>
          <a:xfrm>
            <a:off x="5342066" y="5212665"/>
            <a:ext cx="2008028" cy="32929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oogle Sans" pitchFamily="2" charset="0"/>
                <a:ea typeface="Google Sans" pitchFamily="2" charset="0"/>
                <a:cs typeface="Google Sans" pitchFamily="2" charset="0"/>
              </a:rPr>
              <a:t>Reveal the Answer</a:t>
            </a:r>
          </a:p>
        </p:txBody>
      </p:sp>
      <p:sp>
        <p:nvSpPr>
          <p:cNvPr id="28" name="Rectangle 27">
            <a:extLst>
              <a:ext uri="{FF2B5EF4-FFF2-40B4-BE49-F238E27FC236}">
                <a16:creationId xmlns:a16="http://schemas.microsoft.com/office/drawing/2014/main" id="{EC36699F-FA34-B4B7-46DC-A8399AB23CA2}"/>
              </a:ext>
            </a:extLst>
          </p:cNvPr>
          <p:cNvSpPr/>
          <p:nvPr/>
        </p:nvSpPr>
        <p:spPr>
          <a:xfrm>
            <a:off x="8453920" y="4321572"/>
            <a:ext cx="2008028" cy="32929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Google Sans" pitchFamily="2" charset="0"/>
                <a:ea typeface="Google Sans" pitchFamily="2" charset="0"/>
                <a:cs typeface="Google Sans" pitchFamily="2" charset="0"/>
              </a:rPr>
              <a:t>Reveal the Answer</a:t>
            </a:r>
          </a:p>
        </p:txBody>
      </p:sp>
      <p:sp>
        <p:nvSpPr>
          <p:cNvPr id="9" name="Text 4">
            <a:extLst>
              <a:ext uri="{FF2B5EF4-FFF2-40B4-BE49-F238E27FC236}">
                <a16:creationId xmlns:a16="http://schemas.microsoft.com/office/drawing/2014/main" id="{5B118BB5-9393-436F-A6B8-D3B3FC78B183}"/>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10" name="Text 5">
            <a:extLst>
              <a:ext uri="{FF2B5EF4-FFF2-40B4-BE49-F238E27FC236}">
                <a16:creationId xmlns:a16="http://schemas.microsoft.com/office/drawing/2014/main" id="{0354940D-B47E-4A87-D751-126BD3E09604}"/>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3</a:t>
            </a:r>
            <a:endParaRPr lang="en-US" sz="1100" dirty="0">
              <a:latin typeface="Google Sans" pitchFamily="2" charset="0"/>
              <a:ea typeface="Google Sans" pitchFamily="2" charset="0"/>
              <a:cs typeface="Google Sans" pitchFamily="2" charset="0"/>
            </a:endParaRPr>
          </a:p>
        </p:txBody>
      </p:sp>
    </p:spTree>
    <p:extLst>
      <p:ext uri="{BB962C8B-B14F-4D97-AF65-F5344CB8AC3E}">
        <p14:creationId xmlns:p14="http://schemas.microsoft.com/office/powerpoint/2010/main" val="845034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27"/>
                                        </p:tgtEl>
                                      </p:cBhvr>
                                    </p:animEffect>
                                    <p:set>
                                      <p:cBhvr>
                                        <p:cTn id="7" dur="1" fill="hold">
                                          <p:stCondLst>
                                            <p:cond delay="499"/>
                                          </p:stCondLst>
                                        </p:cTn>
                                        <p:tgtEl>
                                          <p:spTgt spid="27"/>
                                        </p:tgtEl>
                                        <p:attrNameLst>
                                          <p:attrName>style.visibility</p:attrName>
                                        </p:attrNameLst>
                                      </p:cBhvr>
                                      <p:to>
                                        <p:strVal val="hidden"/>
                                      </p:to>
                                    </p:set>
                                  </p:childTnLst>
                                </p:cTn>
                              </p:par>
                              <p:par>
                                <p:cTn id="8" presetID="9" presetClass="exit" presetSubtype="0" fill="hold" grpId="0" nodeType="withEffect">
                                  <p:stCondLst>
                                    <p:cond delay="0"/>
                                  </p:stCondLst>
                                  <p:childTnLst>
                                    <p:animEffect transition="out" filter="dissolve">
                                      <p:cBhvr>
                                        <p:cTn id="9" dur="500"/>
                                        <p:tgtEl>
                                          <p:spTgt spid="26"/>
                                        </p:tgtEl>
                                      </p:cBhvr>
                                    </p:animEffect>
                                    <p:set>
                                      <p:cBhvr>
                                        <p:cTn id="10" dur="1" fill="hold">
                                          <p:stCondLst>
                                            <p:cond delay="499"/>
                                          </p:stCondLst>
                                        </p:cTn>
                                        <p:tgtEl>
                                          <p:spTgt spid="26"/>
                                        </p:tgtEl>
                                        <p:attrNameLst>
                                          <p:attrName>style.visibility</p:attrName>
                                        </p:attrNameLst>
                                      </p:cBhvr>
                                      <p:to>
                                        <p:strVal val="hidden"/>
                                      </p:to>
                                    </p:set>
                                  </p:childTnLst>
                                </p:cTn>
                              </p:par>
                              <p:par>
                                <p:cTn id="11" presetID="9" presetClass="exit" presetSubtype="0" fill="hold" grpId="0" nodeType="withEffect">
                                  <p:stCondLst>
                                    <p:cond delay="0"/>
                                  </p:stCondLst>
                                  <p:childTnLst>
                                    <p:animEffect transition="out" filter="dissolve">
                                      <p:cBhvr>
                                        <p:cTn id="12" dur="500"/>
                                        <p:tgtEl>
                                          <p:spTgt spid="25"/>
                                        </p:tgtEl>
                                      </p:cBhvr>
                                    </p:animEffect>
                                    <p:set>
                                      <p:cBhvr>
                                        <p:cTn id="13" dur="1" fill="hold">
                                          <p:stCondLst>
                                            <p:cond delay="499"/>
                                          </p:stCondLst>
                                        </p:cTn>
                                        <p:tgtEl>
                                          <p:spTgt spid="25"/>
                                        </p:tgtEl>
                                        <p:attrNameLst>
                                          <p:attrName>style.visibility</p:attrName>
                                        </p:attrNameLst>
                                      </p:cBhvr>
                                      <p:to>
                                        <p:strVal val="hidden"/>
                                      </p:to>
                                    </p:set>
                                  </p:childTnLst>
                                </p:cTn>
                              </p:par>
                              <p:par>
                                <p:cTn id="14" presetID="9" presetClass="exit" presetSubtype="0" fill="hold" grpId="0" nodeType="withEffect">
                                  <p:stCondLst>
                                    <p:cond delay="0"/>
                                  </p:stCondLst>
                                  <p:childTnLst>
                                    <p:animEffect transition="out" filter="dissolve">
                                      <p:cBhvr>
                                        <p:cTn id="15" dur="500"/>
                                        <p:tgtEl>
                                          <p:spTgt spid="28"/>
                                        </p:tgtEl>
                                      </p:cBhvr>
                                    </p:animEffect>
                                    <p:set>
                                      <p:cBhvr>
                                        <p:cTn id="16" dur="1" fill="hold">
                                          <p:stCondLst>
                                            <p:cond delay="49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26D18901-BD17-F1D8-9BA9-5806909A8279}"/>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19C9DF7E-F0EE-D945-7005-2DECA6360561}"/>
              </a:ext>
            </a:extLst>
          </p:cNvPr>
          <p:cNvSpPr/>
          <p:nvPr/>
        </p:nvSpPr>
        <p:spPr>
          <a:xfrm>
            <a:off x="658368" y="1231317"/>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dirty="0">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73DA020F-ADD0-CF37-8CFB-3162ED8703BD}"/>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56D96CE7-96E4-F1E7-B9BA-4E1FAD00226B}"/>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F42AB09C-D0EF-EBD1-87FE-F3ED480C3330}"/>
              </a:ext>
            </a:extLst>
          </p:cNvPr>
          <p:cNvSpPr/>
          <p:nvPr/>
        </p:nvSpPr>
        <p:spPr>
          <a:xfrm>
            <a:off x="566928" y="448056"/>
            <a:ext cx="10789920" cy="384048"/>
          </a:xfrm>
          <a:prstGeom prst="rect">
            <a:avLst/>
          </a:prstGeom>
          <a:noFill/>
          <a:ln/>
        </p:spPr>
        <p:txBody>
          <a:bodyPr wrap="square" lIns="0" tIns="0" rIns="0" bIns="0" rtlCol="0" anchor="ctr"/>
          <a:lstStyle/>
          <a:p>
            <a:r>
              <a:rPr lang="en-US" sz="2400" b="1" dirty="0">
                <a:solidFill>
                  <a:srgbClr val="13293D"/>
                </a:solidFill>
                <a:latin typeface="Google Sans" pitchFamily="2" charset="0"/>
                <a:ea typeface="Google Sans" pitchFamily="2" charset="0"/>
                <a:cs typeface="Google Sans" pitchFamily="2" charset="0"/>
              </a:rPr>
              <a:t>Why image provenance becomes a critical topic in the AI era?</a:t>
            </a:r>
            <a:endParaRPr lang="en-US" sz="2400" dirty="0">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A29CB217-12F8-2DFD-B4DD-FDD0C3E17B96}"/>
              </a:ext>
            </a:extLst>
          </p:cNvPr>
          <p:cNvSpPr/>
          <p:nvPr/>
        </p:nvSpPr>
        <p:spPr>
          <a:xfrm>
            <a:off x="585216" y="834999"/>
            <a:ext cx="10972800" cy="274320"/>
          </a:xfrm>
          <a:prstGeom prst="rect">
            <a:avLst/>
          </a:prstGeom>
          <a:noFill/>
          <a:ln/>
        </p:spPr>
        <p:txBody>
          <a:bodyPr wrap="square" lIns="0" tIns="0" rIns="0" bIns="0" rtlCol="0" anchor="ctr"/>
          <a:lstStyle/>
          <a:p>
            <a:r>
              <a:rPr lang="en-US" sz="1400" dirty="0">
                <a:solidFill>
                  <a:srgbClr val="5B6670"/>
                </a:solidFill>
                <a:latin typeface="Google Sans" pitchFamily="2" charset="0"/>
                <a:ea typeface="Google Sans" pitchFamily="2" charset="0"/>
                <a:cs typeface="Google Sans" pitchFamily="2" charset="0"/>
              </a:rPr>
              <a:t>Real security threats are </a:t>
            </a:r>
            <a:r>
              <a:rPr lang="en-US" sz="1400" b="1" dirty="0">
                <a:solidFill>
                  <a:srgbClr val="5B6670"/>
                </a:solidFill>
                <a:latin typeface="Google Sans" pitchFamily="2" charset="0"/>
                <a:ea typeface="Google Sans" pitchFamily="2" charset="0"/>
                <a:cs typeface="Google Sans" pitchFamily="2" charset="0"/>
              </a:rPr>
              <a:t>everywhere</a:t>
            </a:r>
            <a:r>
              <a:rPr lang="en-US" sz="1400" dirty="0">
                <a:solidFill>
                  <a:srgbClr val="5B6670"/>
                </a:solidFill>
                <a:latin typeface="Google Sans" pitchFamily="2" charset="0"/>
                <a:ea typeface="Google Sans" pitchFamily="2" charset="0"/>
                <a:cs typeface="Google Sans" pitchFamily="2" charset="0"/>
              </a:rPr>
              <a:t>, not just on the paper. </a:t>
            </a:r>
            <a:r>
              <a:rPr lang="en-GB" sz="1400" dirty="0">
                <a:solidFill>
                  <a:srgbClr val="5B6670"/>
                </a:solidFill>
                <a:latin typeface="Google Sans" pitchFamily="2" charset="0"/>
                <a:ea typeface="Google Sans" pitchFamily="2" charset="0"/>
                <a:cs typeface="Google Sans" pitchFamily="2" charset="0"/>
              </a:rPr>
              <a:t>Deepfake incidents occur </a:t>
            </a:r>
            <a:r>
              <a:rPr lang="en-GB" sz="1400" b="1" dirty="0">
                <a:solidFill>
                  <a:srgbClr val="5B6670"/>
                </a:solidFill>
                <a:latin typeface="Google Sans" pitchFamily="2" charset="0"/>
                <a:ea typeface="Google Sans" pitchFamily="2" charset="0"/>
                <a:cs typeface="Google Sans" pitchFamily="2" charset="0"/>
              </a:rPr>
              <a:t>every 5 minutes</a:t>
            </a:r>
            <a:r>
              <a:rPr lang="en-GB" sz="1400" dirty="0">
                <a:solidFill>
                  <a:srgbClr val="5B6670"/>
                </a:solidFill>
                <a:latin typeface="Google Sans" pitchFamily="2" charset="0"/>
                <a:ea typeface="Google Sans" pitchFamily="2" charset="0"/>
                <a:cs typeface="Google Sans" pitchFamily="2" charset="0"/>
              </a:rPr>
              <a:t> globally in 2024.</a:t>
            </a:r>
            <a:r>
              <a:rPr lang="en-US" sz="1400" dirty="0">
                <a:solidFill>
                  <a:srgbClr val="5B6670"/>
                </a:solidFill>
                <a:latin typeface="Google Sans" pitchFamily="2" charset="0"/>
                <a:ea typeface="Google Sans" pitchFamily="2" charset="0"/>
                <a:cs typeface="Google Sans" pitchFamily="2" charset="0"/>
              </a:rPr>
              <a:t> </a:t>
            </a:r>
          </a:p>
        </p:txBody>
      </p:sp>
      <p:sp>
        <p:nvSpPr>
          <p:cNvPr id="17" name="Shape 14">
            <a:extLst>
              <a:ext uri="{FF2B5EF4-FFF2-40B4-BE49-F238E27FC236}">
                <a16:creationId xmlns:a16="http://schemas.microsoft.com/office/drawing/2014/main" id="{E3AE255E-E970-3332-3992-2802C692607D}"/>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D1845789-2252-77CF-C5C0-0D52A310B6EA}"/>
              </a:ext>
            </a:extLst>
          </p:cNvPr>
          <p:cNvSpPr/>
          <p:nvPr/>
        </p:nvSpPr>
        <p:spPr>
          <a:xfrm>
            <a:off x="854964" y="5861304"/>
            <a:ext cx="10469880" cy="164592"/>
          </a:xfrm>
          <a:prstGeom prst="rect">
            <a:avLst/>
          </a:prstGeom>
          <a:noFill/>
          <a:ln/>
        </p:spPr>
        <p:txBody>
          <a:bodyPr wrap="square" lIns="0" tIns="0" rIns="0" bIns="0" rtlCol="0" anchor="ctr"/>
          <a:lstStyle/>
          <a:p>
            <a:pPr algn="ctr"/>
            <a:r>
              <a:rPr lang="en-GB" sz="1600" dirty="0">
                <a:solidFill>
                  <a:schemeClr val="bg1"/>
                </a:solidFill>
                <a:latin typeface="Google Sans" pitchFamily="2" charset="0"/>
                <a:ea typeface="Google Sans" pitchFamily="2" charset="0"/>
                <a:cs typeface="Google Sans" pitchFamily="2" charset="0"/>
              </a:rPr>
              <a:t>Generative AI poses growing </a:t>
            </a:r>
            <a:r>
              <a:rPr lang="en-GB" sz="1600" b="1" dirty="0">
                <a:solidFill>
                  <a:schemeClr val="bg1"/>
                </a:solidFill>
                <a:latin typeface="Google Sans" pitchFamily="2" charset="0"/>
                <a:ea typeface="Google Sans" pitchFamily="2" charset="0"/>
                <a:cs typeface="Google Sans" pitchFamily="2" charset="0"/>
              </a:rPr>
              <a:t>real-world harm</a:t>
            </a:r>
            <a:r>
              <a:rPr lang="en-GB" sz="1600" dirty="0">
                <a:solidFill>
                  <a:schemeClr val="bg1"/>
                </a:solidFill>
                <a:latin typeface="Google Sans" pitchFamily="2" charset="0"/>
                <a:ea typeface="Google Sans" pitchFamily="2" charset="0"/>
                <a:cs typeface="Google Sans" pitchFamily="2" charset="0"/>
              </a:rPr>
              <a:t>. Tracing the provenance of images is </a:t>
            </a:r>
            <a:r>
              <a:rPr lang="en-GB" sz="1600" b="1" dirty="0">
                <a:solidFill>
                  <a:schemeClr val="bg1"/>
                </a:solidFill>
                <a:latin typeface="Google Sans" pitchFamily="2" charset="0"/>
                <a:ea typeface="Google Sans" pitchFamily="2" charset="0"/>
                <a:cs typeface="Google Sans" pitchFamily="2" charset="0"/>
              </a:rPr>
              <a:t>more urgent than ever</a:t>
            </a:r>
            <a:r>
              <a:rPr lang="en-GB" sz="1600" dirty="0">
                <a:solidFill>
                  <a:schemeClr val="bg1"/>
                </a:solidFill>
                <a:latin typeface="Google Sans" pitchFamily="2" charset="0"/>
                <a:ea typeface="Google Sans" pitchFamily="2" charset="0"/>
                <a:cs typeface="Google Sans" pitchFamily="2" charset="0"/>
              </a:rPr>
              <a:t>.</a:t>
            </a:r>
            <a:endParaRPr lang="en-US" sz="1500" dirty="0">
              <a:solidFill>
                <a:schemeClr val="bg1"/>
              </a:solidFill>
              <a:latin typeface="Google Sans" pitchFamily="2" charset="0"/>
              <a:ea typeface="Google Sans" pitchFamily="2" charset="0"/>
              <a:cs typeface="Google Sans" pitchFamily="2" charset="0"/>
            </a:endParaRPr>
          </a:p>
        </p:txBody>
      </p:sp>
      <p:pic>
        <p:nvPicPr>
          <p:cNvPr id="1026" name="Picture 2" descr="According to a report done by The New York Times, the fake Swift tells fans that she is &quot;thrilled&quot; to be giving away free sets of the expensive cookware but only if they click on a link and answer a few questions. ">
            <a:extLst>
              <a:ext uri="{FF2B5EF4-FFF2-40B4-BE49-F238E27FC236}">
                <a16:creationId xmlns:a16="http://schemas.microsoft.com/office/drawing/2014/main" id="{A3B86D2F-2252-4465-C818-4B15D08EBF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7802" y="1705892"/>
            <a:ext cx="2976438" cy="307539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76A8E01F-A0AB-40C9-4098-917C1DE8A0EF}"/>
              </a:ext>
            </a:extLst>
          </p:cNvPr>
          <p:cNvSpPr txBox="1"/>
          <p:nvPr/>
        </p:nvSpPr>
        <p:spPr>
          <a:xfrm>
            <a:off x="807756" y="4051622"/>
            <a:ext cx="3284384" cy="738664"/>
          </a:xfrm>
          <a:prstGeom prst="rect">
            <a:avLst/>
          </a:prstGeom>
          <a:noFill/>
        </p:spPr>
        <p:txBody>
          <a:bodyPr wrap="square">
            <a:spAutoFit/>
          </a:bodyPr>
          <a:lstStyle/>
          <a:p>
            <a:r>
              <a:rPr lang="en-GB" sz="1400" dirty="0">
                <a:latin typeface="Google Sans" pitchFamily="2" charset="0"/>
                <a:ea typeface="Google Sans" pitchFamily="2" charset="0"/>
                <a:cs typeface="Google Sans" pitchFamily="2" charset="0"/>
              </a:rPr>
              <a:t>A deepfake ‘CFO’ tricked a British design firm Arup behind the Sydney Opera House in </a:t>
            </a:r>
            <a:r>
              <a:rPr lang="en-GB" sz="1400" b="1" dirty="0">
                <a:solidFill>
                  <a:srgbClr val="FF0000"/>
                </a:solidFill>
                <a:latin typeface="Google Sans" pitchFamily="2" charset="0"/>
                <a:ea typeface="Google Sans" pitchFamily="2" charset="0"/>
                <a:cs typeface="Google Sans" pitchFamily="2" charset="0"/>
              </a:rPr>
              <a:t>$25 million</a:t>
            </a:r>
            <a:r>
              <a:rPr lang="en-GB" sz="1400" dirty="0">
                <a:solidFill>
                  <a:srgbClr val="FF0000"/>
                </a:solidFill>
                <a:latin typeface="Google Sans" pitchFamily="2" charset="0"/>
                <a:ea typeface="Google Sans" pitchFamily="2" charset="0"/>
                <a:cs typeface="Google Sans" pitchFamily="2" charset="0"/>
              </a:rPr>
              <a:t> </a:t>
            </a:r>
            <a:r>
              <a:rPr lang="en-GB" sz="1400" dirty="0">
                <a:latin typeface="Google Sans" pitchFamily="2" charset="0"/>
                <a:ea typeface="Google Sans" pitchFamily="2" charset="0"/>
                <a:cs typeface="Google Sans" pitchFamily="2" charset="0"/>
              </a:rPr>
              <a:t>scam.</a:t>
            </a:r>
            <a:endParaRPr lang="en-US" sz="1400" dirty="0">
              <a:latin typeface="Google Sans" pitchFamily="2" charset="0"/>
              <a:ea typeface="Google Sans" pitchFamily="2" charset="0"/>
              <a:cs typeface="Google Sans" pitchFamily="2" charset="0"/>
            </a:endParaRPr>
          </a:p>
        </p:txBody>
      </p:sp>
      <p:sp>
        <p:nvSpPr>
          <p:cNvPr id="13" name="TextBox 12">
            <a:extLst>
              <a:ext uri="{FF2B5EF4-FFF2-40B4-BE49-F238E27FC236}">
                <a16:creationId xmlns:a16="http://schemas.microsoft.com/office/drawing/2014/main" id="{AA77F5C7-7903-0E63-7D7F-DBD04202DA64}"/>
              </a:ext>
            </a:extLst>
          </p:cNvPr>
          <p:cNvSpPr txBox="1"/>
          <p:nvPr/>
        </p:nvSpPr>
        <p:spPr>
          <a:xfrm>
            <a:off x="4167227" y="1338907"/>
            <a:ext cx="3440778" cy="338554"/>
          </a:xfrm>
          <a:prstGeom prst="rect">
            <a:avLst/>
          </a:prstGeom>
          <a:noFill/>
        </p:spPr>
        <p:txBody>
          <a:bodyPr wrap="square">
            <a:spAutoFit/>
          </a:bodyPr>
          <a:lstStyle/>
          <a:p>
            <a:r>
              <a:rPr lang="en-GB" sz="1600" b="1" i="0" dirty="0">
                <a:effectLst/>
                <a:latin typeface="Google Sans" pitchFamily="2" charset="0"/>
                <a:ea typeface="Google Sans" pitchFamily="2" charset="0"/>
                <a:cs typeface="Google Sans" pitchFamily="2" charset="0"/>
              </a:rPr>
              <a:t>Celebrity Impersonation Scam</a:t>
            </a:r>
            <a:endParaRPr lang="en-US" sz="1600" dirty="0">
              <a:latin typeface="Google Sans" pitchFamily="2" charset="0"/>
              <a:ea typeface="Google Sans" pitchFamily="2" charset="0"/>
              <a:cs typeface="Google Sans" pitchFamily="2" charset="0"/>
            </a:endParaRPr>
          </a:p>
        </p:txBody>
      </p:sp>
      <p:sp>
        <p:nvSpPr>
          <p:cNvPr id="15" name="TextBox 14">
            <a:extLst>
              <a:ext uri="{FF2B5EF4-FFF2-40B4-BE49-F238E27FC236}">
                <a16:creationId xmlns:a16="http://schemas.microsoft.com/office/drawing/2014/main" id="{6D1F12E2-15BC-F1EE-71D8-B11A921C7028}"/>
              </a:ext>
            </a:extLst>
          </p:cNvPr>
          <p:cNvSpPr txBox="1"/>
          <p:nvPr/>
        </p:nvSpPr>
        <p:spPr>
          <a:xfrm>
            <a:off x="807756" y="1338907"/>
            <a:ext cx="2578099" cy="338554"/>
          </a:xfrm>
          <a:prstGeom prst="rect">
            <a:avLst/>
          </a:prstGeom>
          <a:noFill/>
        </p:spPr>
        <p:txBody>
          <a:bodyPr wrap="square">
            <a:spAutoFit/>
          </a:bodyPr>
          <a:lstStyle/>
          <a:p>
            <a:r>
              <a:rPr lang="en-GB" sz="1600" b="1" i="0" dirty="0">
                <a:effectLst/>
                <a:latin typeface="Google Sans" pitchFamily="2" charset="0"/>
                <a:ea typeface="Google Sans" pitchFamily="2" charset="0"/>
                <a:cs typeface="Google Sans" pitchFamily="2" charset="0"/>
              </a:rPr>
              <a:t>Financial Fraud</a:t>
            </a:r>
            <a:endParaRPr lang="en-US" sz="1600" dirty="0">
              <a:latin typeface="Google Sans" pitchFamily="2" charset="0"/>
              <a:ea typeface="Google Sans" pitchFamily="2" charset="0"/>
              <a:cs typeface="Google Sans" pitchFamily="2" charset="0"/>
            </a:endParaRPr>
          </a:p>
        </p:txBody>
      </p:sp>
      <p:pic>
        <p:nvPicPr>
          <p:cNvPr id="19" name="Picture 18" descr="A screenshot of a computer&#10;&#10;AI-generated content may be incorrect.">
            <a:extLst>
              <a:ext uri="{FF2B5EF4-FFF2-40B4-BE49-F238E27FC236}">
                <a16:creationId xmlns:a16="http://schemas.microsoft.com/office/drawing/2014/main" id="{402392DB-E5FF-C94F-E7E1-F407B7B637A5}"/>
              </a:ext>
            </a:extLst>
          </p:cNvPr>
          <p:cNvPicPr>
            <a:picLocks noChangeAspect="1"/>
          </p:cNvPicPr>
          <p:nvPr/>
        </p:nvPicPr>
        <p:blipFill>
          <a:blip r:embed="rId4"/>
          <a:stretch>
            <a:fillRect/>
          </a:stretch>
        </p:blipFill>
        <p:spPr>
          <a:xfrm>
            <a:off x="913234" y="1711726"/>
            <a:ext cx="3108688" cy="2272970"/>
          </a:xfrm>
          <a:prstGeom prst="rect">
            <a:avLst/>
          </a:prstGeom>
          <a:ln>
            <a:solidFill>
              <a:schemeClr val="tx1"/>
            </a:solidFill>
          </a:ln>
        </p:spPr>
      </p:pic>
      <p:sp>
        <p:nvSpPr>
          <p:cNvPr id="28" name="TextBox 27">
            <a:extLst>
              <a:ext uri="{FF2B5EF4-FFF2-40B4-BE49-F238E27FC236}">
                <a16:creationId xmlns:a16="http://schemas.microsoft.com/office/drawing/2014/main" id="{D4D381D8-B81C-B889-0AD9-93F31AD4F958}"/>
              </a:ext>
            </a:extLst>
          </p:cNvPr>
          <p:cNvSpPr txBox="1"/>
          <p:nvPr/>
        </p:nvSpPr>
        <p:spPr>
          <a:xfrm>
            <a:off x="7548974" y="1338907"/>
            <a:ext cx="3440778" cy="338554"/>
          </a:xfrm>
          <a:prstGeom prst="rect">
            <a:avLst/>
          </a:prstGeom>
          <a:noFill/>
        </p:spPr>
        <p:txBody>
          <a:bodyPr wrap="square">
            <a:spAutoFit/>
          </a:bodyPr>
          <a:lstStyle/>
          <a:p>
            <a:r>
              <a:rPr lang="en-GB" sz="1600" b="1" dirty="0">
                <a:latin typeface="Google Sans" pitchFamily="2" charset="0"/>
                <a:ea typeface="Google Sans" pitchFamily="2" charset="0"/>
                <a:cs typeface="Google Sans" pitchFamily="2" charset="0"/>
              </a:rPr>
              <a:t>Fake Political Campaign</a:t>
            </a:r>
            <a:endParaRPr lang="en-US" sz="1600" dirty="0">
              <a:latin typeface="Google Sans" pitchFamily="2" charset="0"/>
              <a:ea typeface="Google Sans" pitchFamily="2" charset="0"/>
              <a:cs typeface="Google Sans" pitchFamily="2" charset="0"/>
            </a:endParaRPr>
          </a:p>
        </p:txBody>
      </p:sp>
      <p:sp>
        <p:nvSpPr>
          <p:cNvPr id="30" name="TextBox 29">
            <a:extLst>
              <a:ext uri="{FF2B5EF4-FFF2-40B4-BE49-F238E27FC236}">
                <a16:creationId xmlns:a16="http://schemas.microsoft.com/office/drawing/2014/main" id="{6DDC13BD-FFAC-50DC-A7C8-D3744778BA10}"/>
              </a:ext>
            </a:extLst>
          </p:cNvPr>
          <p:cNvSpPr txBox="1"/>
          <p:nvPr/>
        </p:nvSpPr>
        <p:spPr>
          <a:xfrm>
            <a:off x="4166117" y="4834650"/>
            <a:ext cx="3332057" cy="738664"/>
          </a:xfrm>
          <a:prstGeom prst="rect">
            <a:avLst/>
          </a:prstGeom>
          <a:noFill/>
        </p:spPr>
        <p:txBody>
          <a:bodyPr wrap="square">
            <a:spAutoFit/>
          </a:bodyPr>
          <a:lstStyle/>
          <a:p>
            <a:r>
              <a:rPr lang="en-GB" sz="1400" dirty="0">
                <a:latin typeface="Google Sans" pitchFamily="2" charset="0"/>
                <a:ea typeface="Google Sans" pitchFamily="2" charset="0"/>
                <a:cs typeface="Google Sans" pitchFamily="2" charset="0"/>
              </a:rPr>
              <a:t>Victims charged a </a:t>
            </a:r>
            <a:r>
              <a:rPr lang="en-GB" sz="1400" b="1" dirty="0">
                <a:solidFill>
                  <a:srgbClr val="FF0000"/>
                </a:solidFill>
                <a:latin typeface="Google Sans" pitchFamily="2" charset="0"/>
                <a:ea typeface="Google Sans" pitchFamily="2" charset="0"/>
                <a:cs typeface="Google Sans" pitchFamily="2" charset="0"/>
              </a:rPr>
              <a:t>$9.96 </a:t>
            </a:r>
            <a:r>
              <a:rPr lang="en-GB" sz="1400" dirty="0">
                <a:latin typeface="Google Sans" pitchFamily="2" charset="0"/>
                <a:ea typeface="Google Sans" pitchFamily="2" charset="0"/>
                <a:cs typeface="Google Sans" pitchFamily="2" charset="0"/>
              </a:rPr>
              <a:t>'shipping fee' on fraudulent websites for the  fake Taylor Swift giving-away post.</a:t>
            </a:r>
            <a:endParaRPr lang="en-US" sz="1400" dirty="0">
              <a:latin typeface="Google Sans" pitchFamily="2" charset="0"/>
              <a:ea typeface="Google Sans" pitchFamily="2" charset="0"/>
              <a:cs typeface="Google Sans" pitchFamily="2" charset="0"/>
            </a:endParaRPr>
          </a:p>
        </p:txBody>
      </p:sp>
      <p:pic>
        <p:nvPicPr>
          <p:cNvPr id="1030" name="Picture 6" descr="Trump supporters target black voters with faked AI images">
            <a:extLst>
              <a:ext uri="{FF2B5EF4-FFF2-40B4-BE49-F238E27FC236}">
                <a16:creationId xmlns:a16="http://schemas.microsoft.com/office/drawing/2014/main" id="{1CB63FA9-E572-ABA0-AE84-A4D142E01AE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53414" y="1705891"/>
            <a:ext cx="3621137" cy="203688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C4691CD5-ACE5-EFFF-C8CE-9B2FCD3BA631}"/>
              </a:ext>
            </a:extLst>
          </p:cNvPr>
          <p:cNvSpPr txBox="1"/>
          <p:nvPr/>
        </p:nvSpPr>
        <p:spPr>
          <a:xfrm>
            <a:off x="7557280" y="3771210"/>
            <a:ext cx="3923012" cy="1384995"/>
          </a:xfrm>
          <a:prstGeom prst="rect">
            <a:avLst/>
          </a:prstGeom>
          <a:noFill/>
        </p:spPr>
        <p:txBody>
          <a:bodyPr wrap="square">
            <a:spAutoFit/>
          </a:bodyPr>
          <a:lstStyle/>
          <a:p>
            <a:r>
              <a:rPr lang="en-GB" sz="1400" dirty="0">
                <a:latin typeface="Google Sans" pitchFamily="2" charset="0"/>
                <a:ea typeface="Google Sans" pitchFamily="2" charset="0"/>
                <a:cs typeface="Google Sans" pitchFamily="2" charset="0"/>
              </a:rPr>
              <a:t>AI-generated images falsely showing Donald Trump with Black supporters were spread on social media during the 2024 U.S. election to fabricate racial grassroots support, </a:t>
            </a:r>
            <a:r>
              <a:rPr lang="en-GB" sz="1400" b="1" dirty="0">
                <a:solidFill>
                  <a:srgbClr val="FF0000"/>
                </a:solidFill>
                <a:latin typeface="Google Sans" pitchFamily="2" charset="0"/>
                <a:ea typeface="Google Sans" pitchFamily="2" charset="0"/>
                <a:cs typeface="Google Sans" pitchFamily="2" charset="0"/>
              </a:rPr>
              <a:t>deceiving voters and eroding public trust</a:t>
            </a:r>
            <a:r>
              <a:rPr lang="en-GB" sz="1400" dirty="0">
                <a:latin typeface="Google Sans" pitchFamily="2" charset="0"/>
                <a:ea typeface="Google Sans" pitchFamily="2" charset="0"/>
                <a:cs typeface="Google Sans" pitchFamily="2" charset="0"/>
              </a:rPr>
              <a:t> in authentic political imagery.</a:t>
            </a:r>
            <a:endParaRPr lang="en-US" sz="1400" dirty="0">
              <a:latin typeface="Google Sans" pitchFamily="2" charset="0"/>
              <a:ea typeface="Google Sans" pitchFamily="2" charset="0"/>
              <a:cs typeface="Google Sans" pitchFamily="2" charset="0"/>
            </a:endParaRPr>
          </a:p>
        </p:txBody>
      </p:sp>
      <p:sp>
        <p:nvSpPr>
          <p:cNvPr id="9" name="Text 4">
            <a:extLst>
              <a:ext uri="{FF2B5EF4-FFF2-40B4-BE49-F238E27FC236}">
                <a16:creationId xmlns:a16="http://schemas.microsoft.com/office/drawing/2014/main" id="{6B817152-577A-83DD-39F5-BE29DA305B05}"/>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10" name="Text 5">
            <a:extLst>
              <a:ext uri="{FF2B5EF4-FFF2-40B4-BE49-F238E27FC236}">
                <a16:creationId xmlns:a16="http://schemas.microsoft.com/office/drawing/2014/main" id="{45242A3E-7825-D21F-5EE3-374B537CEAFE}"/>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4</a:t>
            </a:r>
            <a:endParaRPr lang="en-US" sz="1100" dirty="0">
              <a:latin typeface="Google Sans" pitchFamily="2" charset="0"/>
              <a:ea typeface="Google Sans" pitchFamily="2" charset="0"/>
              <a:cs typeface="Google Sans" pitchFamily="2" charset="0"/>
            </a:endParaRPr>
          </a:p>
        </p:txBody>
      </p:sp>
    </p:spTree>
    <p:extLst>
      <p:ext uri="{BB962C8B-B14F-4D97-AF65-F5344CB8AC3E}">
        <p14:creationId xmlns:p14="http://schemas.microsoft.com/office/powerpoint/2010/main" val="4095709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dissolve">
                                      <p:cBhvr>
                                        <p:cTn id="10" dur="500"/>
                                        <p:tgtEl>
                                          <p:spTgt spid="15"/>
                                        </p:tgtEl>
                                      </p:cBhvr>
                                    </p:animEffect>
                                  </p:childTnLst>
                                </p:cTn>
                              </p:par>
                              <p:par>
                                <p:cTn id="11" presetID="9"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dissolv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026"/>
                                        </p:tgtEl>
                                        <p:attrNameLst>
                                          <p:attrName>style.visibility</p:attrName>
                                        </p:attrNameLst>
                                      </p:cBhvr>
                                      <p:to>
                                        <p:strVal val="visible"/>
                                      </p:to>
                                    </p:set>
                                    <p:animEffect transition="in" filter="dissolve">
                                      <p:cBhvr>
                                        <p:cTn id="18" dur="500"/>
                                        <p:tgtEl>
                                          <p:spTgt spid="1026"/>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dissolve">
                                      <p:cBhvr>
                                        <p:cTn id="24" dur="500"/>
                                        <p:tgtEl>
                                          <p:spTgt spid="30"/>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dissolve">
                                      <p:cBhvr>
                                        <p:cTn id="29" dur="500"/>
                                        <p:tgtEl>
                                          <p:spTgt spid="28"/>
                                        </p:tgtEl>
                                      </p:cBhvr>
                                    </p:animEffect>
                                  </p:childTnLst>
                                </p:cTn>
                              </p:par>
                              <p:par>
                                <p:cTn id="30" presetID="9" presetClass="entr" presetSubtype="0" fill="hold" nodeType="withEffect">
                                  <p:stCondLst>
                                    <p:cond delay="0"/>
                                  </p:stCondLst>
                                  <p:childTnLst>
                                    <p:set>
                                      <p:cBhvr>
                                        <p:cTn id="31" dur="1" fill="hold">
                                          <p:stCondLst>
                                            <p:cond delay="0"/>
                                          </p:stCondLst>
                                        </p:cTn>
                                        <p:tgtEl>
                                          <p:spTgt spid="1030"/>
                                        </p:tgtEl>
                                        <p:attrNameLst>
                                          <p:attrName>style.visibility</p:attrName>
                                        </p:attrNameLst>
                                      </p:cBhvr>
                                      <p:to>
                                        <p:strVal val="visible"/>
                                      </p:to>
                                    </p:set>
                                    <p:animEffect transition="in" filter="dissolve">
                                      <p:cBhvr>
                                        <p:cTn id="32" dur="500"/>
                                        <p:tgtEl>
                                          <p:spTgt spid="1030"/>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dissolve">
                                      <p:cBhvr>
                                        <p:cTn id="3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5" grpId="0"/>
      <p:bldP spid="28" grpId="0"/>
      <p:bldP spid="30" grpId="0"/>
      <p:bldP spid="3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064555FE-649E-4609-8BC3-D8C7806B874B}"/>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612506A5-096D-BB20-8D9E-B50BB5631D40}"/>
              </a:ext>
            </a:extLst>
          </p:cNvPr>
          <p:cNvSpPr/>
          <p:nvPr/>
        </p:nvSpPr>
        <p:spPr>
          <a:xfrm>
            <a:off x="658368" y="1231317"/>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dirty="0">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5B9FF935-39FD-D03A-3E4E-3649F2F8AE8E}"/>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C7E21A0D-8DA7-308B-E648-59E75692A4DD}"/>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F1CA3A59-7CC2-C843-78BE-AED2E3E6F81A}"/>
              </a:ext>
            </a:extLst>
          </p:cNvPr>
          <p:cNvSpPr/>
          <p:nvPr/>
        </p:nvSpPr>
        <p:spPr>
          <a:xfrm>
            <a:off x="566928" y="448056"/>
            <a:ext cx="10789920" cy="384048"/>
          </a:xfrm>
          <a:prstGeom prst="rect">
            <a:avLst/>
          </a:prstGeom>
          <a:noFill/>
          <a:ln/>
        </p:spPr>
        <p:txBody>
          <a:bodyPr wrap="square" lIns="0" tIns="0" rIns="0" bIns="0" rtlCol="0" anchor="ctr"/>
          <a:lstStyle/>
          <a:p>
            <a:r>
              <a:rPr lang="en-GB" sz="2400" b="1" dirty="0">
                <a:solidFill>
                  <a:srgbClr val="13293D"/>
                </a:solidFill>
                <a:latin typeface="Google Sans" pitchFamily="2" charset="0"/>
                <a:ea typeface="Google Sans" pitchFamily="2" charset="0"/>
                <a:cs typeface="Google Sans" pitchFamily="2" charset="0"/>
              </a:rPr>
              <a:t>What do we mean by "image provenance"?</a:t>
            </a:r>
            <a:endParaRPr lang="en-US" sz="2400" b="1" dirty="0">
              <a:solidFill>
                <a:srgbClr val="13293D"/>
              </a:solidFill>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906270C8-AEE9-4060-CD63-D8E620C12B47}"/>
              </a:ext>
            </a:extLst>
          </p:cNvPr>
          <p:cNvSpPr/>
          <p:nvPr/>
        </p:nvSpPr>
        <p:spPr>
          <a:xfrm>
            <a:off x="585216" y="834999"/>
            <a:ext cx="10972800" cy="274320"/>
          </a:xfrm>
          <a:prstGeom prst="rect">
            <a:avLst/>
          </a:prstGeom>
          <a:noFill/>
          <a:ln/>
        </p:spPr>
        <p:txBody>
          <a:bodyPr wrap="square" lIns="0" tIns="0" rIns="0" bIns="0" rtlCol="0" anchor="ctr"/>
          <a:lstStyle/>
          <a:p>
            <a:r>
              <a:rPr lang="en-GB" sz="1600" dirty="0">
                <a:solidFill>
                  <a:srgbClr val="5B6670"/>
                </a:solidFill>
                <a:latin typeface="Google Sans" pitchFamily="2" charset="0"/>
                <a:ea typeface="Google Sans" pitchFamily="2" charset="0"/>
                <a:cs typeface="Google Sans" pitchFamily="2" charset="0"/>
              </a:rPr>
              <a:t>An ideal image provenance system should answer</a:t>
            </a:r>
            <a:r>
              <a:rPr lang="en-US" sz="1600" dirty="0">
                <a:solidFill>
                  <a:srgbClr val="5B6670"/>
                </a:solidFill>
                <a:latin typeface="Google Sans" pitchFamily="2" charset="0"/>
                <a:ea typeface="Google Sans" pitchFamily="2" charset="0"/>
                <a:cs typeface="Google Sans" pitchFamily="2" charset="0"/>
              </a:rPr>
              <a:t> those 5 questions credibly.</a:t>
            </a:r>
          </a:p>
        </p:txBody>
      </p:sp>
      <p:sp>
        <p:nvSpPr>
          <p:cNvPr id="17" name="Shape 14">
            <a:extLst>
              <a:ext uri="{FF2B5EF4-FFF2-40B4-BE49-F238E27FC236}">
                <a16:creationId xmlns:a16="http://schemas.microsoft.com/office/drawing/2014/main" id="{E55820BA-B7FC-9E1B-3411-D1D9A02B719F}"/>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116A5AAD-7782-146F-183F-C556E892C440}"/>
              </a:ext>
            </a:extLst>
          </p:cNvPr>
          <p:cNvSpPr/>
          <p:nvPr/>
        </p:nvSpPr>
        <p:spPr>
          <a:xfrm>
            <a:off x="854964" y="5861304"/>
            <a:ext cx="10469880" cy="164592"/>
          </a:xfrm>
          <a:prstGeom prst="rect">
            <a:avLst/>
          </a:prstGeom>
          <a:noFill/>
          <a:ln/>
        </p:spPr>
        <p:txBody>
          <a:bodyPr wrap="square" lIns="0" tIns="0" rIns="0" bIns="0" rtlCol="0" anchor="ctr"/>
          <a:lstStyle/>
          <a:p>
            <a:pPr algn="ctr"/>
            <a:r>
              <a:rPr lang="en-GB" sz="1600" dirty="0">
                <a:solidFill>
                  <a:schemeClr val="bg1"/>
                </a:solidFill>
                <a:latin typeface="Google Sans" pitchFamily="2" charset="0"/>
                <a:ea typeface="Google Sans" pitchFamily="2" charset="0"/>
                <a:cs typeface="Google Sans" pitchFamily="2" charset="0"/>
              </a:rPr>
              <a:t>Provenance should be </a:t>
            </a:r>
            <a:r>
              <a:rPr lang="en-GB" sz="1600" i="1" dirty="0">
                <a:solidFill>
                  <a:schemeClr val="bg1"/>
                </a:solidFill>
                <a:latin typeface="Google Sans" pitchFamily="2" charset="0"/>
                <a:ea typeface="Google Sans" pitchFamily="2" charset="0"/>
                <a:cs typeface="Google Sans" pitchFamily="2" charset="0"/>
              </a:rPr>
              <a:t>structured evidence</a:t>
            </a:r>
            <a:r>
              <a:rPr lang="en-GB" sz="1600" dirty="0">
                <a:solidFill>
                  <a:schemeClr val="bg1"/>
                </a:solidFill>
                <a:latin typeface="Google Sans" pitchFamily="2" charset="0"/>
                <a:ea typeface="Google Sans" pitchFamily="2" charset="0"/>
                <a:cs typeface="Google Sans" pitchFamily="2" charset="0"/>
              </a:rPr>
              <a:t> about both origin and history.</a:t>
            </a:r>
            <a:endParaRPr lang="en-US" sz="1500" dirty="0">
              <a:solidFill>
                <a:schemeClr val="bg1"/>
              </a:solidFill>
              <a:latin typeface="Google Sans" pitchFamily="2" charset="0"/>
              <a:ea typeface="Google Sans" pitchFamily="2" charset="0"/>
              <a:cs typeface="Google Sans" pitchFamily="2" charset="0"/>
            </a:endParaRPr>
          </a:p>
        </p:txBody>
      </p:sp>
      <p:sp>
        <p:nvSpPr>
          <p:cNvPr id="31" name="TextBox 30">
            <a:extLst>
              <a:ext uri="{FF2B5EF4-FFF2-40B4-BE49-F238E27FC236}">
                <a16:creationId xmlns:a16="http://schemas.microsoft.com/office/drawing/2014/main" id="{B046215C-9279-A917-0E01-82DC7DE4AD53}"/>
              </a:ext>
            </a:extLst>
          </p:cNvPr>
          <p:cNvSpPr txBox="1"/>
          <p:nvPr/>
        </p:nvSpPr>
        <p:spPr>
          <a:xfrm>
            <a:off x="4984671" y="2059173"/>
            <a:ext cx="6289881" cy="2800767"/>
          </a:xfrm>
          <a:prstGeom prst="rect">
            <a:avLst/>
          </a:prstGeom>
          <a:noFill/>
        </p:spPr>
        <p:txBody>
          <a:bodyPr wrap="square" rtlCol="0">
            <a:spAutoFit/>
          </a:bodyPr>
          <a:lstStyle/>
          <a:p>
            <a:pPr lvl="0" eaLnBrk="0" fontAlgn="base" hangingPunct="0">
              <a:spcBef>
                <a:spcPct val="0"/>
              </a:spcBef>
              <a:spcAft>
                <a:spcPct val="0"/>
              </a:spcAft>
            </a:pPr>
            <a:r>
              <a:rPr lang="en-US" altLang="en-US" sz="2000" b="1" dirty="0">
                <a:latin typeface="Google Sans" pitchFamily="2" charset="0"/>
                <a:ea typeface="Google Sans" pitchFamily="2" charset="0"/>
                <a:cs typeface="Google Sans" pitchFamily="2" charset="0"/>
              </a:rPr>
              <a:t>Source:</a:t>
            </a:r>
            <a:r>
              <a:rPr lang="en-US" altLang="en-US" sz="2000" dirty="0">
                <a:latin typeface="Google Sans" pitchFamily="2" charset="0"/>
                <a:ea typeface="Google Sans" pitchFamily="2" charset="0"/>
                <a:cs typeface="Google Sans" pitchFamily="2" charset="0"/>
              </a:rPr>
              <a:t> </a:t>
            </a:r>
            <a:r>
              <a:rPr lang="en-US" altLang="en-US" sz="1600" dirty="0">
                <a:latin typeface="Google Sans" pitchFamily="2" charset="0"/>
                <a:ea typeface="Google Sans" pitchFamily="2" charset="0"/>
                <a:cs typeface="Google Sans" pitchFamily="2" charset="0"/>
              </a:rPr>
              <a:t>Who or what model created this image?</a:t>
            </a:r>
          </a:p>
          <a:p>
            <a:pPr lvl="0" eaLnBrk="0" fontAlgn="base" hangingPunct="0">
              <a:spcBef>
                <a:spcPct val="0"/>
              </a:spcBef>
              <a:spcAft>
                <a:spcPct val="0"/>
              </a:spcAft>
            </a:pPr>
            <a:endParaRPr lang="en-US" altLang="en-US" sz="1600" dirty="0">
              <a:latin typeface="Google Sans" pitchFamily="2" charset="0"/>
              <a:ea typeface="Google Sans" pitchFamily="2" charset="0"/>
              <a:cs typeface="Google Sans" pitchFamily="2" charset="0"/>
            </a:endParaRPr>
          </a:p>
          <a:p>
            <a:pPr lvl="0" eaLnBrk="0" fontAlgn="base" hangingPunct="0">
              <a:spcBef>
                <a:spcPct val="0"/>
              </a:spcBef>
              <a:spcAft>
                <a:spcPct val="0"/>
              </a:spcAft>
            </a:pPr>
            <a:r>
              <a:rPr lang="en-US" altLang="en-US" sz="2000" b="1" dirty="0">
                <a:latin typeface="Google Sans" pitchFamily="2" charset="0"/>
                <a:ea typeface="Google Sans" pitchFamily="2" charset="0"/>
                <a:cs typeface="Google Sans" pitchFamily="2" charset="0"/>
              </a:rPr>
              <a:t>Process:</a:t>
            </a:r>
            <a:r>
              <a:rPr lang="en-US" altLang="en-US" sz="2000" dirty="0">
                <a:latin typeface="Google Sans" pitchFamily="2" charset="0"/>
                <a:ea typeface="Google Sans" pitchFamily="2" charset="0"/>
                <a:cs typeface="Google Sans" pitchFamily="2" charset="0"/>
              </a:rPr>
              <a:t> </a:t>
            </a:r>
            <a:r>
              <a:rPr lang="en-US" altLang="en-US" sz="1600" dirty="0">
                <a:latin typeface="Google Sans" pitchFamily="2" charset="0"/>
                <a:ea typeface="Google Sans" pitchFamily="2" charset="0"/>
                <a:cs typeface="Google Sans" pitchFamily="2" charset="0"/>
              </a:rPr>
              <a:t>What edits have happened to this image?</a:t>
            </a:r>
          </a:p>
          <a:p>
            <a:pPr lvl="0" eaLnBrk="0" fontAlgn="base" hangingPunct="0">
              <a:spcBef>
                <a:spcPct val="0"/>
              </a:spcBef>
              <a:spcAft>
                <a:spcPct val="0"/>
              </a:spcAft>
            </a:pPr>
            <a:endParaRPr lang="en-US" altLang="en-US" sz="2000" b="1" dirty="0">
              <a:latin typeface="Google Sans" pitchFamily="2" charset="0"/>
              <a:ea typeface="Google Sans" pitchFamily="2" charset="0"/>
              <a:cs typeface="Google Sans" pitchFamily="2" charset="0"/>
            </a:endParaRPr>
          </a:p>
          <a:p>
            <a:pPr lvl="0" eaLnBrk="0" fontAlgn="base" hangingPunct="0">
              <a:spcBef>
                <a:spcPct val="0"/>
              </a:spcBef>
              <a:spcAft>
                <a:spcPct val="0"/>
              </a:spcAft>
            </a:pPr>
            <a:r>
              <a:rPr lang="en-US" altLang="en-US" sz="2000" b="1" dirty="0">
                <a:latin typeface="Google Sans" pitchFamily="2" charset="0"/>
                <a:ea typeface="Google Sans" pitchFamily="2" charset="0"/>
                <a:cs typeface="Google Sans" pitchFamily="2" charset="0"/>
              </a:rPr>
              <a:t>Binding:</a:t>
            </a:r>
            <a:r>
              <a:rPr lang="en-US" altLang="en-US" sz="2000" dirty="0">
                <a:latin typeface="Google Sans" pitchFamily="2" charset="0"/>
                <a:ea typeface="Google Sans" pitchFamily="2" charset="0"/>
                <a:cs typeface="Google Sans" pitchFamily="2" charset="0"/>
              </a:rPr>
              <a:t> </a:t>
            </a:r>
            <a:r>
              <a:rPr lang="en-US" altLang="en-US" sz="1600" dirty="0">
                <a:latin typeface="Google Sans" pitchFamily="2" charset="0"/>
                <a:ea typeface="Google Sans" pitchFamily="2" charset="0"/>
                <a:cs typeface="Google Sans" pitchFamily="2" charset="0"/>
              </a:rPr>
              <a:t>How are those claims tied to this image?</a:t>
            </a:r>
          </a:p>
          <a:p>
            <a:pPr lvl="0" eaLnBrk="0" fontAlgn="base" hangingPunct="0">
              <a:spcBef>
                <a:spcPct val="0"/>
              </a:spcBef>
              <a:spcAft>
                <a:spcPct val="0"/>
              </a:spcAft>
            </a:pPr>
            <a:endParaRPr lang="en-US" altLang="en-US" sz="2000" b="1" dirty="0">
              <a:latin typeface="Google Sans" pitchFamily="2" charset="0"/>
              <a:ea typeface="Google Sans" pitchFamily="2" charset="0"/>
              <a:cs typeface="Google Sans" pitchFamily="2" charset="0"/>
            </a:endParaRPr>
          </a:p>
          <a:p>
            <a:pPr lvl="0" eaLnBrk="0" fontAlgn="base" hangingPunct="0">
              <a:spcBef>
                <a:spcPct val="0"/>
              </a:spcBef>
              <a:spcAft>
                <a:spcPct val="0"/>
              </a:spcAft>
            </a:pPr>
            <a:r>
              <a:rPr lang="en-US" altLang="en-US" sz="2000" b="1" dirty="0">
                <a:latin typeface="Google Sans" pitchFamily="2" charset="0"/>
                <a:ea typeface="Google Sans" pitchFamily="2" charset="0"/>
                <a:cs typeface="Google Sans" pitchFamily="2" charset="0"/>
              </a:rPr>
              <a:t>Verification:</a:t>
            </a:r>
            <a:r>
              <a:rPr lang="en-US" altLang="en-US" sz="2000" dirty="0">
                <a:latin typeface="Google Sans" pitchFamily="2" charset="0"/>
                <a:ea typeface="Google Sans" pitchFamily="2" charset="0"/>
                <a:cs typeface="Google Sans" pitchFamily="2" charset="0"/>
              </a:rPr>
              <a:t> </a:t>
            </a:r>
            <a:r>
              <a:rPr lang="en-US" altLang="en-US" sz="1600" dirty="0">
                <a:latin typeface="Google Sans" pitchFamily="2" charset="0"/>
                <a:ea typeface="Google Sans" pitchFamily="2" charset="0"/>
                <a:cs typeface="Google Sans" pitchFamily="2" charset="0"/>
              </a:rPr>
              <a:t>Who can check those claims?</a:t>
            </a:r>
          </a:p>
          <a:p>
            <a:pPr lvl="0" eaLnBrk="0" fontAlgn="base" hangingPunct="0">
              <a:spcBef>
                <a:spcPct val="0"/>
              </a:spcBef>
              <a:spcAft>
                <a:spcPct val="0"/>
              </a:spcAft>
            </a:pPr>
            <a:endParaRPr lang="en-US" altLang="en-US" sz="2000" b="1" dirty="0">
              <a:latin typeface="Google Sans" pitchFamily="2" charset="0"/>
              <a:ea typeface="Google Sans" pitchFamily="2" charset="0"/>
              <a:cs typeface="Google Sans" pitchFamily="2" charset="0"/>
            </a:endParaRPr>
          </a:p>
          <a:p>
            <a:pPr lvl="0" eaLnBrk="0" fontAlgn="base" hangingPunct="0">
              <a:spcBef>
                <a:spcPct val="0"/>
              </a:spcBef>
              <a:spcAft>
                <a:spcPct val="0"/>
              </a:spcAft>
            </a:pPr>
            <a:r>
              <a:rPr lang="en-US" altLang="en-US" sz="2000" b="1" dirty="0">
                <a:latin typeface="Google Sans" pitchFamily="2" charset="0"/>
                <a:ea typeface="Google Sans" pitchFamily="2" charset="0"/>
                <a:cs typeface="Google Sans" pitchFamily="2" charset="0"/>
              </a:rPr>
              <a:t>Granularity:</a:t>
            </a:r>
            <a:r>
              <a:rPr lang="en-US" altLang="en-US" sz="2000" dirty="0">
                <a:latin typeface="Google Sans" pitchFamily="2" charset="0"/>
                <a:ea typeface="Google Sans" pitchFamily="2" charset="0"/>
                <a:cs typeface="Google Sans" pitchFamily="2" charset="0"/>
              </a:rPr>
              <a:t> </a:t>
            </a:r>
            <a:r>
              <a:rPr lang="en-US" altLang="en-US" sz="1600" dirty="0">
                <a:latin typeface="Google Sans" pitchFamily="2" charset="0"/>
                <a:ea typeface="Google Sans" pitchFamily="2" charset="0"/>
                <a:cs typeface="Google Sans" pitchFamily="2" charset="0"/>
              </a:rPr>
              <a:t>AI/non-AI, model, user, device, edit history?</a:t>
            </a:r>
          </a:p>
        </p:txBody>
      </p:sp>
      <p:pic>
        <p:nvPicPr>
          <p:cNvPr id="33" name="Picture 32" descr="A diagram of a diagram&#10;&#10;AI-generated content may be incorrect.">
            <a:extLst>
              <a:ext uri="{FF2B5EF4-FFF2-40B4-BE49-F238E27FC236}">
                <a16:creationId xmlns:a16="http://schemas.microsoft.com/office/drawing/2014/main" id="{EC3CFB2D-ACF8-C201-2394-569C138DB3F1}"/>
              </a:ext>
            </a:extLst>
          </p:cNvPr>
          <p:cNvPicPr>
            <a:picLocks noChangeAspect="1"/>
          </p:cNvPicPr>
          <p:nvPr/>
        </p:nvPicPr>
        <p:blipFill>
          <a:blip r:embed="rId3"/>
          <a:srcRect l="20640" r="21192"/>
          <a:stretch>
            <a:fillRect/>
          </a:stretch>
        </p:blipFill>
        <p:spPr>
          <a:xfrm>
            <a:off x="1028023" y="1755396"/>
            <a:ext cx="3488385" cy="3347208"/>
          </a:xfrm>
          <a:prstGeom prst="rect">
            <a:avLst/>
          </a:prstGeom>
        </p:spPr>
      </p:pic>
      <p:sp>
        <p:nvSpPr>
          <p:cNvPr id="9" name="Text 4">
            <a:extLst>
              <a:ext uri="{FF2B5EF4-FFF2-40B4-BE49-F238E27FC236}">
                <a16:creationId xmlns:a16="http://schemas.microsoft.com/office/drawing/2014/main" id="{5D0F997B-4799-D077-38F7-821D24E4BA3C}"/>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10" name="Text 5">
            <a:extLst>
              <a:ext uri="{FF2B5EF4-FFF2-40B4-BE49-F238E27FC236}">
                <a16:creationId xmlns:a16="http://schemas.microsoft.com/office/drawing/2014/main" id="{8751D0CB-8EBC-F136-6677-5F4A44C1F0A4}"/>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5</a:t>
            </a:r>
            <a:endParaRPr lang="en-US" sz="1100" dirty="0">
              <a:latin typeface="Google Sans" pitchFamily="2" charset="0"/>
              <a:ea typeface="Google Sans" pitchFamily="2" charset="0"/>
              <a:cs typeface="Google Sans" pitchFamily="2" charset="0"/>
            </a:endParaRPr>
          </a:p>
        </p:txBody>
      </p:sp>
    </p:spTree>
    <p:extLst>
      <p:ext uri="{BB962C8B-B14F-4D97-AF65-F5344CB8AC3E}">
        <p14:creationId xmlns:p14="http://schemas.microsoft.com/office/powerpoint/2010/main" val="496407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D66CDFBF-4BAF-5A1E-0EF1-11EE62030D3A}"/>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C3AD63F6-B4FD-E46D-6D96-8A84D0E54D17}"/>
              </a:ext>
            </a:extLst>
          </p:cNvPr>
          <p:cNvSpPr>
            <a:spLocks noGrp="1" noRot="1" noMove="1" noResize="1" noEditPoints="1" noAdjustHandles="1" noChangeArrowheads="1" noChangeShapeType="1"/>
          </p:cNvSpPr>
          <p:nvPr/>
        </p:nvSpPr>
        <p:spPr>
          <a:xfrm>
            <a:off x="658368" y="1231317"/>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dirty="0">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75BCF955-DA50-A672-8DFF-868F7F9DA1A8}"/>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AE062312-5BBD-8C00-7DA1-AC591E821547}"/>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58439C39-BA69-C30D-8CD5-F9F3734CBFF2}"/>
              </a:ext>
            </a:extLst>
          </p:cNvPr>
          <p:cNvSpPr/>
          <p:nvPr/>
        </p:nvSpPr>
        <p:spPr>
          <a:xfrm>
            <a:off x="566928" y="448056"/>
            <a:ext cx="10789920" cy="384048"/>
          </a:xfrm>
          <a:prstGeom prst="rect">
            <a:avLst/>
          </a:prstGeom>
          <a:noFill/>
          <a:ln/>
        </p:spPr>
        <p:txBody>
          <a:bodyPr wrap="square" lIns="0" tIns="0" rIns="0" bIns="0" rtlCol="0" anchor="ctr"/>
          <a:lstStyle/>
          <a:p>
            <a:r>
              <a:rPr lang="en-US" sz="2400" b="1" dirty="0">
                <a:solidFill>
                  <a:srgbClr val="13293D"/>
                </a:solidFill>
                <a:latin typeface="Google Sans" pitchFamily="2" charset="0"/>
                <a:ea typeface="Google Sans" pitchFamily="2" charset="0"/>
                <a:cs typeface="Google Sans" pitchFamily="2" charset="0"/>
              </a:rPr>
              <a:t>What solutions have been proposed?</a:t>
            </a:r>
            <a:endParaRPr lang="en-US" sz="2400" dirty="0">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C031B77D-F2B5-B03C-2A18-F7E8CAC4F41C}"/>
              </a:ext>
            </a:extLst>
          </p:cNvPr>
          <p:cNvSpPr/>
          <p:nvPr/>
        </p:nvSpPr>
        <p:spPr>
          <a:xfrm>
            <a:off x="585216" y="834999"/>
            <a:ext cx="10972800" cy="274320"/>
          </a:xfrm>
          <a:prstGeom prst="rect">
            <a:avLst/>
          </a:prstGeom>
          <a:noFill/>
          <a:ln/>
        </p:spPr>
        <p:txBody>
          <a:bodyPr wrap="square" lIns="0" tIns="0" rIns="0" bIns="0" rtlCol="0" anchor="ctr"/>
          <a:lstStyle/>
          <a:p>
            <a:r>
              <a:rPr lang="en-US" sz="1600" dirty="0">
                <a:solidFill>
                  <a:srgbClr val="5B6670"/>
                </a:solidFill>
                <a:latin typeface="Google Sans" pitchFamily="2" charset="0"/>
                <a:ea typeface="Google Sans" pitchFamily="2" charset="0"/>
                <a:cs typeface="Google Sans" pitchFamily="2" charset="0"/>
              </a:rPr>
              <a:t>A taxonomy on image provenance</a:t>
            </a:r>
            <a:r>
              <a:rPr lang="zh-CN" altLang="en-US" sz="1600" dirty="0">
                <a:solidFill>
                  <a:srgbClr val="5B6670"/>
                </a:solidFill>
                <a:latin typeface="Google Sans" pitchFamily="2" charset="0"/>
                <a:ea typeface="Google Sans" pitchFamily="2" charset="0"/>
                <a:cs typeface="Google Sans" pitchFamily="2" charset="0"/>
              </a:rPr>
              <a:t> </a:t>
            </a:r>
            <a:r>
              <a:rPr lang="en-US" altLang="zh-CN" sz="1600" dirty="0">
                <a:solidFill>
                  <a:srgbClr val="5B6670"/>
                </a:solidFill>
                <a:latin typeface="Google Sans" pitchFamily="2" charset="0"/>
                <a:ea typeface="Google Sans" pitchFamily="2" charset="0"/>
                <a:cs typeface="Google Sans" pitchFamily="2" charset="0"/>
              </a:rPr>
              <a:t>techniques</a:t>
            </a:r>
            <a:r>
              <a:rPr lang="en-US" sz="1600" dirty="0">
                <a:solidFill>
                  <a:srgbClr val="5B6670"/>
                </a:solidFill>
                <a:latin typeface="Google Sans" pitchFamily="2" charset="0"/>
                <a:ea typeface="Google Sans" pitchFamily="2" charset="0"/>
                <a:cs typeface="Google Sans" pitchFamily="2" charset="0"/>
              </a:rPr>
              <a:t>: hard binding, soft binding, and passive inference. </a:t>
            </a:r>
            <a:endParaRPr lang="en-US" sz="1600" dirty="0">
              <a:latin typeface="Google Sans" pitchFamily="2" charset="0"/>
              <a:ea typeface="Google Sans" pitchFamily="2" charset="0"/>
              <a:cs typeface="Google Sans" pitchFamily="2" charset="0"/>
            </a:endParaRPr>
          </a:p>
        </p:txBody>
      </p:sp>
      <p:sp>
        <p:nvSpPr>
          <p:cNvPr id="17" name="Shape 14">
            <a:extLst>
              <a:ext uri="{FF2B5EF4-FFF2-40B4-BE49-F238E27FC236}">
                <a16:creationId xmlns:a16="http://schemas.microsoft.com/office/drawing/2014/main" id="{ADB27411-EE19-83AE-1C1A-3B96E97AF1C7}"/>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202295D0-7DB5-C45A-4362-938FC5E85FE1}"/>
              </a:ext>
            </a:extLst>
          </p:cNvPr>
          <p:cNvSpPr/>
          <p:nvPr/>
        </p:nvSpPr>
        <p:spPr>
          <a:xfrm>
            <a:off x="854964" y="5861304"/>
            <a:ext cx="10469880" cy="164592"/>
          </a:xfrm>
          <a:prstGeom prst="rect">
            <a:avLst/>
          </a:prstGeom>
          <a:noFill/>
          <a:ln/>
        </p:spPr>
        <p:txBody>
          <a:bodyPr wrap="square" lIns="0" tIns="0" rIns="0" bIns="0" rtlCol="0" anchor="ctr"/>
          <a:lstStyle/>
          <a:p>
            <a:pPr algn="ctr"/>
            <a:r>
              <a:rPr lang="en-GB" sz="1600" dirty="0">
                <a:solidFill>
                  <a:schemeClr val="bg1"/>
                </a:solidFill>
                <a:latin typeface="Google Sans" pitchFamily="2" charset="0"/>
                <a:ea typeface="Google Sans" pitchFamily="2" charset="0"/>
                <a:cs typeface="Google Sans" pitchFamily="2" charset="0"/>
              </a:rPr>
              <a:t>These solutions should be considered as complementary, not as competing substitutes.</a:t>
            </a:r>
            <a:endParaRPr lang="en-US" sz="1500" dirty="0">
              <a:solidFill>
                <a:schemeClr val="bg1"/>
              </a:solidFill>
              <a:latin typeface="Google Sans" pitchFamily="2" charset="0"/>
              <a:ea typeface="Google Sans" pitchFamily="2" charset="0"/>
              <a:cs typeface="Google Sans" pitchFamily="2" charset="0"/>
            </a:endParaRPr>
          </a:p>
        </p:txBody>
      </p:sp>
      <p:sp>
        <p:nvSpPr>
          <p:cNvPr id="12" name="TextBox 11">
            <a:extLst>
              <a:ext uri="{FF2B5EF4-FFF2-40B4-BE49-F238E27FC236}">
                <a16:creationId xmlns:a16="http://schemas.microsoft.com/office/drawing/2014/main" id="{6A1ED6AC-2D5F-3DD5-6A76-FCC4F0EB6EFB}"/>
              </a:ext>
            </a:extLst>
          </p:cNvPr>
          <p:cNvSpPr txBox="1"/>
          <p:nvPr/>
        </p:nvSpPr>
        <p:spPr>
          <a:xfrm>
            <a:off x="854964" y="1472177"/>
            <a:ext cx="2460719" cy="1231106"/>
          </a:xfrm>
          <a:prstGeom prst="rect">
            <a:avLst/>
          </a:prstGeom>
          <a:noFill/>
        </p:spPr>
        <p:txBody>
          <a:bodyPr wrap="square">
            <a:spAutoFit/>
          </a:bodyPr>
          <a:lstStyle/>
          <a:p>
            <a:r>
              <a:rPr lang="en-GB" b="1" i="0" dirty="0">
                <a:effectLst/>
                <a:latin typeface="Google Sans" pitchFamily="2" charset="0"/>
                <a:ea typeface="Google Sans" pitchFamily="2" charset="0"/>
                <a:cs typeface="Google Sans" pitchFamily="2" charset="0"/>
              </a:rPr>
              <a:t>Hard binding</a:t>
            </a:r>
            <a:r>
              <a:rPr lang="en-US" altLang="en-US" b="1" dirty="0">
                <a:latin typeface="Google Sans" pitchFamily="2" charset="0"/>
                <a:ea typeface="Google Sans" pitchFamily="2" charset="0"/>
                <a:cs typeface="Google Sans" pitchFamily="2" charset="0"/>
              </a:rPr>
              <a:t>:</a:t>
            </a:r>
            <a:r>
              <a:rPr lang="en-GB" sz="1400" b="0" i="0" dirty="0">
                <a:effectLst/>
                <a:latin typeface="Google Sans" pitchFamily="2" charset="0"/>
                <a:ea typeface="Google Sans" pitchFamily="2" charset="0"/>
                <a:cs typeface="Google Sans" pitchFamily="2" charset="0"/>
              </a:rPr>
              <a:t> </a:t>
            </a:r>
          </a:p>
          <a:p>
            <a:r>
              <a:rPr lang="en-GB" sz="1400" dirty="0">
                <a:latin typeface="Google Sans" pitchFamily="2" charset="0"/>
                <a:ea typeface="Google Sans" pitchFamily="2" charset="0"/>
                <a:cs typeface="Google Sans" pitchFamily="2" charset="0"/>
              </a:rPr>
              <a:t>A cryptographic lock that ties an image's provenance record to its </a:t>
            </a:r>
            <a:r>
              <a:rPr lang="en-GB" sz="1400" u="sng" dirty="0">
                <a:latin typeface="Google Sans" pitchFamily="2" charset="0"/>
                <a:ea typeface="Google Sans" pitchFamily="2" charset="0"/>
                <a:cs typeface="Google Sans" pitchFamily="2" charset="0"/>
              </a:rPr>
              <a:t>exact file bytes</a:t>
            </a:r>
            <a:r>
              <a:rPr lang="en-GB" sz="1400" dirty="0">
                <a:latin typeface="Google Sans" pitchFamily="2" charset="0"/>
                <a:ea typeface="Google Sans" pitchFamily="2" charset="0"/>
                <a:cs typeface="Google Sans" pitchFamily="2" charset="0"/>
              </a:rPr>
              <a:t> (</a:t>
            </a:r>
            <a:r>
              <a:rPr lang="en-GB" sz="1400" b="0" i="0" dirty="0">
                <a:effectLst/>
                <a:latin typeface="Google Sans" pitchFamily="2" charset="0"/>
                <a:ea typeface="Google Sans" pitchFamily="2" charset="0"/>
                <a:cs typeface="Google Sans" pitchFamily="2" charset="0"/>
              </a:rPr>
              <a:t>e.g., C2PA)</a:t>
            </a:r>
          </a:p>
        </p:txBody>
      </p:sp>
      <p:pic>
        <p:nvPicPr>
          <p:cNvPr id="14" name="Picture 13" descr="A screenshot of a computer&#10;&#10;AI-generated content may be incorrect.">
            <a:extLst>
              <a:ext uri="{FF2B5EF4-FFF2-40B4-BE49-F238E27FC236}">
                <a16:creationId xmlns:a16="http://schemas.microsoft.com/office/drawing/2014/main" id="{13B12D30-20CA-470E-3DB4-97CD8745724F}"/>
              </a:ext>
            </a:extLst>
          </p:cNvPr>
          <p:cNvPicPr>
            <a:picLocks noChangeAspect="1"/>
          </p:cNvPicPr>
          <p:nvPr/>
        </p:nvPicPr>
        <p:blipFill>
          <a:blip r:embed="rId3"/>
          <a:stretch>
            <a:fillRect/>
          </a:stretch>
        </p:blipFill>
        <p:spPr>
          <a:xfrm>
            <a:off x="3347687" y="1557375"/>
            <a:ext cx="8009161" cy="3689103"/>
          </a:xfrm>
          <a:prstGeom prst="rect">
            <a:avLst/>
          </a:prstGeom>
        </p:spPr>
      </p:pic>
      <p:sp>
        <p:nvSpPr>
          <p:cNvPr id="9" name="Text 4">
            <a:extLst>
              <a:ext uri="{FF2B5EF4-FFF2-40B4-BE49-F238E27FC236}">
                <a16:creationId xmlns:a16="http://schemas.microsoft.com/office/drawing/2014/main" id="{9AAA8B9E-FB40-B4BA-E524-9A980D829429}"/>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10" name="Text 5">
            <a:extLst>
              <a:ext uri="{FF2B5EF4-FFF2-40B4-BE49-F238E27FC236}">
                <a16:creationId xmlns:a16="http://schemas.microsoft.com/office/drawing/2014/main" id="{07A85A1C-1A74-CFE8-7364-3E6FA276263F}"/>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6</a:t>
            </a:r>
            <a:endParaRPr lang="en-US" sz="1100" dirty="0">
              <a:latin typeface="Google Sans" pitchFamily="2" charset="0"/>
              <a:ea typeface="Google Sans" pitchFamily="2" charset="0"/>
              <a:cs typeface="Google Sans" pitchFamily="2" charset="0"/>
            </a:endParaRPr>
          </a:p>
        </p:txBody>
      </p:sp>
      <p:sp>
        <p:nvSpPr>
          <p:cNvPr id="7" name="TextBox 6">
            <a:extLst>
              <a:ext uri="{FF2B5EF4-FFF2-40B4-BE49-F238E27FC236}">
                <a16:creationId xmlns:a16="http://schemas.microsoft.com/office/drawing/2014/main" id="{DB137CC9-9C8C-E78C-484C-BFD659E3E348}"/>
              </a:ext>
            </a:extLst>
          </p:cNvPr>
          <p:cNvSpPr txBox="1"/>
          <p:nvPr/>
        </p:nvSpPr>
        <p:spPr>
          <a:xfrm>
            <a:off x="854964" y="2759043"/>
            <a:ext cx="2264123" cy="1231106"/>
          </a:xfrm>
          <a:prstGeom prst="rect">
            <a:avLst/>
          </a:prstGeom>
          <a:noFill/>
        </p:spPr>
        <p:txBody>
          <a:bodyPr wrap="square">
            <a:spAutoFit/>
          </a:bodyPr>
          <a:lstStyle/>
          <a:p>
            <a:r>
              <a:rPr lang="en-GB" b="1" i="0" dirty="0">
                <a:effectLst/>
                <a:latin typeface="Google Sans" pitchFamily="2" charset="0"/>
                <a:ea typeface="Google Sans" pitchFamily="2" charset="0"/>
                <a:cs typeface="Google Sans" pitchFamily="2" charset="0"/>
              </a:rPr>
              <a:t>Soft binding</a:t>
            </a:r>
            <a:r>
              <a:rPr lang="en-US" altLang="en-US" b="1" dirty="0">
                <a:latin typeface="Google Sans" pitchFamily="2" charset="0"/>
                <a:ea typeface="Google Sans" pitchFamily="2" charset="0"/>
                <a:cs typeface="Google Sans" pitchFamily="2" charset="0"/>
              </a:rPr>
              <a:t>:</a:t>
            </a:r>
            <a:r>
              <a:rPr lang="en-GB" b="0" i="0" dirty="0">
                <a:effectLst/>
                <a:latin typeface="Google Sans" pitchFamily="2" charset="0"/>
                <a:ea typeface="Google Sans" pitchFamily="2" charset="0"/>
                <a:cs typeface="Google Sans" pitchFamily="2" charset="0"/>
              </a:rPr>
              <a:t> </a:t>
            </a:r>
          </a:p>
          <a:p>
            <a:r>
              <a:rPr lang="en-GB" sz="1400" dirty="0">
                <a:latin typeface="Google Sans" pitchFamily="2" charset="0"/>
                <a:ea typeface="Google Sans" pitchFamily="2" charset="0"/>
                <a:cs typeface="Google Sans" pitchFamily="2" charset="0"/>
              </a:rPr>
              <a:t>A </a:t>
            </a:r>
            <a:r>
              <a:rPr lang="en-GB" sz="1400" u="sng" dirty="0">
                <a:latin typeface="Google Sans" pitchFamily="2" charset="0"/>
                <a:ea typeface="Google Sans" pitchFamily="2" charset="0"/>
                <a:cs typeface="Google Sans" pitchFamily="2" charset="0"/>
              </a:rPr>
              <a:t>content-derived</a:t>
            </a:r>
            <a:r>
              <a:rPr lang="en-GB" sz="1400" dirty="0">
                <a:latin typeface="Google Sans" pitchFamily="2" charset="0"/>
                <a:ea typeface="Google Sans" pitchFamily="2" charset="0"/>
                <a:cs typeface="Google Sans" pitchFamily="2" charset="0"/>
              </a:rPr>
              <a:t> identifier that survives file transformations </a:t>
            </a:r>
            <a:r>
              <a:rPr lang="en-GB" sz="1400" b="0" i="0" dirty="0">
                <a:effectLst/>
                <a:latin typeface="Google Sans" pitchFamily="2" charset="0"/>
                <a:ea typeface="Google Sans" pitchFamily="2" charset="0"/>
                <a:cs typeface="Google Sans" pitchFamily="2" charset="0"/>
              </a:rPr>
              <a:t>(e.g., watermarking)</a:t>
            </a:r>
          </a:p>
        </p:txBody>
      </p:sp>
      <p:sp>
        <p:nvSpPr>
          <p:cNvPr id="13" name="TextBox 12">
            <a:extLst>
              <a:ext uri="{FF2B5EF4-FFF2-40B4-BE49-F238E27FC236}">
                <a16:creationId xmlns:a16="http://schemas.microsoft.com/office/drawing/2014/main" id="{2EE81A40-D45E-FE8B-AC9D-1E3AEAAFEE85}"/>
              </a:ext>
            </a:extLst>
          </p:cNvPr>
          <p:cNvSpPr txBox="1"/>
          <p:nvPr/>
        </p:nvSpPr>
        <p:spPr>
          <a:xfrm>
            <a:off x="854964" y="4045983"/>
            <a:ext cx="2264123" cy="1446550"/>
          </a:xfrm>
          <a:prstGeom prst="rect">
            <a:avLst/>
          </a:prstGeom>
          <a:noFill/>
        </p:spPr>
        <p:txBody>
          <a:bodyPr wrap="square">
            <a:spAutoFit/>
          </a:bodyPr>
          <a:lstStyle/>
          <a:p>
            <a:r>
              <a:rPr lang="en-GB" b="1" i="0" dirty="0">
                <a:effectLst/>
                <a:latin typeface="Google Sans" pitchFamily="2" charset="0"/>
                <a:ea typeface="Google Sans" pitchFamily="2" charset="0"/>
                <a:cs typeface="Google Sans" pitchFamily="2" charset="0"/>
              </a:rPr>
              <a:t>Passive inference</a:t>
            </a:r>
            <a:r>
              <a:rPr lang="en-US" altLang="en-US" b="1" dirty="0">
                <a:latin typeface="Google Sans" pitchFamily="2" charset="0"/>
                <a:ea typeface="Google Sans" pitchFamily="2" charset="0"/>
                <a:cs typeface="Google Sans" pitchFamily="2" charset="0"/>
              </a:rPr>
              <a:t>:</a:t>
            </a:r>
            <a:r>
              <a:rPr lang="en-GB" sz="1800" dirty="0">
                <a:latin typeface="Google Sans" pitchFamily="2" charset="0"/>
                <a:ea typeface="Google Sans" pitchFamily="2" charset="0"/>
                <a:cs typeface="Google Sans" pitchFamily="2" charset="0"/>
              </a:rPr>
              <a:t> </a:t>
            </a:r>
            <a:r>
              <a:rPr lang="en-GB" sz="1400" dirty="0">
                <a:latin typeface="Google Sans" pitchFamily="2" charset="0"/>
                <a:ea typeface="Google Sans" pitchFamily="2" charset="0"/>
                <a:cs typeface="Google Sans" pitchFamily="2" charset="0"/>
              </a:rPr>
              <a:t>Reading provenance clues the image already left behind, with no active binding </a:t>
            </a:r>
            <a:r>
              <a:rPr lang="en-GB" sz="1400" b="0" i="0" dirty="0">
                <a:effectLst/>
                <a:latin typeface="Google Sans" pitchFamily="2" charset="0"/>
                <a:ea typeface="Google Sans" pitchFamily="2" charset="0"/>
                <a:cs typeface="Google Sans" pitchFamily="2" charset="0"/>
              </a:rPr>
              <a:t>(e.g., fingerprinting)</a:t>
            </a:r>
            <a:endParaRPr lang="en-GB" sz="1800" b="0" i="0" dirty="0">
              <a:effectLst/>
              <a:latin typeface="Google Sans" pitchFamily="2" charset="0"/>
              <a:ea typeface="Google Sans" pitchFamily="2" charset="0"/>
              <a:cs typeface="Google Sans" pitchFamily="2" charset="0"/>
            </a:endParaRPr>
          </a:p>
        </p:txBody>
      </p:sp>
    </p:spTree>
    <p:extLst>
      <p:ext uri="{BB962C8B-B14F-4D97-AF65-F5344CB8AC3E}">
        <p14:creationId xmlns:p14="http://schemas.microsoft.com/office/powerpoint/2010/main" val="3677453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dissolv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7"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C7BCC8C4-014B-B9E1-9A8F-D25DD7011F1D}"/>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AB3E381D-82D0-40EC-B4F3-609D8E9D68E3}"/>
              </a:ext>
            </a:extLst>
          </p:cNvPr>
          <p:cNvSpPr/>
          <p:nvPr/>
        </p:nvSpPr>
        <p:spPr>
          <a:xfrm>
            <a:off x="658368" y="1228191"/>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874A1162-31C7-A960-257D-61F63BB1CE1A}"/>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65A69814-09AF-EE25-B697-9FA8B2E6052F}"/>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79670897-3B52-ADD0-13C6-DB6E3F19A9E1}"/>
              </a:ext>
            </a:extLst>
          </p:cNvPr>
          <p:cNvSpPr/>
          <p:nvPr/>
        </p:nvSpPr>
        <p:spPr>
          <a:xfrm>
            <a:off x="566928" y="448056"/>
            <a:ext cx="10789920" cy="384048"/>
          </a:xfrm>
          <a:prstGeom prst="rect">
            <a:avLst/>
          </a:prstGeom>
          <a:noFill/>
          <a:ln/>
        </p:spPr>
        <p:txBody>
          <a:bodyPr wrap="square" lIns="0" tIns="0" rIns="0" bIns="0" rtlCol="0" anchor="ctr"/>
          <a:lstStyle/>
          <a:p>
            <a:r>
              <a:rPr lang="en-US" sz="2400" b="1" dirty="0">
                <a:solidFill>
                  <a:srgbClr val="13293D"/>
                </a:solidFill>
                <a:latin typeface="Google Sans" pitchFamily="2" charset="0"/>
                <a:ea typeface="Google Sans" pitchFamily="2" charset="0"/>
                <a:cs typeface="Google Sans" pitchFamily="2" charset="0"/>
              </a:rPr>
              <a:t>Hard binding: C2PA</a:t>
            </a:r>
            <a:endParaRPr lang="en-US" sz="2400" dirty="0">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AB64EF85-7000-AE4C-BF70-47E44F8FD3D6}"/>
              </a:ext>
            </a:extLst>
          </p:cNvPr>
          <p:cNvSpPr/>
          <p:nvPr/>
        </p:nvSpPr>
        <p:spPr>
          <a:xfrm>
            <a:off x="585216" y="834999"/>
            <a:ext cx="10972800" cy="274320"/>
          </a:xfrm>
          <a:prstGeom prst="rect">
            <a:avLst/>
          </a:prstGeom>
          <a:noFill/>
          <a:ln/>
        </p:spPr>
        <p:txBody>
          <a:bodyPr wrap="square" lIns="0" tIns="0" rIns="0" bIns="0" rtlCol="0" anchor="ctr"/>
          <a:lstStyle/>
          <a:p>
            <a:r>
              <a:rPr lang="en-US" sz="1600" dirty="0">
                <a:solidFill>
                  <a:srgbClr val="5B6670"/>
                </a:solidFill>
                <a:latin typeface="Google Sans" pitchFamily="2" charset="0"/>
                <a:ea typeface="Google Sans" pitchFamily="2" charset="0"/>
                <a:cs typeface="Google Sans" pitchFamily="2" charset="0"/>
              </a:rPr>
              <a:t>C2PA: </a:t>
            </a:r>
            <a:r>
              <a:rPr lang="en-GB" sz="1600" dirty="0">
                <a:solidFill>
                  <a:srgbClr val="5B6670"/>
                </a:solidFill>
                <a:latin typeface="Google Sans" pitchFamily="2" charset="0"/>
                <a:ea typeface="Google Sans" pitchFamily="2" charset="0"/>
                <a:cs typeface="Google Sans" pitchFamily="2" charset="0"/>
              </a:rPr>
              <a:t>The Coalition for Content Provenance and Authenticity</a:t>
            </a:r>
            <a:endParaRPr lang="en-US" sz="1600" dirty="0">
              <a:solidFill>
                <a:srgbClr val="5B6670"/>
              </a:solidFill>
              <a:latin typeface="Google Sans" pitchFamily="2" charset="0"/>
              <a:ea typeface="Google Sans" pitchFamily="2" charset="0"/>
              <a:cs typeface="Google Sans" pitchFamily="2" charset="0"/>
            </a:endParaRPr>
          </a:p>
        </p:txBody>
      </p:sp>
      <p:sp>
        <p:nvSpPr>
          <p:cNvPr id="17" name="Shape 14">
            <a:extLst>
              <a:ext uri="{FF2B5EF4-FFF2-40B4-BE49-F238E27FC236}">
                <a16:creationId xmlns:a16="http://schemas.microsoft.com/office/drawing/2014/main" id="{DEBEF044-DFD6-6A91-8F38-A049D4CCB5DB}"/>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b="1" dirty="0">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BE76DAD2-A321-D38A-5F57-3C2F0B530CE6}"/>
              </a:ext>
            </a:extLst>
          </p:cNvPr>
          <p:cNvSpPr/>
          <p:nvPr/>
        </p:nvSpPr>
        <p:spPr>
          <a:xfrm>
            <a:off x="854964" y="5861304"/>
            <a:ext cx="10469880" cy="164592"/>
          </a:xfrm>
          <a:prstGeom prst="rect">
            <a:avLst/>
          </a:prstGeom>
          <a:noFill/>
          <a:ln/>
        </p:spPr>
        <p:txBody>
          <a:bodyPr wrap="square" lIns="0" tIns="0" rIns="0" bIns="0" rtlCol="0" anchor="ctr"/>
          <a:lstStyle/>
          <a:p>
            <a:pPr algn="ctr"/>
            <a:r>
              <a:rPr lang="en-US" sz="1600" dirty="0">
                <a:solidFill>
                  <a:schemeClr val="bg1"/>
                </a:solidFill>
                <a:latin typeface="Google Sans" pitchFamily="2" charset="0"/>
                <a:ea typeface="Google Sans" pitchFamily="2" charset="0"/>
                <a:cs typeface="Google Sans" pitchFamily="2" charset="0"/>
              </a:rPr>
              <a:t>Hard binding like C2PA can trace images — but only in trusted environments with no manipulation.</a:t>
            </a:r>
          </a:p>
        </p:txBody>
      </p:sp>
      <p:sp>
        <p:nvSpPr>
          <p:cNvPr id="10" name="TextBox 9">
            <a:extLst>
              <a:ext uri="{FF2B5EF4-FFF2-40B4-BE49-F238E27FC236}">
                <a16:creationId xmlns:a16="http://schemas.microsoft.com/office/drawing/2014/main" id="{21570715-F54D-5E2A-7816-FB516978D18F}"/>
              </a:ext>
            </a:extLst>
          </p:cNvPr>
          <p:cNvSpPr txBox="1"/>
          <p:nvPr/>
        </p:nvSpPr>
        <p:spPr>
          <a:xfrm>
            <a:off x="938954" y="1494806"/>
            <a:ext cx="6559126" cy="1815882"/>
          </a:xfrm>
          <a:prstGeom prst="rect">
            <a:avLst/>
          </a:prstGeom>
          <a:noFill/>
        </p:spPr>
        <p:txBody>
          <a:bodyPr wrap="square">
            <a:spAutoFit/>
          </a:bodyPr>
          <a:lstStyle/>
          <a:p>
            <a:r>
              <a:rPr lang="en-US" sz="1400" dirty="0">
                <a:latin typeface="Google Sans" pitchFamily="2" charset="0"/>
                <a:ea typeface="Google Sans" pitchFamily="2" charset="0"/>
                <a:cs typeface="Google Sans" pitchFamily="2" charset="0"/>
              </a:rPr>
              <a:t>C2PA binds "provenance assertions" (who created the file, when, with what tool, what edits were made) into a </a:t>
            </a:r>
            <a:r>
              <a:rPr lang="en-US" sz="1400" b="1" dirty="0">
                <a:latin typeface="Google Sans" pitchFamily="2" charset="0"/>
                <a:ea typeface="Google Sans" pitchFamily="2" charset="0"/>
                <a:cs typeface="Google Sans" pitchFamily="2" charset="0"/>
              </a:rPr>
              <a:t>cryptographically signed manifest embedded in the file</a:t>
            </a:r>
            <a:r>
              <a:rPr lang="en-US" sz="1400" dirty="0">
                <a:latin typeface="Google Sans" pitchFamily="2" charset="0"/>
                <a:ea typeface="Google Sans" pitchFamily="2" charset="0"/>
                <a:cs typeface="Google Sans" pitchFamily="2" charset="0"/>
              </a:rPr>
              <a:t>. It uses PKI (Public Key Infrastructure) — the same system as HTTPS — with X.509 certificates, content hashing, and digital signatures so that any tampering with the file invalidates the signature. The chain builds up over time: a camera signs the capture, then an editor like Adobe Photoshop signs the edit, then a publisher may add another step. </a:t>
            </a:r>
            <a:r>
              <a:rPr lang="en-US" sz="1400" dirty="0">
                <a:latin typeface="Google Sans" pitchFamily="2" charset="0"/>
                <a:ea typeface="Google Sans" pitchFamily="2" charset="0"/>
                <a:cs typeface="Google Sans" pitchFamily="2" charset="0"/>
                <a:hlinkClick r:id="rId3"/>
              </a:rPr>
              <a:t>https://help.openai.com/en/articles/8912793-c2pa-in-chatgpt-images</a:t>
            </a:r>
            <a:endParaRPr lang="en-US" sz="1400" dirty="0">
              <a:latin typeface="Google Sans" pitchFamily="2" charset="0"/>
              <a:ea typeface="Google Sans" pitchFamily="2" charset="0"/>
              <a:cs typeface="Google Sans" pitchFamily="2" charset="0"/>
            </a:endParaRPr>
          </a:p>
        </p:txBody>
      </p:sp>
      <p:sp>
        <p:nvSpPr>
          <p:cNvPr id="9" name="TextBox 8">
            <a:extLst>
              <a:ext uri="{FF2B5EF4-FFF2-40B4-BE49-F238E27FC236}">
                <a16:creationId xmlns:a16="http://schemas.microsoft.com/office/drawing/2014/main" id="{6FCF9F98-3A9C-9C52-FFC7-3D482CCF7CDF}"/>
              </a:ext>
            </a:extLst>
          </p:cNvPr>
          <p:cNvSpPr txBox="1"/>
          <p:nvPr/>
        </p:nvSpPr>
        <p:spPr>
          <a:xfrm>
            <a:off x="938954" y="3804188"/>
            <a:ext cx="8479366" cy="307777"/>
          </a:xfrm>
          <a:prstGeom prst="rect">
            <a:avLst/>
          </a:prstGeom>
          <a:noFill/>
        </p:spPr>
        <p:txBody>
          <a:bodyPr wrap="square">
            <a:spAutoFit/>
          </a:bodyPr>
          <a:lstStyle/>
          <a:p>
            <a:r>
              <a:rPr lang="en-US" sz="1400" dirty="0">
                <a:latin typeface="Google Sans" pitchFamily="2" charset="0"/>
                <a:ea typeface="Google Sans" pitchFamily="2" charset="0"/>
                <a:cs typeface="Google Sans" pitchFamily="2" charset="0"/>
              </a:rPr>
              <a:t>Does it work? </a:t>
            </a:r>
            <a:r>
              <a:rPr lang="en-US" sz="1400" dirty="0">
                <a:latin typeface="Google Sans" pitchFamily="2" charset="0"/>
                <a:ea typeface="Google Sans" pitchFamily="2" charset="0"/>
                <a:cs typeface="Google Sans" pitchFamily="2" charset="0"/>
                <a:hlinkClick r:id="rId4"/>
              </a:rPr>
              <a:t>https://verify.contentauthenticity.org/</a:t>
            </a:r>
            <a:endParaRPr lang="en-US" sz="1400" dirty="0">
              <a:latin typeface="Google Sans" pitchFamily="2" charset="0"/>
              <a:ea typeface="Google Sans" pitchFamily="2" charset="0"/>
              <a:cs typeface="Google Sans" pitchFamily="2" charset="0"/>
            </a:endParaRPr>
          </a:p>
        </p:txBody>
      </p:sp>
      <p:sp>
        <p:nvSpPr>
          <p:cNvPr id="11" name="TextBox 10">
            <a:extLst>
              <a:ext uri="{FF2B5EF4-FFF2-40B4-BE49-F238E27FC236}">
                <a16:creationId xmlns:a16="http://schemas.microsoft.com/office/drawing/2014/main" id="{530C54CE-332A-B596-175D-8F7A06BAFA95}"/>
              </a:ext>
            </a:extLst>
          </p:cNvPr>
          <p:cNvSpPr txBox="1"/>
          <p:nvPr/>
        </p:nvSpPr>
        <p:spPr>
          <a:xfrm>
            <a:off x="938954" y="4775394"/>
            <a:ext cx="6557096" cy="523220"/>
          </a:xfrm>
          <a:prstGeom prst="rect">
            <a:avLst/>
          </a:prstGeom>
          <a:noFill/>
        </p:spPr>
        <p:txBody>
          <a:bodyPr wrap="square">
            <a:spAutoFit/>
          </a:bodyPr>
          <a:lstStyle/>
          <a:p>
            <a:r>
              <a:rPr lang="en-US" sz="1400" dirty="0">
                <a:latin typeface="Google Sans" pitchFamily="2" charset="0"/>
                <a:ea typeface="Google Sans" pitchFamily="2" charset="0"/>
                <a:cs typeface="Google Sans" pitchFamily="2" charset="0"/>
              </a:rPr>
              <a:t>It works only within </a:t>
            </a:r>
            <a:r>
              <a:rPr lang="en-US" sz="1400" b="1" dirty="0">
                <a:latin typeface="Google Sans" pitchFamily="2" charset="0"/>
                <a:ea typeface="Google Sans" pitchFamily="2" charset="0"/>
                <a:cs typeface="Google Sans" pitchFamily="2" charset="0"/>
              </a:rPr>
              <a:t>a chain of trusted participants</a:t>
            </a:r>
            <a:r>
              <a:rPr lang="en-US" sz="1400" dirty="0">
                <a:latin typeface="Google Sans" pitchFamily="2" charset="0"/>
                <a:ea typeface="Google Sans" pitchFamily="2" charset="0"/>
                <a:cs typeface="Google Sans" pitchFamily="2" charset="0"/>
              </a:rPr>
              <a:t>. For example, when you want to prove to your business partner that you generated an image by GPT.</a:t>
            </a:r>
          </a:p>
        </p:txBody>
      </p:sp>
      <p:pic>
        <p:nvPicPr>
          <p:cNvPr id="13" name="Picture 12">
            <a:extLst>
              <a:ext uri="{FF2B5EF4-FFF2-40B4-BE49-F238E27FC236}">
                <a16:creationId xmlns:a16="http://schemas.microsoft.com/office/drawing/2014/main" id="{C0433D77-2503-7DA5-607B-1CB6A06CEA4C}"/>
              </a:ext>
            </a:extLst>
          </p:cNvPr>
          <p:cNvPicPr>
            <a:picLocks noChangeAspect="1"/>
          </p:cNvPicPr>
          <p:nvPr/>
        </p:nvPicPr>
        <p:blipFill>
          <a:blip r:embed="rId5"/>
          <a:srcRect/>
          <a:stretch/>
        </p:blipFill>
        <p:spPr>
          <a:xfrm>
            <a:off x="7632656" y="1513553"/>
            <a:ext cx="3724193" cy="3724193"/>
          </a:xfrm>
          <a:prstGeom prst="rect">
            <a:avLst/>
          </a:prstGeom>
          <a:ln>
            <a:solidFill>
              <a:schemeClr val="tx1"/>
            </a:solidFill>
          </a:ln>
        </p:spPr>
      </p:pic>
      <p:sp>
        <p:nvSpPr>
          <p:cNvPr id="15" name="TextBox 14">
            <a:extLst>
              <a:ext uri="{FF2B5EF4-FFF2-40B4-BE49-F238E27FC236}">
                <a16:creationId xmlns:a16="http://schemas.microsoft.com/office/drawing/2014/main" id="{342C546C-1A69-A752-FDFB-7DE2BF68244A}"/>
              </a:ext>
            </a:extLst>
          </p:cNvPr>
          <p:cNvSpPr txBox="1"/>
          <p:nvPr/>
        </p:nvSpPr>
        <p:spPr>
          <a:xfrm>
            <a:off x="938954" y="4304523"/>
            <a:ext cx="6104020" cy="307777"/>
          </a:xfrm>
          <a:prstGeom prst="rect">
            <a:avLst/>
          </a:prstGeom>
          <a:noFill/>
        </p:spPr>
        <p:txBody>
          <a:bodyPr wrap="square">
            <a:spAutoFit/>
          </a:bodyPr>
          <a:lstStyle/>
          <a:p>
            <a:r>
              <a:rPr lang="en-US" sz="1400" dirty="0">
                <a:latin typeface="Google Sans" pitchFamily="2" charset="0"/>
                <a:ea typeface="Google Sans" pitchFamily="2" charset="0"/>
                <a:cs typeface="Google Sans" pitchFamily="2" charset="0"/>
              </a:rPr>
              <a:t>Yes, but …</a:t>
            </a:r>
          </a:p>
        </p:txBody>
      </p:sp>
      <p:sp>
        <p:nvSpPr>
          <p:cNvPr id="12" name="Text 4">
            <a:extLst>
              <a:ext uri="{FF2B5EF4-FFF2-40B4-BE49-F238E27FC236}">
                <a16:creationId xmlns:a16="http://schemas.microsoft.com/office/drawing/2014/main" id="{1E4B4881-3E04-097B-8B02-5B7C4236E681}"/>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14" name="Text 5">
            <a:extLst>
              <a:ext uri="{FF2B5EF4-FFF2-40B4-BE49-F238E27FC236}">
                <a16:creationId xmlns:a16="http://schemas.microsoft.com/office/drawing/2014/main" id="{9E8DC581-5D2D-E804-5614-3086D3781CA2}"/>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7</a:t>
            </a:r>
            <a:endParaRPr lang="en-US" sz="1100" dirty="0">
              <a:latin typeface="Google Sans" pitchFamily="2" charset="0"/>
              <a:ea typeface="Google Sans" pitchFamily="2" charset="0"/>
              <a:cs typeface="Google Sans" pitchFamily="2" charset="0"/>
            </a:endParaRPr>
          </a:p>
        </p:txBody>
      </p:sp>
    </p:spTree>
    <p:extLst>
      <p:ext uri="{BB962C8B-B14F-4D97-AF65-F5344CB8AC3E}">
        <p14:creationId xmlns:p14="http://schemas.microsoft.com/office/powerpoint/2010/main" val="4082240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4CE55094-29DE-20CF-AE4C-4475E875E2FE}"/>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A792D656-E761-867C-B24D-C96CC40FD156}"/>
              </a:ext>
            </a:extLst>
          </p:cNvPr>
          <p:cNvSpPr/>
          <p:nvPr/>
        </p:nvSpPr>
        <p:spPr>
          <a:xfrm>
            <a:off x="658368" y="1228191"/>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786DDC3A-C256-5B73-824D-135FA56B280B}"/>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635485CF-0144-E308-E889-A17EF8A31C4A}"/>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EAF846C7-1D53-2488-FB08-4F0F5BB5A977}"/>
              </a:ext>
            </a:extLst>
          </p:cNvPr>
          <p:cNvSpPr/>
          <p:nvPr/>
        </p:nvSpPr>
        <p:spPr>
          <a:xfrm>
            <a:off x="566928" y="448056"/>
            <a:ext cx="10789920" cy="384048"/>
          </a:xfrm>
          <a:prstGeom prst="rect">
            <a:avLst/>
          </a:prstGeom>
          <a:noFill/>
          <a:ln/>
        </p:spPr>
        <p:txBody>
          <a:bodyPr wrap="square" lIns="0" tIns="0" rIns="0" bIns="0" rtlCol="0" anchor="ctr"/>
          <a:lstStyle/>
          <a:p>
            <a:r>
              <a:rPr lang="en-US" sz="2400" b="1" dirty="0">
                <a:solidFill>
                  <a:srgbClr val="13293D"/>
                </a:solidFill>
                <a:latin typeface="Google Sans" pitchFamily="2" charset="0"/>
                <a:ea typeface="Google Sans" pitchFamily="2" charset="0"/>
                <a:cs typeface="Google Sans" pitchFamily="2" charset="0"/>
              </a:rPr>
              <a:t>Soft binding: watermarking</a:t>
            </a:r>
            <a:endParaRPr lang="en-US" sz="2400" dirty="0">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2DB9AA72-23BD-ACE0-8C05-0F808A4DCA39}"/>
              </a:ext>
            </a:extLst>
          </p:cNvPr>
          <p:cNvSpPr/>
          <p:nvPr/>
        </p:nvSpPr>
        <p:spPr>
          <a:xfrm>
            <a:off x="585216" y="834999"/>
            <a:ext cx="10972800" cy="274320"/>
          </a:xfrm>
          <a:prstGeom prst="rect">
            <a:avLst/>
          </a:prstGeom>
          <a:noFill/>
          <a:ln/>
        </p:spPr>
        <p:txBody>
          <a:bodyPr wrap="square" lIns="0" tIns="0" rIns="0" bIns="0" rtlCol="0" anchor="ctr"/>
          <a:lstStyle/>
          <a:p>
            <a:r>
              <a:rPr lang="en-GB" sz="1400" dirty="0">
                <a:solidFill>
                  <a:srgbClr val="5B6670"/>
                </a:solidFill>
                <a:latin typeface="Google Sans" pitchFamily="2" charset="0"/>
                <a:ea typeface="Google Sans" pitchFamily="2" charset="0"/>
                <a:cs typeface="Google Sans" pitchFamily="2" charset="0"/>
              </a:rPr>
              <a:t>To ensure trustworthy image provenance in </a:t>
            </a:r>
            <a:r>
              <a:rPr lang="en-GB" sz="1400" b="1" dirty="0">
                <a:solidFill>
                  <a:srgbClr val="5B6670"/>
                </a:solidFill>
                <a:latin typeface="Google Sans" pitchFamily="2" charset="0"/>
                <a:ea typeface="Google Sans" pitchFamily="2" charset="0"/>
                <a:cs typeface="Google Sans" pitchFamily="2" charset="0"/>
              </a:rPr>
              <a:t>untrusted environments</a:t>
            </a:r>
            <a:r>
              <a:rPr lang="en-GB" sz="1400" dirty="0">
                <a:solidFill>
                  <a:srgbClr val="5B6670"/>
                </a:solidFill>
                <a:latin typeface="Google Sans" pitchFamily="2" charset="0"/>
                <a:ea typeface="Google Sans" pitchFamily="2" charset="0"/>
                <a:cs typeface="Google Sans" pitchFamily="2" charset="0"/>
              </a:rPr>
              <a:t>, "soft binding" techniques like watermarking have been proposed.</a:t>
            </a:r>
            <a:endParaRPr lang="en-US" sz="1400" dirty="0">
              <a:solidFill>
                <a:srgbClr val="5B6670"/>
              </a:solidFill>
              <a:latin typeface="Google Sans" pitchFamily="2" charset="0"/>
              <a:ea typeface="Google Sans" pitchFamily="2" charset="0"/>
              <a:cs typeface="Google Sans" pitchFamily="2" charset="0"/>
            </a:endParaRPr>
          </a:p>
        </p:txBody>
      </p:sp>
      <p:sp>
        <p:nvSpPr>
          <p:cNvPr id="17" name="Shape 14">
            <a:extLst>
              <a:ext uri="{FF2B5EF4-FFF2-40B4-BE49-F238E27FC236}">
                <a16:creationId xmlns:a16="http://schemas.microsoft.com/office/drawing/2014/main" id="{5F0E9B62-B291-3AA1-F8E8-3D4D704A5E90}"/>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DA5E569C-FDA2-91C3-10A4-7F2FAD9FBE17}"/>
              </a:ext>
            </a:extLst>
          </p:cNvPr>
          <p:cNvSpPr/>
          <p:nvPr/>
        </p:nvSpPr>
        <p:spPr>
          <a:xfrm>
            <a:off x="854964" y="5861304"/>
            <a:ext cx="10469880" cy="164592"/>
          </a:xfrm>
          <a:prstGeom prst="rect">
            <a:avLst/>
          </a:prstGeom>
          <a:noFill/>
          <a:ln/>
        </p:spPr>
        <p:txBody>
          <a:bodyPr wrap="square" lIns="0" tIns="0" rIns="0" bIns="0" rtlCol="0" anchor="ctr"/>
          <a:lstStyle/>
          <a:p>
            <a:pPr marL="0" indent="0" algn="ctr">
              <a:buNone/>
            </a:pPr>
            <a:r>
              <a:rPr lang="en-US" sz="1500" dirty="0">
                <a:solidFill>
                  <a:srgbClr val="FFFFFF"/>
                </a:solidFill>
                <a:latin typeface="Google Sans" pitchFamily="2" charset="0"/>
                <a:ea typeface="Google Sans" pitchFamily="2" charset="0"/>
                <a:cs typeface="Google Sans" pitchFamily="2" charset="0"/>
              </a:rPr>
              <a:t>Unlike traditional image watermarks, DL-based image watermarks are often invisible.</a:t>
            </a:r>
            <a:endParaRPr lang="en-US" sz="1500" dirty="0">
              <a:latin typeface="Google Sans" pitchFamily="2" charset="0"/>
              <a:ea typeface="Google Sans" pitchFamily="2" charset="0"/>
              <a:cs typeface="Google Sans" pitchFamily="2" charset="0"/>
            </a:endParaRPr>
          </a:p>
        </p:txBody>
      </p:sp>
      <p:pic>
        <p:nvPicPr>
          <p:cNvPr id="11" name="Picture 10" descr="A collage of a group of people&#10;&#10;AI-generated content may be incorrect.">
            <a:extLst>
              <a:ext uri="{FF2B5EF4-FFF2-40B4-BE49-F238E27FC236}">
                <a16:creationId xmlns:a16="http://schemas.microsoft.com/office/drawing/2014/main" id="{AA18810A-D49F-9B33-A7E1-C6482E4E44ED}"/>
              </a:ext>
            </a:extLst>
          </p:cNvPr>
          <p:cNvPicPr>
            <a:picLocks noChangeAspect="1"/>
          </p:cNvPicPr>
          <p:nvPr/>
        </p:nvPicPr>
        <p:blipFill>
          <a:blip r:embed="rId3"/>
          <a:stretch>
            <a:fillRect/>
          </a:stretch>
        </p:blipFill>
        <p:spPr>
          <a:xfrm>
            <a:off x="5476161" y="2549496"/>
            <a:ext cx="5880687" cy="1955377"/>
          </a:xfrm>
          <a:prstGeom prst="rect">
            <a:avLst/>
          </a:prstGeom>
        </p:spPr>
      </p:pic>
      <p:pic>
        <p:nvPicPr>
          <p:cNvPr id="16" name="Picture 15">
            <a:extLst>
              <a:ext uri="{FF2B5EF4-FFF2-40B4-BE49-F238E27FC236}">
                <a16:creationId xmlns:a16="http://schemas.microsoft.com/office/drawing/2014/main" id="{94482860-8BB7-7D75-4652-3A38A17CBFF1}"/>
              </a:ext>
            </a:extLst>
          </p:cNvPr>
          <p:cNvPicPr>
            <a:picLocks noChangeAspect="1"/>
          </p:cNvPicPr>
          <p:nvPr/>
        </p:nvPicPr>
        <p:blipFill>
          <a:blip r:embed="rId4"/>
          <a:stretch>
            <a:fillRect/>
          </a:stretch>
        </p:blipFill>
        <p:spPr>
          <a:xfrm>
            <a:off x="1008709" y="2326253"/>
            <a:ext cx="4298199" cy="2456114"/>
          </a:xfrm>
          <a:prstGeom prst="rect">
            <a:avLst/>
          </a:prstGeom>
        </p:spPr>
      </p:pic>
      <p:sp>
        <p:nvSpPr>
          <p:cNvPr id="19" name="TextBox 18">
            <a:extLst>
              <a:ext uri="{FF2B5EF4-FFF2-40B4-BE49-F238E27FC236}">
                <a16:creationId xmlns:a16="http://schemas.microsoft.com/office/drawing/2014/main" id="{0A95F62D-1C68-3ADF-0F27-9FA9994B0624}"/>
              </a:ext>
            </a:extLst>
          </p:cNvPr>
          <p:cNvSpPr txBox="1"/>
          <p:nvPr/>
        </p:nvSpPr>
        <p:spPr>
          <a:xfrm>
            <a:off x="938954" y="1481985"/>
            <a:ext cx="10417894" cy="523220"/>
          </a:xfrm>
          <a:prstGeom prst="rect">
            <a:avLst/>
          </a:prstGeom>
          <a:noFill/>
        </p:spPr>
        <p:txBody>
          <a:bodyPr wrap="square">
            <a:spAutoFit/>
          </a:bodyPr>
          <a:lstStyle/>
          <a:p>
            <a:r>
              <a:rPr lang="en-US" sz="1400" dirty="0">
                <a:latin typeface="Google Sans" pitchFamily="2" charset="0"/>
                <a:ea typeface="Google Sans" pitchFamily="2" charset="0"/>
                <a:cs typeface="Google Sans" pitchFamily="2" charset="0"/>
              </a:rPr>
              <a:t>Traditional image watermarking embeds a </a:t>
            </a:r>
            <a:r>
              <a:rPr lang="en-US" sz="1400" b="1" dirty="0">
                <a:latin typeface="Google Sans" pitchFamily="2" charset="0"/>
                <a:ea typeface="Google Sans" pitchFamily="2" charset="0"/>
                <a:cs typeface="Google Sans" pitchFamily="2" charset="0"/>
              </a:rPr>
              <a:t>visible signature</a:t>
            </a:r>
            <a:r>
              <a:rPr lang="en-US" sz="1400" dirty="0">
                <a:latin typeface="Google Sans" pitchFamily="2" charset="0"/>
                <a:ea typeface="Google Sans" pitchFamily="2" charset="0"/>
                <a:cs typeface="Google Sans" pitchFamily="2" charset="0"/>
              </a:rPr>
              <a:t>, but it is easily removed. With advances in AI, deep learning-based methods have become dominant, introducing </a:t>
            </a:r>
            <a:r>
              <a:rPr lang="en-US" sz="1400" b="1" dirty="0">
                <a:latin typeface="Google Sans" pitchFamily="2" charset="0"/>
                <a:ea typeface="Google Sans" pitchFamily="2" charset="0"/>
                <a:cs typeface="Google Sans" pitchFamily="2" charset="0"/>
              </a:rPr>
              <a:t>invisible modifications </a:t>
            </a:r>
            <a:r>
              <a:rPr lang="en-US" sz="1400" dirty="0">
                <a:latin typeface="Google Sans" pitchFamily="2" charset="0"/>
                <a:ea typeface="Google Sans" pitchFamily="2" charset="0"/>
                <a:cs typeface="Google Sans" pitchFamily="2" charset="0"/>
              </a:rPr>
              <a:t>that require a dedicated "decoder" for verification.</a:t>
            </a:r>
          </a:p>
        </p:txBody>
      </p:sp>
      <p:sp>
        <p:nvSpPr>
          <p:cNvPr id="20" name="TextBox 19">
            <a:extLst>
              <a:ext uri="{FF2B5EF4-FFF2-40B4-BE49-F238E27FC236}">
                <a16:creationId xmlns:a16="http://schemas.microsoft.com/office/drawing/2014/main" id="{DC9608D2-EAF6-E7C7-7CBD-D7DA0285CED4}"/>
              </a:ext>
            </a:extLst>
          </p:cNvPr>
          <p:cNvSpPr txBox="1"/>
          <p:nvPr/>
        </p:nvSpPr>
        <p:spPr>
          <a:xfrm>
            <a:off x="1407241" y="4839512"/>
            <a:ext cx="3511892" cy="307777"/>
          </a:xfrm>
          <a:prstGeom prst="rect">
            <a:avLst/>
          </a:prstGeom>
          <a:noFill/>
        </p:spPr>
        <p:txBody>
          <a:bodyPr wrap="square">
            <a:spAutoFit/>
          </a:bodyPr>
          <a:lstStyle/>
          <a:p>
            <a:pPr algn="ctr"/>
            <a:r>
              <a:rPr lang="en-US" sz="1400" b="1" dirty="0">
                <a:latin typeface="Google Sans" pitchFamily="2" charset="0"/>
                <a:ea typeface="Google Sans" pitchFamily="2" charset="0"/>
                <a:cs typeface="Google Sans" pitchFamily="2" charset="0"/>
              </a:rPr>
              <a:t>Traditional image watermarking</a:t>
            </a:r>
          </a:p>
        </p:txBody>
      </p:sp>
      <p:sp>
        <p:nvSpPr>
          <p:cNvPr id="21" name="TextBox 20">
            <a:extLst>
              <a:ext uri="{FF2B5EF4-FFF2-40B4-BE49-F238E27FC236}">
                <a16:creationId xmlns:a16="http://schemas.microsoft.com/office/drawing/2014/main" id="{401CF2AA-C96C-47C0-9B4C-1DDE9E1462A4}"/>
              </a:ext>
            </a:extLst>
          </p:cNvPr>
          <p:cNvSpPr txBox="1"/>
          <p:nvPr/>
        </p:nvSpPr>
        <p:spPr>
          <a:xfrm>
            <a:off x="6441320" y="4839511"/>
            <a:ext cx="3950368" cy="307777"/>
          </a:xfrm>
          <a:prstGeom prst="rect">
            <a:avLst/>
          </a:prstGeom>
          <a:noFill/>
        </p:spPr>
        <p:txBody>
          <a:bodyPr wrap="square">
            <a:spAutoFit/>
          </a:bodyPr>
          <a:lstStyle/>
          <a:p>
            <a:pPr algn="ctr"/>
            <a:r>
              <a:rPr lang="en-US" sz="1400" b="1" dirty="0">
                <a:latin typeface="Google Sans" pitchFamily="2" charset="0"/>
                <a:ea typeface="Google Sans" pitchFamily="2" charset="0"/>
                <a:cs typeface="Google Sans" pitchFamily="2" charset="0"/>
              </a:rPr>
              <a:t>Image watermarking with Deep Learning</a:t>
            </a:r>
          </a:p>
        </p:txBody>
      </p:sp>
      <p:sp>
        <p:nvSpPr>
          <p:cNvPr id="9" name="Text 4">
            <a:extLst>
              <a:ext uri="{FF2B5EF4-FFF2-40B4-BE49-F238E27FC236}">
                <a16:creationId xmlns:a16="http://schemas.microsoft.com/office/drawing/2014/main" id="{BF8DE451-E433-315A-9FA7-8AD9D7ABAB90}"/>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10" name="Text 5">
            <a:extLst>
              <a:ext uri="{FF2B5EF4-FFF2-40B4-BE49-F238E27FC236}">
                <a16:creationId xmlns:a16="http://schemas.microsoft.com/office/drawing/2014/main" id="{B8D7E0E9-C616-EC9B-53CD-52848040461C}"/>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8</a:t>
            </a:r>
            <a:endParaRPr lang="en-US" sz="1100" dirty="0">
              <a:latin typeface="Google Sans" pitchFamily="2" charset="0"/>
              <a:ea typeface="Google Sans" pitchFamily="2" charset="0"/>
              <a:cs typeface="Google Sans" pitchFamily="2" charset="0"/>
            </a:endParaRPr>
          </a:p>
        </p:txBody>
      </p:sp>
    </p:spTree>
    <p:extLst>
      <p:ext uri="{BB962C8B-B14F-4D97-AF65-F5344CB8AC3E}">
        <p14:creationId xmlns:p14="http://schemas.microsoft.com/office/powerpoint/2010/main" val="223274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739BF407-0980-9FEF-9E17-DAEDC0877410}"/>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A4364C7F-BB89-CBED-4FDD-B9F308DFBAFD}"/>
              </a:ext>
            </a:extLst>
          </p:cNvPr>
          <p:cNvSpPr/>
          <p:nvPr/>
        </p:nvSpPr>
        <p:spPr>
          <a:xfrm>
            <a:off x="658368" y="1228191"/>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4C698702-284D-333B-B563-0C17A168E959}"/>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B1055B6F-AE22-DF0D-150D-44F9FCA39A6F}"/>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16E1C1B2-E6D1-9810-E7F7-21E02DF7F481}"/>
              </a:ext>
            </a:extLst>
          </p:cNvPr>
          <p:cNvSpPr/>
          <p:nvPr/>
        </p:nvSpPr>
        <p:spPr>
          <a:xfrm>
            <a:off x="566928" y="448056"/>
            <a:ext cx="10789920" cy="384048"/>
          </a:xfrm>
          <a:prstGeom prst="rect">
            <a:avLst/>
          </a:prstGeom>
          <a:noFill/>
          <a:ln/>
        </p:spPr>
        <p:txBody>
          <a:bodyPr wrap="square" lIns="0" tIns="0" rIns="0" bIns="0" rtlCol="0" anchor="ctr"/>
          <a:lstStyle/>
          <a:p>
            <a:r>
              <a:rPr lang="en-US" sz="2400" b="1" dirty="0">
                <a:solidFill>
                  <a:srgbClr val="13293D"/>
                </a:solidFill>
                <a:latin typeface="Google Sans" pitchFamily="2" charset="0"/>
                <a:ea typeface="Google Sans" pitchFamily="2" charset="0"/>
                <a:cs typeface="Google Sans" pitchFamily="2" charset="0"/>
              </a:rPr>
              <a:t>Post-generation (post-hoc) watermarking</a:t>
            </a:r>
            <a:endParaRPr lang="en-US" sz="2400" dirty="0">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4B5B5AA0-F60E-298F-5F1C-49BF40BF0AF7}"/>
              </a:ext>
            </a:extLst>
          </p:cNvPr>
          <p:cNvSpPr/>
          <p:nvPr/>
        </p:nvSpPr>
        <p:spPr>
          <a:xfrm>
            <a:off x="585216" y="834999"/>
            <a:ext cx="10972800" cy="274320"/>
          </a:xfrm>
          <a:prstGeom prst="rect">
            <a:avLst/>
          </a:prstGeom>
          <a:noFill/>
          <a:ln/>
        </p:spPr>
        <p:txBody>
          <a:bodyPr wrap="square" lIns="0" tIns="0" rIns="0" bIns="0" rtlCol="0" anchor="ctr"/>
          <a:lstStyle/>
          <a:p>
            <a:r>
              <a:rPr lang="en-US" sz="1600" dirty="0">
                <a:solidFill>
                  <a:srgbClr val="5B6670"/>
                </a:solidFill>
                <a:latin typeface="Google Sans" pitchFamily="2" charset="0"/>
                <a:ea typeface="Google Sans" pitchFamily="2" charset="0"/>
                <a:cs typeface="Google Sans" pitchFamily="2" charset="0"/>
              </a:rPr>
              <a:t>For </a:t>
            </a:r>
            <a:r>
              <a:rPr lang="en-US" sz="1600" b="1" u="sng" dirty="0">
                <a:solidFill>
                  <a:srgbClr val="5B6670"/>
                </a:solidFill>
                <a:latin typeface="Google Sans" pitchFamily="2" charset="0"/>
                <a:ea typeface="Google Sans" pitchFamily="2" charset="0"/>
                <a:cs typeface="Google Sans" pitchFamily="2" charset="0"/>
              </a:rPr>
              <a:t>AI-generated images</a:t>
            </a:r>
            <a:r>
              <a:rPr lang="en-US" sz="1600" dirty="0">
                <a:solidFill>
                  <a:srgbClr val="5B6670"/>
                </a:solidFill>
                <a:latin typeface="Google Sans" pitchFamily="2" charset="0"/>
                <a:ea typeface="Google Sans" pitchFamily="2" charset="0"/>
                <a:cs typeface="Google Sans" pitchFamily="2" charset="0"/>
              </a:rPr>
              <a:t>, two types of watermarking exists: post-generation and in-generation. </a:t>
            </a:r>
            <a:endParaRPr lang="en-US" sz="1600" dirty="0">
              <a:latin typeface="Google Sans" pitchFamily="2" charset="0"/>
              <a:ea typeface="Google Sans" pitchFamily="2" charset="0"/>
              <a:cs typeface="Google Sans" pitchFamily="2" charset="0"/>
            </a:endParaRPr>
          </a:p>
        </p:txBody>
      </p:sp>
      <p:sp>
        <p:nvSpPr>
          <p:cNvPr id="17" name="Shape 14">
            <a:extLst>
              <a:ext uri="{FF2B5EF4-FFF2-40B4-BE49-F238E27FC236}">
                <a16:creationId xmlns:a16="http://schemas.microsoft.com/office/drawing/2014/main" id="{9B308193-B72D-263D-76BB-A423513618B9}"/>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FA19D6D8-A4CF-DB4A-9BF6-18FD10F98681}"/>
              </a:ext>
            </a:extLst>
          </p:cNvPr>
          <p:cNvSpPr/>
          <p:nvPr/>
        </p:nvSpPr>
        <p:spPr>
          <a:xfrm>
            <a:off x="854964" y="5861304"/>
            <a:ext cx="10469880" cy="164592"/>
          </a:xfrm>
          <a:prstGeom prst="rect">
            <a:avLst/>
          </a:prstGeom>
          <a:noFill/>
          <a:ln/>
        </p:spPr>
        <p:txBody>
          <a:bodyPr wrap="square" lIns="0" tIns="0" rIns="0" bIns="0" rtlCol="0" anchor="ctr"/>
          <a:lstStyle/>
          <a:p>
            <a:pPr marL="0" indent="0" algn="ctr">
              <a:buNone/>
            </a:pPr>
            <a:r>
              <a:rPr lang="en-US" sz="1500" dirty="0">
                <a:solidFill>
                  <a:srgbClr val="FFFFFF"/>
                </a:solidFill>
                <a:latin typeface="Google Sans" pitchFamily="2" charset="0"/>
                <a:ea typeface="Google Sans" pitchFamily="2" charset="0"/>
                <a:cs typeface="Google Sans" pitchFamily="2" charset="0"/>
              </a:rPr>
              <a:t>Post-generation watermarking does not interfere with image generation process.</a:t>
            </a:r>
            <a:endParaRPr lang="en-US" sz="1500" dirty="0">
              <a:latin typeface="Google Sans" pitchFamily="2" charset="0"/>
              <a:ea typeface="Google Sans" pitchFamily="2" charset="0"/>
              <a:cs typeface="Google Sans" pitchFamily="2" charset="0"/>
            </a:endParaRPr>
          </a:p>
        </p:txBody>
      </p:sp>
      <p:sp>
        <p:nvSpPr>
          <p:cNvPr id="16" name="TextBox 15">
            <a:extLst>
              <a:ext uri="{FF2B5EF4-FFF2-40B4-BE49-F238E27FC236}">
                <a16:creationId xmlns:a16="http://schemas.microsoft.com/office/drawing/2014/main" id="{FDCC94BA-3DD7-A23A-6EA7-595E4A57C982}"/>
              </a:ext>
            </a:extLst>
          </p:cNvPr>
          <p:cNvSpPr txBox="1"/>
          <p:nvPr/>
        </p:nvSpPr>
        <p:spPr>
          <a:xfrm>
            <a:off x="993559" y="5165352"/>
            <a:ext cx="4247308" cy="338554"/>
          </a:xfrm>
          <a:prstGeom prst="rect">
            <a:avLst/>
          </a:prstGeom>
          <a:noFill/>
        </p:spPr>
        <p:txBody>
          <a:bodyPr wrap="square">
            <a:spAutoFit/>
          </a:bodyPr>
          <a:lstStyle/>
          <a:p>
            <a:r>
              <a:rPr lang="en-US" sz="1600" dirty="0">
                <a:latin typeface="Google Sans" pitchFamily="2" charset="0"/>
                <a:ea typeface="Google Sans" pitchFamily="2" charset="0"/>
                <a:cs typeface="Google Sans" pitchFamily="2" charset="0"/>
                <a:hlinkClick r:id="rId3"/>
              </a:rPr>
              <a:t>https://deepmind.google/models/synthid/</a:t>
            </a:r>
            <a:endParaRPr lang="en-US" sz="1600" dirty="0">
              <a:latin typeface="Google Sans" pitchFamily="2" charset="0"/>
              <a:ea typeface="Google Sans" pitchFamily="2" charset="0"/>
              <a:cs typeface="Google Sans" pitchFamily="2" charset="0"/>
            </a:endParaRPr>
          </a:p>
        </p:txBody>
      </p:sp>
      <p:pic>
        <p:nvPicPr>
          <p:cNvPr id="21" name="Picture 20">
            <a:extLst>
              <a:ext uri="{FF2B5EF4-FFF2-40B4-BE49-F238E27FC236}">
                <a16:creationId xmlns:a16="http://schemas.microsoft.com/office/drawing/2014/main" id="{7C4AE035-1182-4734-B95A-D3C4C4566E13}"/>
              </a:ext>
            </a:extLst>
          </p:cNvPr>
          <p:cNvPicPr>
            <a:picLocks noChangeAspect="1"/>
          </p:cNvPicPr>
          <p:nvPr/>
        </p:nvPicPr>
        <p:blipFill>
          <a:blip r:embed="rId4"/>
          <a:srcRect l="1433" t="19808" r="960" b="20490"/>
          <a:stretch>
            <a:fillRect/>
          </a:stretch>
        </p:blipFill>
        <p:spPr>
          <a:xfrm>
            <a:off x="1772395" y="1903291"/>
            <a:ext cx="8635018" cy="2947906"/>
          </a:xfrm>
          <a:prstGeom prst="rect">
            <a:avLst/>
          </a:prstGeom>
          <a:ln>
            <a:solidFill>
              <a:schemeClr val="tx1"/>
            </a:solidFill>
          </a:ln>
        </p:spPr>
      </p:pic>
      <p:sp>
        <p:nvSpPr>
          <p:cNvPr id="23" name="TextBox 22">
            <a:extLst>
              <a:ext uri="{FF2B5EF4-FFF2-40B4-BE49-F238E27FC236}">
                <a16:creationId xmlns:a16="http://schemas.microsoft.com/office/drawing/2014/main" id="{C22F45FE-48AD-CCA7-7B7F-D5B8A2975783}"/>
              </a:ext>
            </a:extLst>
          </p:cNvPr>
          <p:cNvSpPr txBox="1"/>
          <p:nvPr/>
        </p:nvSpPr>
        <p:spPr>
          <a:xfrm>
            <a:off x="993559" y="1445865"/>
            <a:ext cx="6106160" cy="338554"/>
          </a:xfrm>
          <a:prstGeom prst="rect">
            <a:avLst/>
          </a:prstGeom>
          <a:noFill/>
        </p:spPr>
        <p:txBody>
          <a:bodyPr wrap="square">
            <a:spAutoFit/>
          </a:bodyPr>
          <a:lstStyle/>
          <a:p>
            <a:r>
              <a:rPr lang="en-US" sz="1600" dirty="0">
                <a:latin typeface="Google Sans" pitchFamily="2" charset="0"/>
                <a:ea typeface="Google Sans" pitchFamily="2" charset="0"/>
                <a:cs typeface="Google Sans" pitchFamily="2" charset="0"/>
              </a:rPr>
              <a:t>Example: </a:t>
            </a:r>
            <a:r>
              <a:rPr lang="en-US" sz="1600" b="1" dirty="0" err="1">
                <a:latin typeface="Google Sans" pitchFamily="2" charset="0"/>
                <a:ea typeface="Google Sans" pitchFamily="2" charset="0"/>
                <a:cs typeface="Google Sans" pitchFamily="2" charset="0"/>
              </a:rPr>
              <a:t>SynthID</a:t>
            </a:r>
            <a:r>
              <a:rPr lang="en-US" sz="1600" b="1" dirty="0">
                <a:latin typeface="Google Sans" pitchFamily="2" charset="0"/>
                <a:ea typeface="Google Sans" pitchFamily="2" charset="0"/>
                <a:cs typeface="Google Sans" pitchFamily="2" charset="0"/>
              </a:rPr>
              <a:t>-Image</a:t>
            </a:r>
            <a:r>
              <a:rPr lang="en-US" sz="1600" dirty="0">
                <a:latin typeface="Google Sans" pitchFamily="2" charset="0"/>
                <a:ea typeface="Google Sans" pitchFamily="2" charset="0"/>
                <a:cs typeface="Google Sans" pitchFamily="2" charset="0"/>
              </a:rPr>
              <a:t> by Google DeepMind</a:t>
            </a:r>
          </a:p>
        </p:txBody>
      </p:sp>
      <p:sp>
        <p:nvSpPr>
          <p:cNvPr id="9" name="Text 4">
            <a:extLst>
              <a:ext uri="{FF2B5EF4-FFF2-40B4-BE49-F238E27FC236}">
                <a16:creationId xmlns:a16="http://schemas.microsoft.com/office/drawing/2014/main" id="{CDDE40A9-6175-54B5-E3D8-4C818892708F}"/>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10" name="Text 5">
            <a:extLst>
              <a:ext uri="{FF2B5EF4-FFF2-40B4-BE49-F238E27FC236}">
                <a16:creationId xmlns:a16="http://schemas.microsoft.com/office/drawing/2014/main" id="{A1C40CD4-7242-41DD-2C07-58E9BC1DE552}"/>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9</a:t>
            </a:r>
            <a:endParaRPr lang="en-US" sz="1100" dirty="0">
              <a:latin typeface="Google Sans" pitchFamily="2" charset="0"/>
              <a:ea typeface="Google Sans" pitchFamily="2" charset="0"/>
              <a:cs typeface="Google Sans" pitchFamily="2" charset="0"/>
            </a:endParaRPr>
          </a:p>
        </p:txBody>
      </p:sp>
    </p:spTree>
    <p:extLst>
      <p:ext uri="{BB962C8B-B14F-4D97-AF65-F5344CB8AC3E}">
        <p14:creationId xmlns:p14="http://schemas.microsoft.com/office/powerpoint/2010/main" val="3923222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2F633B25-92D7-FC8B-E463-67C21BC19102}"/>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2BC07B6C-8C16-85E3-B90D-A02E06FEFAEA}"/>
              </a:ext>
            </a:extLst>
          </p:cNvPr>
          <p:cNvSpPr/>
          <p:nvPr/>
        </p:nvSpPr>
        <p:spPr>
          <a:xfrm>
            <a:off x="658368" y="1228191"/>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4C468472-1630-8DDB-0421-8D95C265693A}"/>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5B179F80-318F-C8E0-E0EC-AAEB64C5E4E0}"/>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A2D65A87-9022-3C79-E7AA-0D3E1AB48592}"/>
              </a:ext>
            </a:extLst>
          </p:cNvPr>
          <p:cNvSpPr/>
          <p:nvPr/>
        </p:nvSpPr>
        <p:spPr>
          <a:xfrm>
            <a:off x="566928" y="448056"/>
            <a:ext cx="10789920" cy="384048"/>
          </a:xfrm>
          <a:prstGeom prst="rect">
            <a:avLst/>
          </a:prstGeom>
          <a:noFill/>
          <a:ln/>
        </p:spPr>
        <p:txBody>
          <a:bodyPr wrap="square" lIns="0" tIns="0" rIns="0" bIns="0" rtlCol="0" anchor="ctr"/>
          <a:lstStyle/>
          <a:p>
            <a:r>
              <a:rPr lang="en-US" sz="2400" b="1" dirty="0">
                <a:solidFill>
                  <a:srgbClr val="13293D"/>
                </a:solidFill>
                <a:latin typeface="Google Sans" pitchFamily="2" charset="0"/>
                <a:ea typeface="Google Sans" pitchFamily="2" charset="0"/>
                <a:cs typeface="Google Sans" pitchFamily="2" charset="0"/>
              </a:rPr>
              <a:t>In-generation watermarking</a:t>
            </a:r>
            <a:endParaRPr lang="en-US" sz="2400" dirty="0">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3220ED52-3101-27B3-6333-6F7F93FC2040}"/>
              </a:ext>
            </a:extLst>
          </p:cNvPr>
          <p:cNvSpPr/>
          <p:nvPr/>
        </p:nvSpPr>
        <p:spPr>
          <a:xfrm>
            <a:off x="585216" y="834999"/>
            <a:ext cx="10972800" cy="274320"/>
          </a:xfrm>
          <a:prstGeom prst="rect">
            <a:avLst/>
          </a:prstGeom>
          <a:noFill/>
          <a:ln/>
        </p:spPr>
        <p:txBody>
          <a:bodyPr wrap="square" lIns="0" tIns="0" rIns="0" bIns="0" rtlCol="0" anchor="ctr"/>
          <a:lstStyle/>
          <a:p>
            <a:r>
              <a:rPr lang="en-US" sz="1600" dirty="0">
                <a:solidFill>
                  <a:srgbClr val="5B6670"/>
                </a:solidFill>
                <a:latin typeface="Google Sans" pitchFamily="2" charset="0"/>
                <a:ea typeface="Google Sans" pitchFamily="2" charset="0"/>
                <a:cs typeface="Google Sans" pitchFamily="2" charset="0"/>
              </a:rPr>
              <a:t>In-generation techniques modifies the generation process itself, instead of embedding a watermark post-hoc. </a:t>
            </a:r>
            <a:endParaRPr lang="en-US" sz="1600" dirty="0">
              <a:latin typeface="Google Sans" pitchFamily="2" charset="0"/>
              <a:ea typeface="Google Sans" pitchFamily="2" charset="0"/>
              <a:cs typeface="Google Sans" pitchFamily="2" charset="0"/>
            </a:endParaRPr>
          </a:p>
        </p:txBody>
      </p:sp>
      <p:sp>
        <p:nvSpPr>
          <p:cNvPr id="17" name="Shape 14">
            <a:extLst>
              <a:ext uri="{FF2B5EF4-FFF2-40B4-BE49-F238E27FC236}">
                <a16:creationId xmlns:a16="http://schemas.microsoft.com/office/drawing/2014/main" id="{1283A2F8-F820-1C14-CA61-67B8E107F01D}"/>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C72B5AC8-4C33-FFED-CED9-D6834544C795}"/>
              </a:ext>
            </a:extLst>
          </p:cNvPr>
          <p:cNvSpPr/>
          <p:nvPr/>
        </p:nvSpPr>
        <p:spPr>
          <a:xfrm>
            <a:off x="854964" y="5861304"/>
            <a:ext cx="10469880" cy="164592"/>
          </a:xfrm>
          <a:prstGeom prst="rect">
            <a:avLst/>
          </a:prstGeom>
          <a:noFill/>
          <a:ln/>
        </p:spPr>
        <p:txBody>
          <a:bodyPr wrap="square" lIns="0" tIns="0" rIns="0" bIns="0" rtlCol="0" anchor="ctr"/>
          <a:lstStyle/>
          <a:p>
            <a:pPr algn="ctr"/>
            <a:r>
              <a:rPr lang="en-US" sz="1500" dirty="0">
                <a:solidFill>
                  <a:srgbClr val="FFFFFF"/>
                </a:solidFill>
                <a:latin typeface="Google Sans" pitchFamily="2" charset="0"/>
                <a:ea typeface="Google Sans" pitchFamily="2" charset="0"/>
                <a:cs typeface="Google Sans" pitchFamily="2" charset="0"/>
              </a:rPr>
              <a:t>In-generation techniques have dominated watermarking research since 2024.</a:t>
            </a:r>
            <a:endParaRPr lang="en-US" sz="1500" dirty="0">
              <a:latin typeface="Google Sans" pitchFamily="2" charset="0"/>
              <a:ea typeface="Google Sans" pitchFamily="2" charset="0"/>
              <a:cs typeface="Google Sans" pitchFamily="2" charset="0"/>
            </a:endParaRPr>
          </a:p>
        </p:txBody>
      </p:sp>
      <p:sp>
        <p:nvSpPr>
          <p:cNvPr id="9" name="TextBox 8">
            <a:extLst>
              <a:ext uri="{FF2B5EF4-FFF2-40B4-BE49-F238E27FC236}">
                <a16:creationId xmlns:a16="http://schemas.microsoft.com/office/drawing/2014/main" id="{7F9D1670-7A80-1951-0D8C-2816B495F35C}"/>
              </a:ext>
            </a:extLst>
          </p:cNvPr>
          <p:cNvSpPr txBox="1"/>
          <p:nvPr/>
        </p:nvSpPr>
        <p:spPr>
          <a:xfrm>
            <a:off x="886251" y="4055709"/>
            <a:ext cx="2508454" cy="1138773"/>
          </a:xfrm>
          <a:prstGeom prst="rect">
            <a:avLst/>
          </a:prstGeom>
          <a:noFill/>
        </p:spPr>
        <p:txBody>
          <a:bodyPr wrap="square" rtlCol="0">
            <a:spAutoFit/>
          </a:bodyPr>
          <a:lstStyle/>
          <a:p>
            <a:r>
              <a:rPr lang="en-US" b="1" dirty="0">
                <a:latin typeface="Google Sans" pitchFamily="2" charset="0"/>
                <a:ea typeface="Google Sans" pitchFamily="2" charset="0"/>
                <a:cs typeface="Google Sans" pitchFamily="2" charset="0"/>
              </a:rPr>
              <a:t>Noise &amp; latent-level</a:t>
            </a:r>
          </a:p>
          <a:p>
            <a:r>
              <a:rPr lang="en-US" sz="1600" dirty="0">
                <a:latin typeface="Google Sans" pitchFamily="2" charset="0"/>
                <a:ea typeface="Google Sans" pitchFamily="2" charset="0"/>
                <a:cs typeface="Google Sans" pitchFamily="2" charset="0"/>
              </a:rPr>
              <a:t>(e.g., Tree-Ring, Gaussian Shading)</a:t>
            </a:r>
          </a:p>
          <a:p>
            <a:r>
              <a:rPr lang="en-US" sz="1600" i="1" dirty="0">
                <a:latin typeface="Google Sans" pitchFamily="2" charset="0"/>
                <a:ea typeface="Google Sans" pitchFamily="2" charset="0"/>
                <a:cs typeface="Google Sans" pitchFamily="2" charset="0"/>
              </a:rPr>
              <a:t>(Note: requires inversion)</a:t>
            </a:r>
          </a:p>
        </p:txBody>
      </p:sp>
      <p:sp>
        <p:nvSpPr>
          <p:cNvPr id="22" name="TextBox 21">
            <a:extLst>
              <a:ext uri="{FF2B5EF4-FFF2-40B4-BE49-F238E27FC236}">
                <a16:creationId xmlns:a16="http://schemas.microsoft.com/office/drawing/2014/main" id="{BEB40941-3128-9C41-6402-521FED9B7133}"/>
              </a:ext>
            </a:extLst>
          </p:cNvPr>
          <p:cNvSpPr txBox="1"/>
          <p:nvPr/>
        </p:nvSpPr>
        <p:spPr>
          <a:xfrm>
            <a:off x="885685" y="1906291"/>
            <a:ext cx="2258952" cy="615553"/>
          </a:xfrm>
          <a:prstGeom prst="rect">
            <a:avLst/>
          </a:prstGeom>
          <a:noFill/>
        </p:spPr>
        <p:txBody>
          <a:bodyPr wrap="none" rtlCol="0">
            <a:spAutoFit/>
          </a:bodyPr>
          <a:lstStyle/>
          <a:p>
            <a:r>
              <a:rPr lang="en-US" b="1" dirty="0">
                <a:latin typeface="Google Sans" pitchFamily="2" charset="0"/>
                <a:ea typeface="Google Sans" pitchFamily="2" charset="0"/>
                <a:cs typeface="Google Sans" pitchFamily="2" charset="0"/>
              </a:rPr>
              <a:t>Decoder-level</a:t>
            </a:r>
          </a:p>
          <a:p>
            <a:r>
              <a:rPr lang="en-US" sz="1600" dirty="0">
                <a:latin typeface="Google Sans" pitchFamily="2" charset="0"/>
                <a:ea typeface="Google Sans" pitchFamily="2" charset="0"/>
                <a:cs typeface="Google Sans" pitchFamily="2" charset="0"/>
              </a:rPr>
              <a:t>(e.g., Stable Signature)</a:t>
            </a:r>
          </a:p>
        </p:txBody>
      </p:sp>
      <p:sp>
        <p:nvSpPr>
          <p:cNvPr id="24" name="TextBox 23">
            <a:extLst>
              <a:ext uri="{FF2B5EF4-FFF2-40B4-BE49-F238E27FC236}">
                <a16:creationId xmlns:a16="http://schemas.microsoft.com/office/drawing/2014/main" id="{BC212B31-E4EE-6442-3C1B-B2F97FAA2829}"/>
              </a:ext>
            </a:extLst>
          </p:cNvPr>
          <p:cNvSpPr txBox="1"/>
          <p:nvPr/>
        </p:nvSpPr>
        <p:spPr>
          <a:xfrm>
            <a:off x="885686" y="2573061"/>
            <a:ext cx="2799072" cy="523220"/>
          </a:xfrm>
          <a:prstGeom prst="rect">
            <a:avLst/>
          </a:prstGeom>
          <a:noFill/>
        </p:spPr>
        <p:txBody>
          <a:bodyPr wrap="square">
            <a:spAutoFit/>
          </a:bodyPr>
          <a:lstStyle/>
          <a:p>
            <a:r>
              <a:rPr lang="en-US" sz="1400" dirty="0">
                <a:latin typeface="Google Sans" pitchFamily="2" charset="0"/>
                <a:ea typeface="Google Sans" pitchFamily="2" charset="0"/>
                <a:cs typeface="Google Sans" pitchFamily="2" charset="0"/>
                <a:hlinkClick r:id="rId3"/>
              </a:rPr>
              <a:t>https://pierrefdz.github.io/publications/stablesignature/</a:t>
            </a:r>
            <a:endParaRPr lang="en-US" sz="1400" dirty="0">
              <a:latin typeface="Google Sans" pitchFamily="2" charset="0"/>
              <a:ea typeface="Google Sans" pitchFamily="2" charset="0"/>
              <a:cs typeface="Google Sans" pitchFamily="2" charset="0"/>
            </a:endParaRPr>
          </a:p>
        </p:txBody>
      </p:sp>
      <p:pic>
        <p:nvPicPr>
          <p:cNvPr id="26" name="Picture 25" descr="A painting of a landscape&#10;&#10;AI-generated content may be incorrect.">
            <a:extLst>
              <a:ext uri="{FF2B5EF4-FFF2-40B4-BE49-F238E27FC236}">
                <a16:creationId xmlns:a16="http://schemas.microsoft.com/office/drawing/2014/main" id="{8427CA8B-5C51-5891-5493-7F54F6BB5FD9}"/>
              </a:ext>
            </a:extLst>
          </p:cNvPr>
          <p:cNvPicPr>
            <a:picLocks noChangeAspect="1"/>
          </p:cNvPicPr>
          <p:nvPr/>
        </p:nvPicPr>
        <p:blipFill>
          <a:blip r:embed="rId4"/>
          <a:stretch>
            <a:fillRect/>
          </a:stretch>
        </p:blipFill>
        <p:spPr>
          <a:xfrm>
            <a:off x="3652947" y="1498225"/>
            <a:ext cx="7671897" cy="1931773"/>
          </a:xfrm>
          <a:prstGeom prst="rect">
            <a:avLst/>
          </a:prstGeom>
          <a:ln>
            <a:solidFill>
              <a:schemeClr val="tx1"/>
            </a:solidFill>
          </a:ln>
        </p:spPr>
      </p:pic>
      <p:pic>
        <p:nvPicPr>
          <p:cNvPr id="37" name="Picture 36" descr="A diagram of a computer process&#10;&#10;AI-generated content may be incorrect.">
            <a:extLst>
              <a:ext uri="{FF2B5EF4-FFF2-40B4-BE49-F238E27FC236}">
                <a16:creationId xmlns:a16="http://schemas.microsoft.com/office/drawing/2014/main" id="{F766EC69-D960-D524-E3C0-00AFCDD1CBB8}"/>
              </a:ext>
            </a:extLst>
          </p:cNvPr>
          <p:cNvPicPr>
            <a:picLocks noChangeAspect="1"/>
          </p:cNvPicPr>
          <p:nvPr/>
        </p:nvPicPr>
        <p:blipFill>
          <a:blip r:embed="rId5"/>
          <a:stretch>
            <a:fillRect/>
          </a:stretch>
        </p:blipFill>
        <p:spPr>
          <a:xfrm>
            <a:off x="4094545" y="3639750"/>
            <a:ext cx="6607321" cy="1809370"/>
          </a:xfrm>
          <a:prstGeom prst="rect">
            <a:avLst/>
          </a:prstGeom>
          <a:ln>
            <a:solidFill>
              <a:schemeClr val="tx1"/>
            </a:solidFill>
          </a:ln>
        </p:spPr>
      </p:pic>
      <p:sp>
        <p:nvSpPr>
          <p:cNvPr id="10" name="Text 4">
            <a:extLst>
              <a:ext uri="{FF2B5EF4-FFF2-40B4-BE49-F238E27FC236}">
                <a16:creationId xmlns:a16="http://schemas.microsoft.com/office/drawing/2014/main" id="{08F0C7C1-B1C1-89CF-2C80-087BD350EBE8}"/>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11" name="Text 5">
            <a:extLst>
              <a:ext uri="{FF2B5EF4-FFF2-40B4-BE49-F238E27FC236}">
                <a16:creationId xmlns:a16="http://schemas.microsoft.com/office/drawing/2014/main" id="{F9A0BB32-1B69-505A-7982-9C1E50D224D0}"/>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10</a:t>
            </a:r>
            <a:endParaRPr lang="en-US" sz="1100" dirty="0">
              <a:latin typeface="Google Sans" pitchFamily="2" charset="0"/>
              <a:ea typeface="Google Sans" pitchFamily="2" charset="0"/>
              <a:cs typeface="Google Sans" pitchFamily="2" charset="0"/>
            </a:endParaRPr>
          </a:p>
        </p:txBody>
      </p:sp>
    </p:spTree>
    <p:extLst>
      <p:ext uri="{BB962C8B-B14F-4D97-AF65-F5344CB8AC3E}">
        <p14:creationId xmlns:p14="http://schemas.microsoft.com/office/powerpoint/2010/main" val="2169324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dissolve">
                                      <p:cBhvr>
                                        <p:cTn id="10" dur="500"/>
                                        <p:tgtEl>
                                          <p:spTgt spid="24"/>
                                        </p:tgtEl>
                                      </p:cBhvr>
                                    </p:animEffect>
                                  </p:childTnLst>
                                </p:cTn>
                              </p:par>
                              <p:par>
                                <p:cTn id="11" presetID="9"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dissolve">
                                      <p:cBhvr>
                                        <p:cTn id="13" dur="500"/>
                                        <p:tgtEl>
                                          <p:spTgt spid="26"/>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dissolve">
                                      <p:cBhvr>
                                        <p:cTn id="18" dur="500"/>
                                        <p:tgtEl>
                                          <p:spTgt spid="9"/>
                                        </p:tgtEl>
                                      </p:cBhvr>
                                    </p:animEffect>
                                  </p:childTnLst>
                                </p:cTn>
                              </p:par>
                              <p:par>
                                <p:cTn id="19" presetID="9" presetClass="entr" presetSubtype="0"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dissolve">
                                      <p:cBhvr>
                                        <p:cTn id="2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2"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527F5324-846E-BCA0-6E2D-614F73A15F42}"/>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79E6DE8A-4DBD-8731-41B4-6D036F2E1689}"/>
              </a:ext>
            </a:extLst>
          </p:cNvPr>
          <p:cNvSpPr/>
          <p:nvPr/>
        </p:nvSpPr>
        <p:spPr>
          <a:xfrm>
            <a:off x="658368" y="1228191"/>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8602B486-8A18-BE2A-DAE6-FF42DE3B4697}"/>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23B2E3D9-A79B-D551-C078-AFB7F8F8A811}"/>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6162AB03-4425-97AE-A940-0848C65EC002}"/>
              </a:ext>
            </a:extLst>
          </p:cNvPr>
          <p:cNvSpPr/>
          <p:nvPr/>
        </p:nvSpPr>
        <p:spPr>
          <a:xfrm>
            <a:off x="566928" y="448056"/>
            <a:ext cx="10789920" cy="384048"/>
          </a:xfrm>
          <a:prstGeom prst="rect">
            <a:avLst/>
          </a:prstGeom>
          <a:noFill/>
          <a:ln/>
        </p:spPr>
        <p:txBody>
          <a:bodyPr wrap="square" lIns="0" tIns="0" rIns="0" bIns="0" rtlCol="0" anchor="ctr"/>
          <a:lstStyle/>
          <a:p>
            <a:r>
              <a:rPr lang="en-US" sz="2400" b="1" dirty="0">
                <a:solidFill>
                  <a:srgbClr val="13293D"/>
                </a:solidFill>
                <a:latin typeface="Google Sans" pitchFamily="2" charset="0"/>
                <a:ea typeface="Google Sans" pitchFamily="2" charset="0"/>
                <a:cs typeface="Google Sans" pitchFamily="2" charset="0"/>
              </a:rPr>
              <a:t>Preliminary: Latent Diffusion Model</a:t>
            </a:r>
            <a:endParaRPr lang="en-US" sz="2400" dirty="0">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BBD5FC2A-A824-F37C-A8F6-B82896A21211}"/>
              </a:ext>
            </a:extLst>
          </p:cNvPr>
          <p:cNvSpPr/>
          <p:nvPr/>
        </p:nvSpPr>
        <p:spPr>
          <a:xfrm>
            <a:off x="585216" y="834999"/>
            <a:ext cx="10972800" cy="274320"/>
          </a:xfrm>
          <a:prstGeom prst="rect">
            <a:avLst/>
          </a:prstGeom>
          <a:noFill/>
          <a:ln/>
        </p:spPr>
        <p:txBody>
          <a:bodyPr wrap="square" lIns="0" tIns="0" rIns="0" bIns="0" rtlCol="0" anchor="ctr"/>
          <a:lstStyle/>
          <a:p>
            <a:r>
              <a:rPr lang="en-GB" sz="1400" dirty="0">
                <a:solidFill>
                  <a:srgbClr val="5B6670"/>
                </a:solidFill>
                <a:latin typeface="Google Sans" pitchFamily="2" charset="0"/>
                <a:ea typeface="Google Sans" pitchFamily="2" charset="0"/>
                <a:cs typeface="Google Sans" pitchFamily="2" charset="0"/>
              </a:rPr>
              <a:t>The most popular architecture for modern image generation.</a:t>
            </a:r>
            <a:endParaRPr lang="en-US" sz="1400" dirty="0">
              <a:solidFill>
                <a:srgbClr val="5B6670"/>
              </a:solidFill>
              <a:latin typeface="Google Sans" pitchFamily="2" charset="0"/>
              <a:ea typeface="Google Sans" pitchFamily="2" charset="0"/>
              <a:cs typeface="Google Sans" pitchFamily="2" charset="0"/>
            </a:endParaRPr>
          </a:p>
        </p:txBody>
      </p:sp>
      <p:sp>
        <p:nvSpPr>
          <p:cNvPr id="17" name="Shape 14">
            <a:extLst>
              <a:ext uri="{FF2B5EF4-FFF2-40B4-BE49-F238E27FC236}">
                <a16:creationId xmlns:a16="http://schemas.microsoft.com/office/drawing/2014/main" id="{3AEC5EA4-FA7B-0999-38E5-02FDFBC436B9}"/>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B2CF8D60-1A74-D2A1-17B7-6360CCBF1C97}"/>
              </a:ext>
            </a:extLst>
          </p:cNvPr>
          <p:cNvSpPr/>
          <p:nvPr/>
        </p:nvSpPr>
        <p:spPr>
          <a:xfrm>
            <a:off x="854964" y="5861304"/>
            <a:ext cx="10469880" cy="164592"/>
          </a:xfrm>
          <a:prstGeom prst="rect">
            <a:avLst/>
          </a:prstGeom>
          <a:noFill/>
          <a:ln/>
        </p:spPr>
        <p:txBody>
          <a:bodyPr wrap="square" lIns="0" tIns="0" rIns="0" bIns="0" rtlCol="0" anchor="ctr"/>
          <a:lstStyle/>
          <a:p>
            <a:pPr marL="0" indent="0" algn="ctr">
              <a:buNone/>
            </a:pPr>
            <a:r>
              <a:rPr lang="en-US" sz="1500" dirty="0">
                <a:solidFill>
                  <a:srgbClr val="FFFFFF"/>
                </a:solidFill>
                <a:latin typeface="Google Sans" pitchFamily="2" charset="0"/>
                <a:ea typeface="Google Sans" pitchFamily="2" charset="0"/>
                <a:cs typeface="Google Sans" pitchFamily="2" charset="0"/>
              </a:rPr>
              <a:t>How to leverage the generation process to watermark LDM-generated images?</a:t>
            </a:r>
            <a:endParaRPr lang="en-US" sz="1500" dirty="0">
              <a:latin typeface="Google Sans" pitchFamily="2" charset="0"/>
              <a:ea typeface="Google Sans" pitchFamily="2" charset="0"/>
              <a:cs typeface="Google Sans" pitchFamily="2" charset="0"/>
            </a:endParaRPr>
          </a:p>
        </p:txBody>
      </p:sp>
      <p:grpSp>
        <p:nvGrpSpPr>
          <p:cNvPr id="22" name="Group 21">
            <a:extLst>
              <a:ext uri="{FF2B5EF4-FFF2-40B4-BE49-F238E27FC236}">
                <a16:creationId xmlns:a16="http://schemas.microsoft.com/office/drawing/2014/main" id="{11513925-AA84-A92D-3792-67335840C6F0}"/>
              </a:ext>
            </a:extLst>
          </p:cNvPr>
          <p:cNvGrpSpPr/>
          <p:nvPr/>
        </p:nvGrpSpPr>
        <p:grpSpPr>
          <a:xfrm>
            <a:off x="1248100" y="1465077"/>
            <a:ext cx="10026452" cy="3921592"/>
            <a:chOff x="1248100" y="1465077"/>
            <a:chExt cx="10026452" cy="3921592"/>
          </a:xfrm>
        </p:grpSpPr>
        <p:pic>
          <p:nvPicPr>
            <p:cNvPr id="13" name="Picture 12" descr="A diagram of a computer model&#10;&#10;AI-generated content may be incorrect.">
              <a:extLst>
                <a:ext uri="{FF2B5EF4-FFF2-40B4-BE49-F238E27FC236}">
                  <a16:creationId xmlns:a16="http://schemas.microsoft.com/office/drawing/2014/main" id="{625FC67F-6F9E-35D1-36D7-BB089921C6B2}"/>
                </a:ext>
              </a:extLst>
            </p:cNvPr>
            <p:cNvPicPr>
              <a:picLocks noChangeAspect="1"/>
            </p:cNvPicPr>
            <p:nvPr/>
          </p:nvPicPr>
          <p:blipFill>
            <a:blip r:embed="rId3"/>
            <a:srcRect t="19654" b="8640"/>
            <a:stretch>
              <a:fillRect/>
            </a:stretch>
          </p:blipFill>
          <p:spPr>
            <a:xfrm>
              <a:off x="1248100" y="1465077"/>
              <a:ext cx="10026452" cy="3921592"/>
            </a:xfrm>
            <a:prstGeom prst="rect">
              <a:avLst/>
            </a:prstGeom>
          </p:spPr>
        </p:pic>
        <p:pic>
          <p:nvPicPr>
            <p:cNvPr id="15" name="Picture 14">
              <a:extLst>
                <a:ext uri="{FF2B5EF4-FFF2-40B4-BE49-F238E27FC236}">
                  <a16:creationId xmlns:a16="http://schemas.microsoft.com/office/drawing/2014/main" id="{0FD3F1EA-60DF-76C9-2050-A40285EF1DA1}"/>
                </a:ext>
              </a:extLst>
            </p:cNvPr>
            <p:cNvPicPr>
              <a:picLocks noChangeAspect="1"/>
            </p:cNvPicPr>
            <p:nvPr/>
          </p:nvPicPr>
          <p:blipFill>
            <a:blip r:embed="rId4"/>
            <a:stretch>
              <a:fillRect/>
            </a:stretch>
          </p:blipFill>
          <p:spPr>
            <a:xfrm>
              <a:off x="8485605" y="3754187"/>
              <a:ext cx="329532" cy="147422"/>
            </a:xfrm>
            <a:prstGeom prst="rect">
              <a:avLst/>
            </a:prstGeom>
          </p:spPr>
        </p:pic>
      </p:grpSp>
      <p:sp>
        <p:nvSpPr>
          <p:cNvPr id="9" name="Text 4">
            <a:extLst>
              <a:ext uri="{FF2B5EF4-FFF2-40B4-BE49-F238E27FC236}">
                <a16:creationId xmlns:a16="http://schemas.microsoft.com/office/drawing/2014/main" id="{833259CB-F1C0-9589-37AA-BAEC6EB6083E}"/>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10" name="Text 5">
            <a:extLst>
              <a:ext uri="{FF2B5EF4-FFF2-40B4-BE49-F238E27FC236}">
                <a16:creationId xmlns:a16="http://schemas.microsoft.com/office/drawing/2014/main" id="{7CF3EC11-E1AC-A3E4-3372-8E5FA8B0104F}"/>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11</a:t>
            </a:r>
            <a:endParaRPr lang="en-US" sz="1100" dirty="0">
              <a:latin typeface="Google Sans" pitchFamily="2" charset="0"/>
              <a:ea typeface="Google Sans" pitchFamily="2" charset="0"/>
              <a:cs typeface="Google Sans" pitchFamily="2" charset="0"/>
            </a:endParaRPr>
          </a:p>
        </p:txBody>
      </p:sp>
    </p:spTree>
    <p:extLst>
      <p:ext uri="{BB962C8B-B14F-4D97-AF65-F5344CB8AC3E}">
        <p14:creationId xmlns:p14="http://schemas.microsoft.com/office/powerpoint/2010/main" val="2875807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76A98399-3ECE-8046-5EC6-7F3D1B96FDD6}"/>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9319BC0B-DCF9-9990-C9FC-6198F445611B}"/>
              </a:ext>
            </a:extLst>
          </p:cNvPr>
          <p:cNvSpPr/>
          <p:nvPr/>
        </p:nvSpPr>
        <p:spPr>
          <a:xfrm>
            <a:off x="658368" y="1228191"/>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C05EF424-A4BF-05BB-961F-05CDFE1483E2}"/>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01651DCB-8067-AE90-5EE1-09F2AAB9F6E7}"/>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A82E0507-5152-B3F1-1304-D6F63FCA202F}"/>
              </a:ext>
            </a:extLst>
          </p:cNvPr>
          <p:cNvSpPr/>
          <p:nvPr/>
        </p:nvSpPr>
        <p:spPr>
          <a:xfrm>
            <a:off x="566928" y="448056"/>
            <a:ext cx="10789920" cy="384048"/>
          </a:xfrm>
          <a:prstGeom prst="rect">
            <a:avLst/>
          </a:prstGeom>
          <a:noFill/>
          <a:ln/>
        </p:spPr>
        <p:txBody>
          <a:bodyPr wrap="square" lIns="0" tIns="0" rIns="0" bIns="0" rtlCol="0" anchor="ctr"/>
          <a:lstStyle/>
          <a:p>
            <a:r>
              <a:rPr lang="en-US" sz="2400" b="1" dirty="0">
                <a:solidFill>
                  <a:srgbClr val="13293D"/>
                </a:solidFill>
                <a:latin typeface="Google Sans" pitchFamily="2" charset="0"/>
                <a:ea typeface="Google Sans" pitchFamily="2" charset="0"/>
                <a:cs typeface="Google Sans" pitchFamily="2" charset="0"/>
              </a:rPr>
              <a:t>Differences?</a:t>
            </a:r>
            <a:endParaRPr lang="en-US" sz="2400" dirty="0">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D1AAD029-EE6F-DF83-F5C6-FB728287885F}"/>
              </a:ext>
            </a:extLst>
          </p:cNvPr>
          <p:cNvSpPr/>
          <p:nvPr/>
        </p:nvSpPr>
        <p:spPr>
          <a:xfrm>
            <a:off x="585216" y="834999"/>
            <a:ext cx="10972800" cy="274320"/>
          </a:xfrm>
          <a:prstGeom prst="rect">
            <a:avLst/>
          </a:prstGeom>
          <a:noFill/>
          <a:ln/>
        </p:spPr>
        <p:txBody>
          <a:bodyPr wrap="square" lIns="0" tIns="0" rIns="0" bIns="0" rtlCol="0" anchor="ctr"/>
          <a:lstStyle/>
          <a:p>
            <a:r>
              <a:rPr lang="en-US" sz="1600" dirty="0">
                <a:solidFill>
                  <a:srgbClr val="5B6670"/>
                </a:solidFill>
                <a:latin typeface="Google Sans" pitchFamily="2" charset="0"/>
                <a:ea typeface="Google Sans" pitchFamily="2" charset="0"/>
                <a:cs typeface="Google Sans" pitchFamily="2" charset="0"/>
              </a:rPr>
              <a:t>What are the major differences between post-generation and in-generation watermarking methods?</a:t>
            </a:r>
            <a:endParaRPr lang="en-US" sz="1600" dirty="0">
              <a:latin typeface="Google Sans" pitchFamily="2" charset="0"/>
              <a:ea typeface="Google Sans" pitchFamily="2" charset="0"/>
              <a:cs typeface="Google Sans" pitchFamily="2" charset="0"/>
            </a:endParaRPr>
          </a:p>
        </p:txBody>
      </p:sp>
      <p:sp>
        <p:nvSpPr>
          <p:cNvPr id="17" name="Shape 14">
            <a:extLst>
              <a:ext uri="{FF2B5EF4-FFF2-40B4-BE49-F238E27FC236}">
                <a16:creationId xmlns:a16="http://schemas.microsoft.com/office/drawing/2014/main" id="{126BA418-C260-A773-3E40-73B8B1728904}"/>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9E25BCE4-70C9-B365-F26C-C85E7760C711}"/>
              </a:ext>
            </a:extLst>
          </p:cNvPr>
          <p:cNvSpPr/>
          <p:nvPr/>
        </p:nvSpPr>
        <p:spPr>
          <a:xfrm>
            <a:off x="854964" y="5861304"/>
            <a:ext cx="10469880" cy="164592"/>
          </a:xfrm>
          <a:prstGeom prst="rect">
            <a:avLst/>
          </a:prstGeom>
          <a:noFill/>
          <a:ln/>
        </p:spPr>
        <p:txBody>
          <a:bodyPr wrap="square" lIns="0" tIns="0" rIns="0" bIns="0" rtlCol="0" anchor="ctr"/>
          <a:lstStyle/>
          <a:p>
            <a:pPr algn="ctr"/>
            <a:r>
              <a:rPr lang="en-US" sz="1500" dirty="0">
                <a:solidFill>
                  <a:srgbClr val="FFFFFF"/>
                </a:solidFill>
                <a:latin typeface="Google Sans" pitchFamily="2" charset="0"/>
                <a:ea typeface="Google Sans" pitchFamily="2" charset="0"/>
                <a:cs typeface="Google Sans" pitchFamily="2" charset="0"/>
              </a:rPr>
              <a:t>Both types of watermarking for AI-generated images offer distinct advantages and trade-offs.</a:t>
            </a:r>
            <a:endParaRPr lang="en-US" sz="1500" dirty="0">
              <a:latin typeface="Google Sans" pitchFamily="2" charset="0"/>
              <a:ea typeface="Google Sans" pitchFamily="2" charset="0"/>
              <a:cs typeface="Google Sans" pitchFamily="2" charset="0"/>
            </a:endParaRPr>
          </a:p>
        </p:txBody>
      </p:sp>
      <p:pic>
        <p:nvPicPr>
          <p:cNvPr id="10" name="Picture 9">
            <a:extLst>
              <a:ext uri="{FF2B5EF4-FFF2-40B4-BE49-F238E27FC236}">
                <a16:creationId xmlns:a16="http://schemas.microsoft.com/office/drawing/2014/main" id="{37529135-EFE4-DA23-274F-8D3C6B9D7C6B}"/>
              </a:ext>
            </a:extLst>
          </p:cNvPr>
          <p:cNvPicPr>
            <a:picLocks noChangeAspect="1"/>
          </p:cNvPicPr>
          <p:nvPr/>
        </p:nvPicPr>
        <p:blipFill>
          <a:blip r:embed="rId3"/>
          <a:srcRect l="1433" t="19808" r="960" b="20490"/>
          <a:stretch>
            <a:fillRect/>
          </a:stretch>
        </p:blipFill>
        <p:spPr>
          <a:xfrm>
            <a:off x="3340641" y="1440266"/>
            <a:ext cx="3173093" cy="1083262"/>
          </a:xfrm>
          <a:prstGeom prst="rect">
            <a:avLst/>
          </a:prstGeom>
          <a:ln>
            <a:solidFill>
              <a:schemeClr val="tx1"/>
            </a:solidFill>
          </a:ln>
        </p:spPr>
      </p:pic>
      <p:graphicFrame>
        <p:nvGraphicFramePr>
          <p:cNvPr id="15" name="Table 14">
            <a:extLst>
              <a:ext uri="{FF2B5EF4-FFF2-40B4-BE49-F238E27FC236}">
                <a16:creationId xmlns:a16="http://schemas.microsoft.com/office/drawing/2014/main" id="{F4BF7376-64F0-B159-58F5-3C3AB4432D82}"/>
              </a:ext>
            </a:extLst>
          </p:cNvPr>
          <p:cNvGraphicFramePr>
            <a:graphicFrameLocks noGrp="1"/>
          </p:cNvGraphicFramePr>
          <p:nvPr>
            <p:extLst>
              <p:ext uri="{D42A27DB-BD31-4B8C-83A1-F6EECF244321}">
                <p14:modId xmlns:p14="http://schemas.microsoft.com/office/powerpoint/2010/main" val="1214715593"/>
              </p:ext>
            </p:extLst>
          </p:nvPr>
        </p:nvGraphicFramePr>
        <p:xfrm>
          <a:off x="1155848" y="2701162"/>
          <a:ext cx="10008000" cy="2511552"/>
        </p:xfrm>
        <a:graphic>
          <a:graphicData uri="http://schemas.openxmlformats.org/drawingml/2006/table">
            <a:tbl>
              <a:tblPr/>
              <a:tblGrid>
                <a:gridCol w="1948300">
                  <a:extLst>
                    <a:ext uri="{9D8B030D-6E8A-4147-A177-3AD203B41FA5}">
                      <a16:colId xmlns:a16="http://schemas.microsoft.com/office/drawing/2014/main" val="2834160221"/>
                    </a:ext>
                  </a:extLst>
                </a:gridCol>
                <a:gridCol w="3801979">
                  <a:extLst>
                    <a:ext uri="{9D8B030D-6E8A-4147-A177-3AD203B41FA5}">
                      <a16:colId xmlns:a16="http://schemas.microsoft.com/office/drawing/2014/main" val="3875262215"/>
                    </a:ext>
                  </a:extLst>
                </a:gridCol>
                <a:gridCol w="4257721">
                  <a:extLst>
                    <a:ext uri="{9D8B030D-6E8A-4147-A177-3AD203B41FA5}">
                      <a16:colId xmlns:a16="http://schemas.microsoft.com/office/drawing/2014/main" val="2660950441"/>
                    </a:ext>
                  </a:extLst>
                </a:gridCol>
              </a:tblGrid>
              <a:tr h="190972">
                <a:tc>
                  <a:txBody>
                    <a:bodyPr/>
                    <a:lstStyle/>
                    <a:p>
                      <a:pPr algn="l">
                        <a:buNone/>
                      </a:pPr>
                      <a:endParaRPr lang="en-GB" sz="1200" dirty="0">
                        <a:effectLst/>
                        <a:latin typeface="Google Sans" pitchFamily="2" charset="0"/>
                        <a:ea typeface="Google Sans" pitchFamily="2" charset="0"/>
                        <a:cs typeface="Google Sans" pitchFamily="2" charset="0"/>
                      </a:endParaRP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E71AE"/>
                    </a:solidFill>
                  </a:tcPr>
                </a:tc>
                <a:tc>
                  <a:txBody>
                    <a:bodyPr/>
                    <a:lstStyle/>
                    <a:p>
                      <a:pPr algn="l">
                        <a:buNone/>
                      </a:pPr>
                      <a:r>
                        <a:rPr lang="en-GB" sz="1200" b="1" dirty="0">
                          <a:solidFill>
                            <a:schemeClr val="bg1"/>
                          </a:solidFill>
                          <a:effectLst/>
                          <a:latin typeface="Google Sans" pitchFamily="2" charset="0"/>
                          <a:ea typeface="Google Sans" pitchFamily="2" charset="0"/>
                          <a:cs typeface="Google Sans" pitchFamily="2" charset="0"/>
                        </a:rPr>
                        <a:t>Post-Generation (e.g. SynthID-Image)</a:t>
                      </a: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E71AE"/>
                    </a:solidFill>
                  </a:tcPr>
                </a:tc>
                <a:tc>
                  <a:txBody>
                    <a:bodyPr/>
                    <a:lstStyle/>
                    <a:p>
                      <a:pPr algn="l">
                        <a:buNone/>
                      </a:pPr>
                      <a:r>
                        <a:rPr lang="en-GB" sz="1200" b="1" dirty="0">
                          <a:solidFill>
                            <a:schemeClr val="bg1"/>
                          </a:solidFill>
                          <a:effectLst/>
                          <a:latin typeface="Google Sans" pitchFamily="2" charset="0"/>
                          <a:ea typeface="Google Sans" pitchFamily="2" charset="0"/>
                          <a:cs typeface="Google Sans" pitchFamily="2" charset="0"/>
                        </a:rPr>
                        <a:t>In-Generation (e.g. Stable Signature)</a:t>
                      </a: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4E71AE"/>
                    </a:solidFill>
                  </a:tcPr>
                </a:tc>
                <a:extLst>
                  <a:ext uri="{0D108BD9-81ED-4DB2-BD59-A6C34878D82A}">
                    <a16:rowId xmlns:a16="http://schemas.microsoft.com/office/drawing/2014/main" val="3245598173"/>
                  </a:ext>
                </a:extLst>
              </a:tr>
              <a:tr h="190972">
                <a:tc>
                  <a:txBody>
                    <a:bodyPr/>
                    <a:lstStyle/>
                    <a:p>
                      <a:pPr algn="l">
                        <a:buNone/>
                      </a:pPr>
                      <a:r>
                        <a:rPr lang="en-GB" sz="1200" b="1" dirty="0">
                          <a:effectLst/>
                          <a:latin typeface="Google Sans" pitchFamily="2" charset="0"/>
                          <a:ea typeface="Google Sans" pitchFamily="2" charset="0"/>
                          <a:cs typeface="Google Sans" pitchFamily="2" charset="0"/>
                        </a:rPr>
                        <a:t>When applied</a:t>
                      </a:r>
                      <a:endParaRPr lang="en-GB" sz="1200" dirty="0">
                        <a:effectLst/>
                        <a:latin typeface="Google Sans" pitchFamily="2" charset="0"/>
                        <a:ea typeface="Google Sans" pitchFamily="2" charset="0"/>
                        <a:cs typeface="Google Sans" pitchFamily="2" charset="0"/>
                      </a:endParaRP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GB" sz="1200" dirty="0">
                          <a:effectLst/>
                          <a:latin typeface="Google Sans" pitchFamily="2" charset="0"/>
                          <a:ea typeface="Google Sans" pitchFamily="2" charset="0"/>
                          <a:cs typeface="Google Sans" pitchFamily="2" charset="0"/>
                        </a:rPr>
                        <a:t>After an image has been generated</a:t>
                      </a: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GB" sz="1200" dirty="0">
                          <a:effectLst/>
                          <a:latin typeface="Google Sans" pitchFamily="2" charset="0"/>
                          <a:ea typeface="Google Sans" pitchFamily="2" charset="0"/>
                          <a:cs typeface="Google Sans" pitchFamily="2" charset="0"/>
                        </a:rPr>
                        <a:t>During the generation process (noise, latent, decoder)</a:t>
                      </a: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659208305"/>
                  </a:ext>
                </a:extLst>
              </a:tr>
              <a:tr h="190972">
                <a:tc>
                  <a:txBody>
                    <a:bodyPr/>
                    <a:lstStyle/>
                    <a:p>
                      <a:pPr algn="l">
                        <a:buNone/>
                      </a:pPr>
                      <a:r>
                        <a:rPr lang="en-GB" sz="1200" b="1" dirty="0">
                          <a:effectLst/>
                          <a:latin typeface="Google Sans" pitchFamily="2" charset="0"/>
                          <a:ea typeface="Google Sans" pitchFamily="2" charset="0"/>
                          <a:cs typeface="Google Sans" pitchFamily="2" charset="0"/>
                        </a:rPr>
                        <a:t>Model dependency</a:t>
                      </a:r>
                      <a:endParaRPr lang="en-GB" sz="1200" dirty="0">
                        <a:effectLst/>
                        <a:latin typeface="Google Sans" pitchFamily="2" charset="0"/>
                        <a:ea typeface="Google Sans" pitchFamily="2" charset="0"/>
                        <a:cs typeface="Google Sans" pitchFamily="2" charset="0"/>
                      </a:endParaRP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GB" sz="1200" dirty="0">
                          <a:effectLst/>
                          <a:latin typeface="Google Sans" pitchFamily="2" charset="0"/>
                          <a:ea typeface="Google Sans" pitchFamily="2" charset="0"/>
                          <a:cs typeface="Google Sans" pitchFamily="2" charset="0"/>
                        </a:rPr>
                        <a:t>Model-agnostic</a:t>
                      </a: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GB" sz="1200" dirty="0">
                          <a:effectLst/>
                          <a:latin typeface="Google Sans" pitchFamily="2" charset="0"/>
                          <a:ea typeface="Google Sans" pitchFamily="2" charset="0"/>
                          <a:cs typeface="Google Sans" pitchFamily="2" charset="0"/>
                        </a:rPr>
                        <a:t>Requires internal access to the model</a:t>
                      </a: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213853580"/>
                  </a:ext>
                </a:extLst>
              </a:tr>
              <a:tr h="312492">
                <a:tc>
                  <a:txBody>
                    <a:bodyPr/>
                    <a:lstStyle/>
                    <a:p>
                      <a:pPr algn="l">
                        <a:buNone/>
                      </a:pPr>
                      <a:r>
                        <a:rPr lang="en-GB" sz="1200" b="1" dirty="0">
                          <a:effectLst/>
                          <a:latin typeface="Google Sans" pitchFamily="2" charset="0"/>
                          <a:ea typeface="Google Sans" pitchFamily="2" charset="0"/>
                          <a:cs typeface="Google Sans" pitchFamily="2" charset="0"/>
                        </a:rPr>
                        <a:t>Deployment flexibility</a:t>
                      </a:r>
                      <a:endParaRPr lang="en-GB" sz="1200" dirty="0">
                        <a:effectLst/>
                        <a:latin typeface="Google Sans" pitchFamily="2" charset="0"/>
                        <a:ea typeface="Google Sans" pitchFamily="2" charset="0"/>
                        <a:cs typeface="Google Sans" pitchFamily="2" charset="0"/>
                      </a:endParaRP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GB" sz="1200" dirty="0">
                          <a:effectLst/>
                          <a:latin typeface="Google Sans" pitchFamily="2" charset="0"/>
                          <a:ea typeface="Google Sans" pitchFamily="2" charset="0"/>
                          <a:cs typeface="Google Sans" pitchFamily="2" charset="0"/>
                        </a:rPr>
                        <a:t>Works on any existing image</a:t>
                      </a: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GB" sz="1200" dirty="0">
                          <a:effectLst/>
                          <a:latin typeface="Google Sans" pitchFamily="2" charset="0"/>
                          <a:ea typeface="Google Sans" pitchFamily="2" charset="0"/>
                          <a:cs typeface="Google Sans" pitchFamily="2" charset="0"/>
                        </a:rPr>
                        <a:t>Requires integration into </a:t>
                      </a:r>
                      <a:r>
                        <a:rPr lang="en-GB" sz="1200">
                          <a:effectLst/>
                          <a:latin typeface="Google Sans" pitchFamily="2" charset="0"/>
                          <a:ea typeface="Google Sans" pitchFamily="2" charset="0"/>
                          <a:cs typeface="Google Sans" pitchFamily="2" charset="0"/>
                        </a:rPr>
                        <a:t>the generator</a:t>
                      </a: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878818281"/>
                  </a:ext>
                </a:extLst>
              </a:tr>
              <a:tr h="312492">
                <a:tc>
                  <a:txBody>
                    <a:bodyPr/>
                    <a:lstStyle/>
                    <a:p>
                      <a:pPr algn="l">
                        <a:buNone/>
                      </a:pPr>
                      <a:r>
                        <a:rPr lang="en-GB" sz="1200" b="1" dirty="0">
                          <a:effectLst/>
                          <a:latin typeface="Google Sans" pitchFamily="2" charset="0"/>
                          <a:ea typeface="Google Sans" pitchFamily="2" charset="0"/>
                          <a:cs typeface="Google Sans" pitchFamily="2" charset="0"/>
                        </a:rPr>
                        <a:t>Robustness</a:t>
                      </a:r>
                      <a:endParaRPr lang="en-GB" sz="1200" dirty="0">
                        <a:effectLst/>
                        <a:latin typeface="Google Sans" pitchFamily="2" charset="0"/>
                        <a:ea typeface="Google Sans" pitchFamily="2" charset="0"/>
                        <a:cs typeface="Google Sans" pitchFamily="2" charset="0"/>
                      </a:endParaRP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GB" sz="1200" dirty="0">
                          <a:effectLst/>
                          <a:latin typeface="Google Sans" pitchFamily="2" charset="0"/>
                          <a:ea typeface="Google Sans" pitchFamily="2" charset="0"/>
                          <a:cs typeface="Google Sans" pitchFamily="2" charset="0"/>
                        </a:rPr>
                        <a:t>More vulnerable to targeted removal</a:t>
                      </a: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GB" sz="1200" dirty="0">
                          <a:effectLst/>
                          <a:latin typeface="Google Sans" pitchFamily="2" charset="0"/>
                          <a:ea typeface="Google Sans" pitchFamily="2" charset="0"/>
                          <a:cs typeface="Google Sans" pitchFamily="2" charset="0"/>
                        </a:rPr>
                        <a:t>More robust; intrinsic to content</a:t>
                      </a: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624956058"/>
                  </a:ext>
                </a:extLst>
              </a:tr>
              <a:tr h="312492">
                <a:tc>
                  <a:txBody>
                    <a:bodyPr/>
                    <a:lstStyle/>
                    <a:p>
                      <a:pPr algn="l">
                        <a:buNone/>
                      </a:pPr>
                      <a:r>
                        <a:rPr lang="en-GB" sz="1200" b="1" dirty="0">
                          <a:effectLst/>
                          <a:latin typeface="Google Sans" pitchFamily="2" charset="0"/>
                          <a:ea typeface="Google Sans" pitchFamily="2" charset="0"/>
                          <a:cs typeface="Google Sans" pitchFamily="2" charset="0"/>
                        </a:rPr>
                        <a:t>False positive control</a:t>
                      </a:r>
                      <a:endParaRPr lang="en-GB" sz="1200" dirty="0">
                        <a:effectLst/>
                        <a:latin typeface="Google Sans" pitchFamily="2" charset="0"/>
                        <a:ea typeface="Google Sans" pitchFamily="2" charset="0"/>
                        <a:cs typeface="Google Sans" pitchFamily="2" charset="0"/>
                      </a:endParaRP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GB" sz="1200" dirty="0">
                          <a:effectLst/>
                          <a:latin typeface="Google Sans" pitchFamily="2" charset="0"/>
                          <a:ea typeface="Google Sans" pitchFamily="2" charset="0"/>
                          <a:cs typeface="Google Sans" pitchFamily="2" charset="0"/>
                        </a:rPr>
                        <a:t>Harder to tune</a:t>
                      </a: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GB" sz="1200" dirty="0">
                          <a:effectLst/>
                          <a:latin typeface="Google Sans" pitchFamily="2" charset="0"/>
                          <a:ea typeface="Google Sans" pitchFamily="2" charset="0"/>
                          <a:cs typeface="Google Sans" pitchFamily="2" charset="0"/>
                        </a:rPr>
                        <a:t>Highly tuneable (e.g., Stable Signature achieves FPR 1e-10)</a:t>
                      </a: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839270122"/>
                  </a:ext>
                </a:extLst>
              </a:tr>
              <a:tr h="312492">
                <a:tc>
                  <a:txBody>
                    <a:bodyPr/>
                    <a:lstStyle/>
                    <a:p>
                      <a:pPr algn="l">
                        <a:buNone/>
                      </a:pPr>
                      <a:r>
                        <a:rPr lang="en-GB" sz="1200" b="1" dirty="0">
                          <a:effectLst/>
                          <a:latin typeface="Google Sans" pitchFamily="2" charset="0"/>
                          <a:ea typeface="Google Sans" pitchFamily="2" charset="0"/>
                          <a:cs typeface="Google Sans" pitchFamily="2" charset="0"/>
                        </a:rPr>
                        <a:t>Fine-tuning resilience</a:t>
                      </a:r>
                      <a:endParaRPr lang="en-GB" sz="1200" dirty="0">
                        <a:effectLst/>
                        <a:latin typeface="Google Sans" pitchFamily="2" charset="0"/>
                        <a:ea typeface="Google Sans" pitchFamily="2" charset="0"/>
                        <a:cs typeface="Google Sans" pitchFamily="2" charset="0"/>
                      </a:endParaRP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GB" sz="1200" dirty="0">
                          <a:effectLst/>
                          <a:latin typeface="Google Sans" pitchFamily="2" charset="0"/>
                          <a:ea typeface="Google Sans" pitchFamily="2" charset="0"/>
                          <a:cs typeface="Google Sans" pitchFamily="2" charset="0"/>
                        </a:rPr>
                        <a:t>Unaffected by model changes</a:t>
                      </a: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GB" sz="1200" dirty="0">
                          <a:effectLst/>
                          <a:latin typeface="Google Sans" pitchFamily="2" charset="0"/>
                          <a:ea typeface="Google Sans" pitchFamily="2" charset="0"/>
                          <a:cs typeface="Google Sans" pitchFamily="2" charset="0"/>
                        </a:rPr>
                        <a:t>May be disrupted if decoder is modified</a:t>
                      </a: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790500200"/>
                  </a:ext>
                </a:extLst>
              </a:tr>
              <a:tr h="312492">
                <a:tc>
                  <a:txBody>
                    <a:bodyPr/>
                    <a:lstStyle/>
                    <a:p>
                      <a:pPr algn="l">
                        <a:buNone/>
                      </a:pPr>
                      <a:r>
                        <a:rPr lang="en-GB" sz="1200" b="1">
                          <a:effectLst/>
                          <a:latin typeface="Google Sans" pitchFamily="2" charset="0"/>
                          <a:ea typeface="Google Sans" pitchFamily="2" charset="0"/>
                          <a:cs typeface="Google Sans" pitchFamily="2" charset="0"/>
                        </a:rPr>
                        <a:t>Computational cost</a:t>
                      </a:r>
                      <a:endParaRPr lang="en-GB" sz="1200">
                        <a:effectLst/>
                        <a:latin typeface="Google Sans" pitchFamily="2" charset="0"/>
                        <a:ea typeface="Google Sans" pitchFamily="2" charset="0"/>
                        <a:cs typeface="Google Sans" pitchFamily="2" charset="0"/>
                      </a:endParaRP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GB" sz="1200" dirty="0">
                          <a:effectLst/>
                          <a:latin typeface="Google Sans" pitchFamily="2" charset="0"/>
                          <a:ea typeface="Google Sans" pitchFamily="2" charset="0"/>
                          <a:cs typeface="Google Sans" pitchFamily="2" charset="0"/>
                        </a:rPr>
                        <a:t>Lower</a:t>
                      </a: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GB" sz="1200" dirty="0">
                          <a:effectLst/>
                          <a:latin typeface="Google Sans" pitchFamily="2" charset="0"/>
                          <a:ea typeface="Google Sans" pitchFamily="2" charset="0"/>
                          <a:cs typeface="Google Sans" pitchFamily="2" charset="0"/>
                        </a:rPr>
                        <a:t>Higher (e.g. fine-tuning, inversion)</a:t>
                      </a:r>
                    </a:p>
                  </a:txBody>
                  <a:tcPr marL="65532" marR="65532" marT="65532" marB="655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748253377"/>
                  </a:ext>
                </a:extLst>
              </a:tr>
            </a:tbl>
          </a:graphicData>
        </a:graphic>
      </p:graphicFrame>
      <p:pic>
        <p:nvPicPr>
          <p:cNvPr id="16" name="Picture 15" descr="A painting of a landscape&#10;&#10;AI-generated content may be incorrect.">
            <a:extLst>
              <a:ext uri="{FF2B5EF4-FFF2-40B4-BE49-F238E27FC236}">
                <a16:creationId xmlns:a16="http://schemas.microsoft.com/office/drawing/2014/main" id="{C9941216-F31F-EEBC-913C-A8AC6FA344B8}"/>
              </a:ext>
            </a:extLst>
          </p:cNvPr>
          <p:cNvPicPr>
            <a:picLocks noChangeAspect="1"/>
          </p:cNvPicPr>
          <p:nvPr/>
        </p:nvPicPr>
        <p:blipFill>
          <a:blip r:embed="rId4"/>
          <a:stretch>
            <a:fillRect/>
          </a:stretch>
        </p:blipFill>
        <p:spPr>
          <a:xfrm>
            <a:off x="7074568" y="1484693"/>
            <a:ext cx="3959563" cy="997013"/>
          </a:xfrm>
          <a:prstGeom prst="rect">
            <a:avLst/>
          </a:prstGeom>
          <a:ln>
            <a:solidFill>
              <a:schemeClr val="tx1"/>
            </a:solidFill>
          </a:ln>
        </p:spPr>
      </p:pic>
      <p:sp>
        <p:nvSpPr>
          <p:cNvPr id="9" name="Text 4">
            <a:extLst>
              <a:ext uri="{FF2B5EF4-FFF2-40B4-BE49-F238E27FC236}">
                <a16:creationId xmlns:a16="http://schemas.microsoft.com/office/drawing/2014/main" id="{71EC215F-E22C-5FCD-CB5F-A15CD8124BEC}"/>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11" name="Text 5">
            <a:extLst>
              <a:ext uri="{FF2B5EF4-FFF2-40B4-BE49-F238E27FC236}">
                <a16:creationId xmlns:a16="http://schemas.microsoft.com/office/drawing/2014/main" id="{177F0A52-E41E-22F7-2903-2D08A6558EAE}"/>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12</a:t>
            </a:r>
            <a:endParaRPr lang="en-US" sz="1100" dirty="0">
              <a:latin typeface="Google Sans" pitchFamily="2" charset="0"/>
              <a:ea typeface="Google Sans" pitchFamily="2" charset="0"/>
              <a:cs typeface="Google Sans" pitchFamily="2" charset="0"/>
            </a:endParaRPr>
          </a:p>
        </p:txBody>
      </p:sp>
    </p:spTree>
    <p:extLst>
      <p:ext uri="{BB962C8B-B14F-4D97-AF65-F5344CB8AC3E}">
        <p14:creationId xmlns:p14="http://schemas.microsoft.com/office/powerpoint/2010/main" val="2977977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0ABF8F01-F834-CB40-03DF-60B05C67001A}"/>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60DF0849-86EF-D8EB-3E02-FC1DC1B436DD}"/>
              </a:ext>
            </a:extLst>
          </p:cNvPr>
          <p:cNvSpPr/>
          <p:nvPr/>
        </p:nvSpPr>
        <p:spPr>
          <a:xfrm>
            <a:off x="658368" y="1228191"/>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BBCD0F42-4477-7750-AA23-42622393A4FD}"/>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E04C6347-33E2-94C8-EBCC-9A93E88B28F1}"/>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9FC5386B-438B-529C-7AC4-08DDEE3FAC0C}"/>
              </a:ext>
            </a:extLst>
          </p:cNvPr>
          <p:cNvSpPr/>
          <p:nvPr/>
        </p:nvSpPr>
        <p:spPr>
          <a:xfrm>
            <a:off x="566928" y="448056"/>
            <a:ext cx="10789920" cy="384048"/>
          </a:xfrm>
          <a:prstGeom prst="rect">
            <a:avLst/>
          </a:prstGeom>
          <a:noFill/>
          <a:ln/>
        </p:spPr>
        <p:txBody>
          <a:bodyPr wrap="square" lIns="0" tIns="0" rIns="0" bIns="0" rtlCol="0" anchor="ctr"/>
          <a:lstStyle/>
          <a:p>
            <a:r>
              <a:rPr lang="en-US" sz="2400" b="1" dirty="0">
                <a:solidFill>
                  <a:srgbClr val="13293D"/>
                </a:solidFill>
                <a:latin typeface="Google Sans" pitchFamily="2" charset="0"/>
                <a:ea typeface="Google Sans" pitchFamily="2" charset="0"/>
                <a:cs typeface="Google Sans" pitchFamily="2" charset="0"/>
              </a:rPr>
              <a:t>Does watermarking work? Yes, but…</a:t>
            </a:r>
            <a:endParaRPr lang="en-US" sz="2400" dirty="0">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44A83CB3-2D19-EED2-D48F-618ECA18014D}"/>
              </a:ext>
            </a:extLst>
          </p:cNvPr>
          <p:cNvSpPr/>
          <p:nvPr/>
        </p:nvSpPr>
        <p:spPr>
          <a:xfrm>
            <a:off x="585216" y="834999"/>
            <a:ext cx="10972800" cy="274320"/>
          </a:xfrm>
          <a:prstGeom prst="rect">
            <a:avLst/>
          </a:prstGeom>
          <a:noFill/>
          <a:ln/>
        </p:spPr>
        <p:txBody>
          <a:bodyPr wrap="square" lIns="0" tIns="0" rIns="0" bIns="0" rtlCol="0" anchor="ctr"/>
          <a:lstStyle/>
          <a:p>
            <a:r>
              <a:rPr lang="en-US" sz="1600" dirty="0">
                <a:solidFill>
                  <a:srgbClr val="5B6670"/>
                </a:solidFill>
                <a:latin typeface="Google Sans" pitchFamily="2" charset="0"/>
                <a:ea typeface="Google Sans" pitchFamily="2" charset="0"/>
                <a:cs typeface="Google Sans" pitchFamily="2" charset="0"/>
              </a:rPr>
              <a:t>A SynthID-Image example showing false detections are not uncommon.</a:t>
            </a:r>
            <a:endParaRPr lang="en-US" sz="1600" dirty="0">
              <a:latin typeface="Google Sans" pitchFamily="2" charset="0"/>
              <a:ea typeface="Google Sans" pitchFamily="2" charset="0"/>
              <a:cs typeface="Google Sans" pitchFamily="2" charset="0"/>
            </a:endParaRPr>
          </a:p>
        </p:txBody>
      </p:sp>
      <p:sp>
        <p:nvSpPr>
          <p:cNvPr id="17" name="Shape 14">
            <a:extLst>
              <a:ext uri="{FF2B5EF4-FFF2-40B4-BE49-F238E27FC236}">
                <a16:creationId xmlns:a16="http://schemas.microsoft.com/office/drawing/2014/main" id="{2E052EFF-1E97-1BB0-38F3-8FB060A99B54}"/>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9B809456-3A12-910F-7AA7-8137A688EA29}"/>
              </a:ext>
            </a:extLst>
          </p:cNvPr>
          <p:cNvSpPr/>
          <p:nvPr/>
        </p:nvSpPr>
        <p:spPr>
          <a:xfrm>
            <a:off x="854964" y="5861304"/>
            <a:ext cx="10469880" cy="164592"/>
          </a:xfrm>
          <a:prstGeom prst="rect">
            <a:avLst/>
          </a:prstGeom>
          <a:noFill/>
          <a:ln/>
        </p:spPr>
        <p:txBody>
          <a:bodyPr wrap="square" lIns="0" tIns="0" rIns="0" bIns="0" rtlCol="0" anchor="ctr"/>
          <a:lstStyle/>
          <a:p>
            <a:pPr algn="ctr"/>
            <a:r>
              <a:rPr lang="en-GB" sz="1600" dirty="0" err="1">
                <a:solidFill>
                  <a:schemeClr val="bg1"/>
                </a:solidFill>
                <a:latin typeface="Google Sans" pitchFamily="2" charset="0"/>
                <a:ea typeface="Google Sans" pitchFamily="2" charset="0"/>
                <a:cs typeface="Google Sans" pitchFamily="2" charset="0"/>
              </a:rPr>
              <a:t>SynthID</a:t>
            </a:r>
            <a:r>
              <a:rPr lang="en-GB" sz="1600" dirty="0">
                <a:solidFill>
                  <a:schemeClr val="bg1"/>
                </a:solidFill>
                <a:latin typeface="Google Sans" pitchFamily="2" charset="0"/>
                <a:ea typeface="Google Sans" pitchFamily="2" charset="0"/>
                <a:cs typeface="Google Sans" pitchFamily="2" charset="0"/>
              </a:rPr>
              <a:t>-Image cannot always reliably detect images generated with Gemini.</a:t>
            </a:r>
            <a:endParaRPr lang="en-US" sz="1500" dirty="0">
              <a:solidFill>
                <a:schemeClr val="bg1"/>
              </a:solidFill>
              <a:latin typeface="Google Sans" pitchFamily="2" charset="0"/>
              <a:ea typeface="Google Sans" pitchFamily="2" charset="0"/>
              <a:cs typeface="Google Sans" pitchFamily="2" charset="0"/>
            </a:endParaRPr>
          </a:p>
        </p:txBody>
      </p:sp>
      <p:pic>
        <p:nvPicPr>
          <p:cNvPr id="13" name="Picture 12" descr="A screenshot of a phone&#10;&#10;AI-generated content may be incorrect.">
            <a:extLst>
              <a:ext uri="{FF2B5EF4-FFF2-40B4-BE49-F238E27FC236}">
                <a16:creationId xmlns:a16="http://schemas.microsoft.com/office/drawing/2014/main" id="{86F98EFC-0747-7B96-7890-79C8B977EE36}"/>
              </a:ext>
            </a:extLst>
          </p:cNvPr>
          <p:cNvPicPr>
            <a:picLocks noChangeAspect="1"/>
          </p:cNvPicPr>
          <p:nvPr/>
        </p:nvPicPr>
        <p:blipFill>
          <a:blip r:embed="rId3"/>
          <a:stretch>
            <a:fillRect/>
          </a:stretch>
        </p:blipFill>
        <p:spPr>
          <a:xfrm>
            <a:off x="804431" y="1397668"/>
            <a:ext cx="5389295" cy="3294648"/>
          </a:xfrm>
          <a:prstGeom prst="rect">
            <a:avLst/>
          </a:prstGeom>
          <a:ln>
            <a:solidFill>
              <a:schemeClr val="tx1"/>
            </a:solidFill>
          </a:ln>
        </p:spPr>
      </p:pic>
      <p:sp>
        <p:nvSpPr>
          <p:cNvPr id="9" name="Text 4">
            <a:extLst>
              <a:ext uri="{FF2B5EF4-FFF2-40B4-BE49-F238E27FC236}">
                <a16:creationId xmlns:a16="http://schemas.microsoft.com/office/drawing/2014/main" id="{F0E00E1D-2A92-237A-0B6F-BC3149C75750}"/>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10" name="Text 5">
            <a:extLst>
              <a:ext uri="{FF2B5EF4-FFF2-40B4-BE49-F238E27FC236}">
                <a16:creationId xmlns:a16="http://schemas.microsoft.com/office/drawing/2014/main" id="{CBA3E467-4A72-7D59-B93B-1D486BB29D56}"/>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13</a:t>
            </a:r>
            <a:endParaRPr lang="en-US" sz="1100" dirty="0">
              <a:latin typeface="Google Sans" pitchFamily="2" charset="0"/>
              <a:ea typeface="Google Sans" pitchFamily="2" charset="0"/>
              <a:cs typeface="Google Sans" pitchFamily="2" charset="0"/>
            </a:endParaRPr>
          </a:p>
        </p:txBody>
      </p:sp>
      <p:pic>
        <p:nvPicPr>
          <p:cNvPr id="7" name="Picture 6">
            <a:extLst>
              <a:ext uri="{FF2B5EF4-FFF2-40B4-BE49-F238E27FC236}">
                <a16:creationId xmlns:a16="http://schemas.microsoft.com/office/drawing/2014/main" id="{01DA2EDD-6A7C-4390-202C-28988557B843}"/>
              </a:ext>
            </a:extLst>
          </p:cNvPr>
          <p:cNvPicPr>
            <a:picLocks noChangeAspect="1"/>
          </p:cNvPicPr>
          <p:nvPr/>
        </p:nvPicPr>
        <p:blipFill>
          <a:blip r:embed="rId4"/>
          <a:stretch>
            <a:fillRect/>
          </a:stretch>
        </p:blipFill>
        <p:spPr>
          <a:xfrm>
            <a:off x="6339789" y="1397668"/>
            <a:ext cx="4777445" cy="4088552"/>
          </a:xfrm>
          <a:prstGeom prst="rect">
            <a:avLst/>
          </a:prstGeom>
          <a:ln>
            <a:solidFill>
              <a:schemeClr val="tx1"/>
            </a:solidFill>
          </a:ln>
        </p:spPr>
      </p:pic>
      <p:sp>
        <p:nvSpPr>
          <p:cNvPr id="12" name="Rectangle 11">
            <a:extLst>
              <a:ext uri="{FF2B5EF4-FFF2-40B4-BE49-F238E27FC236}">
                <a16:creationId xmlns:a16="http://schemas.microsoft.com/office/drawing/2014/main" id="{AE1EB7CC-779C-AE0B-90E1-E3A70E060F2D}"/>
              </a:ext>
            </a:extLst>
          </p:cNvPr>
          <p:cNvSpPr/>
          <p:nvPr/>
        </p:nvSpPr>
        <p:spPr>
          <a:xfrm>
            <a:off x="6733309" y="4059382"/>
            <a:ext cx="1302327" cy="443345"/>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DCD8FC94-5CA9-05E3-BAB6-84932FEB9DAB}"/>
              </a:ext>
            </a:extLst>
          </p:cNvPr>
          <p:cNvCxnSpPr/>
          <p:nvPr/>
        </p:nvCxnSpPr>
        <p:spPr>
          <a:xfrm>
            <a:off x="6941127" y="5084618"/>
            <a:ext cx="1274618"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8391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dissolve">
                                      <p:cBhvr>
                                        <p:cTn id="15" dur="500"/>
                                        <p:tgtEl>
                                          <p:spTgt spid="12"/>
                                        </p:tgtEl>
                                      </p:cBhvr>
                                    </p:animEffect>
                                  </p:childTnLst>
                                </p:cTn>
                              </p:par>
                              <p:par>
                                <p:cTn id="16" presetID="9"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dissolve">
                                      <p:cBhvr>
                                        <p:cTn id="1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9957A4B8-DC84-8F1C-7DE9-97ED83280E3E}"/>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6BEF397D-2E5D-CAEF-D93C-F6BD2A685994}"/>
              </a:ext>
            </a:extLst>
          </p:cNvPr>
          <p:cNvSpPr/>
          <p:nvPr/>
        </p:nvSpPr>
        <p:spPr>
          <a:xfrm>
            <a:off x="658368" y="1228191"/>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dirty="0">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A589DB48-00FC-788C-9531-AC46EA9432B3}"/>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C2FD689A-1567-9FCB-8EED-109C4BB4A920}"/>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10CAE912-0630-5EB0-D2C5-8BF3FCEF59A1}"/>
              </a:ext>
            </a:extLst>
          </p:cNvPr>
          <p:cNvSpPr/>
          <p:nvPr/>
        </p:nvSpPr>
        <p:spPr>
          <a:xfrm>
            <a:off x="566928" y="448056"/>
            <a:ext cx="10789920" cy="384048"/>
          </a:xfrm>
          <a:prstGeom prst="rect">
            <a:avLst/>
          </a:prstGeom>
          <a:noFill/>
          <a:ln/>
        </p:spPr>
        <p:txBody>
          <a:bodyPr wrap="square" lIns="0" tIns="0" rIns="0" bIns="0" rtlCol="0" anchor="ctr"/>
          <a:lstStyle/>
          <a:p>
            <a:r>
              <a:rPr lang="en-US" sz="2400" b="1" dirty="0">
                <a:solidFill>
                  <a:srgbClr val="13293D"/>
                </a:solidFill>
                <a:latin typeface="Google Sans" pitchFamily="2" charset="0"/>
                <a:ea typeface="Google Sans" pitchFamily="2" charset="0"/>
                <a:cs typeface="Google Sans" pitchFamily="2" charset="0"/>
              </a:rPr>
              <a:t>Does watermarking work? Yes, but…</a:t>
            </a:r>
            <a:endParaRPr lang="en-US" sz="2400" dirty="0">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080B9474-B64A-9600-CEE3-AC6EAF6BDE23}"/>
              </a:ext>
            </a:extLst>
          </p:cNvPr>
          <p:cNvSpPr/>
          <p:nvPr/>
        </p:nvSpPr>
        <p:spPr>
          <a:xfrm>
            <a:off x="585216" y="834999"/>
            <a:ext cx="10972800" cy="274320"/>
          </a:xfrm>
          <a:prstGeom prst="rect">
            <a:avLst/>
          </a:prstGeom>
          <a:noFill/>
          <a:ln/>
        </p:spPr>
        <p:txBody>
          <a:bodyPr wrap="square" lIns="0" tIns="0" rIns="0" bIns="0" rtlCol="0" anchor="ctr"/>
          <a:lstStyle/>
          <a:p>
            <a:r>
              <a:rPr lang="en-GB" sz="1600" dirty="0">
                <a:solidFill>
                  <a:srgbClr val="5B6670"/>
                </a:solidFill>
                <a:latin typeface="Google Sans" pitchFamily="2" charset="0"/>
                <a:ea typeface="Google Sans" pitchFamily="2" charset="0"/>
                <a:cs typeface="Google Sans" pitchFamily="2" charset="0"/>
              </a:rPr>
              <a:t>The WAVES benchmark: exposing the vulnerability of watermarking schemes to adversarial attacks.</a:t>
            </a:r>
            <a:endParaRPr lang="en-US" sz="1600" dirty="0">
              <a:solidFill>
                <a:srgbClr val="5B6670"/>
              </a:solidFill>
              <a:latin typeface="Google Sans" pitchFamily="2" charset="0"/>
              <a:ea typeface="Google Sans" pitchFamily="2" charset="0"/>
              <a:cs typeface="Google Sans" pitchFamily="2" charset="0"/>
            </a:endParaRPr>
          </a:p>
        </p:txBody>
      </p:sp>
      <p:sp>
        <p:nvSpPr>
          <p:cNvPr id="17" name="Shape 14">
            <a:extLst>
              <a:ext uri="{FF2B5EF4-FFF2-40B4-BE49-F238E27FC236}">
                <a16:creationId xmlns:a16="http://schemas.microsoft.com/office/drawing/2014/main" id="{F3EC3B00-AD9E-C70F-6830-E3C6E58C92A5}"/>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CBCD9C36-BDE7-899C-94AF-C2F586195981}"/>
              </a:ext>
            </a:extLst>
          </p:cNvPr>
          <p:cNvSpPr/>
          <p:nvPr/>
        </p:nvSpPr>
        <p:spPr>
          <a:xfrm>
            <a:off x="854964" y="5861304"/>
            <a:ext cx="10469880" cy="164592"/>
          </a:xfrm>
          <a:prstGeom prst="rect">
            <a:avLst/>
          </a:prstGeom>
          <a:noFill/>
          <a:ln/>
        </p:spPr>
        <p:txBody>
          <a:bodyPr wrap="square" lIns="0" tIns="0" rIns="0" bIns="0" rtlCol="0" anchor="ctr"/>
          <a:lstStyle/>
          <a:p>
            <a:pPr algn="ctr"/>
            <a:r>
              <a:rPr lang="en-US" sz="1500" dirty="0">
                <a:solidFill>
                  <a:srgbClr val="FFFFFF"/>
                </a:solidFill>
                <a:latin typeface="Google Sans" pitchFamily="2" charset="0"/>
                <a:ea typeface="Google Sans" pitchFamily="2" charset="0"/>
                <a:cs typeface="Google Sans" pitchFamily="2" charset="0"/>
              </a:rPr>
              <a:t>Watermarks can be more robust against image edits compared to C2PA, but still vulnerable to various types of attacks.</a:t>
            </a:r>
            <a:endParaRPr lang="en-US" sz="1500" dirty="0">
              <a:latin typeface="Google Sans" pitchFamily="2" charset="0"/>
              <a:ea typeface="Google Sans" pitchFamily="2" charset="0"/>
              <a:cs typeface="Google Sans" pitchFamily="2" charset="0"/>
            </a:endParaRPr>
          </a:p>
        </p:txBody>
      </p:sp>
      <p:pic>
        <p:nvPicPr>
          <p:cNvPr id="15" name="Picture 14" descr="A collage of a person's face&#10;&#10;AI-generated content may be incorrect.">
            <a:extLst>
              <a:ext uri="{FF2B5EF4-FFF2-40B4-BE49-F238E27FC236}">
                <a16:creationId xmlns:a16="http://schemas.microsoft.com/office/drawing/2014/main" id="{5EBE429B-69A7-7927-A0D9-4A6C7A326A46}"/>
              </a:ext>
            </a:extLst>
          </p:cNvPr>
          <p:cNvPicPr>
            <a:picLocks noChangeAspect="1"/>
          </p:cNvPicPr>
          <p:nvPr/>
        </p:nvPicPr>
        <p:blipFill>
          <a:blip r:embed="rId3"/>
          <a:stretch>
            <a:fillRect/>
          </a:stretch>
        </p:blipFill>
        <p:spPr>
          <a:xfrm>
            <a:off x="5462624" y="2812261"/>
            <a:ext cx="5811928" cy="1929237"/>
          </a:xfrm>
          <a:prstGeom prst="rect">
            <a:avLst/>
          </a:prstGeom>
          <a:ln>
            <a:solidFill>
              <a:schemeClr val="tx1"/>
            </a:solidFill>
          </a:ln>
        </p:spPr>
      </p:pic>
      <p:pic>
        <p:nvPicPr>
          <p:cNvPr id="12" name="Picture 11" descr="A diagram of different types of identification&#10;&#10;AI-generated content may be incorrect.">
            <a:extLst>
              <a:ext uri="{FF2B5EF4-FFF2-40B4-BE49-F238E27FC236}">
                <a16:creationId xmlns:a16="http://schemas.microsoft.com/office/drawing/2014/main" id="{7A352CB8-5EA2-5D99-EC27-9AF98F1D8B94}"/>
              </a:ext>
            </a:extLst>
          </p:cNvPr>
          <p:cNvPicPr>
            <a:picLocks noChangeAspect="1"/>
          </p:cNvPicPr>
          <p:nvPr/>
        </p:nvPicPr>
        <p:blipFill>
          <a:blip r:embed="rId4"/>
          <a:stretch>
            <a:fillRect/>
          </a:stretch>
        </p:blipFill>
        <p:spPr>
          <a:xfrm>
            <a:off x="1381102" y="2378753"/>
            <a:ext cx="3620935" cy="3036015"/>
          </a:xfrm>
          <a:prstGeom prst="rect">
            <a:avLst/>
          </a:prstGeom>
          <a:ln>
            <a:solidFill>
              <a:schemeClr val="tx1"/>
            </a:solidFill>
          </a:ln>
        </p:spPr>
      </p:pic>
      <p:sp>
        <p:nvSpPr>
          <p:cNvPr id="19" name="TextBox 18">
            <a:extLst>
              <a:ext uri="{FF2B5EF4-FFF2-40B4-BE49-F238E27FC236}">
                <a16:creationId xmlns:a16="http://schemas.microsoft.com/office/drawing/2014/main" id="{FE58BB11-C628-6D2D-CF36-28A66B885E1F}"/>
              </a:ext>
            </a:extLst>
          </p:cNvPr>
          <p:cNvSpPr txBox="1"/>
          <p:nvPr/>
        </p:nvSpPr>
        <p:spPr>
          <a:xfrm>
            <a:off x="790448" y="1388098"/>
            <a:ext cx="9775951" cy="338554"/>
          </a:xfrm>
          <a:prstGeom prst="rect">
            <a:avLst/>
          </a:prstGeom>
          <a:noFill/>
        </p:spPr>
        <p:txBody>
          <a:bodyPr wrap="square">
            <a:spAutoFit/>
          </a:bodyPr>
          <a:lstStyle/>
          <a:p>
            <a:r>
              <a:rPr lang="en-US" sz="1600" b="1" dirty="0">
                <a:latin typeface="Google Sans" pitchFamily="2" charset="0"/>
                <a:ea typeface="Google Sans" pitchFamily="2" charset="0"/>
                <a:cs typeface="Google Sans" pitchFamily="2" charset="0"/>
              </a:rPr>
              <a:t>WAVES benchmark of image watermark robustness: </a:t>
            </a:r>
            <a:r>
              <a:rPr lang="en-US" sz="1600" b="1" dirty="0">
                <a:latin typeface="Google Sans" pitchFamily="2" charset="0"/>
                <a:ea typeface="Google Sans" pitchFamily="2" charset="0"/>
                <a:cs typeface="Google Sans" pitchFamily="2" charset="0"/>
                <a:hlinkClick r:id="rId5"/>
              </a:rPr>
              <a:t>https://arxiv.org/pdf/2401.08573</a:t>
            </a:r>
            <a:endParaRPr lang="en-US" sz="1600" b="1" dirty="0">
              <a:latin typeface="Google Sans" pitchFamily="2" charset="0"/>
              <a:ea typeface="Google Sans" pitchFamily="2" charset="0"/>
              <a:cs typeface="Google Sans" pitchFamily="2" charset="0"/>
            </a:endParaRPr>
          </a:p>
        </p:txBody>
      </p:sp>
      <p:sp>
        <p:nvSpPr>
          <p:cNvPr id="20" name="TextBox 19">
            <a:extLst>
              <a:ext uri="{FF2B5EF4-FFF2-40B4-BE49-F238E27FC236}">
                <a16:creationId xmlns:a16="http://schemas.microsoft.com/office/drawing/2014/main" id="{76F76464-5174-B1A8-1D87-A6CBBDDABE17}"/>
              </a:ext>
            </a:extLst>
          </p:cNvPr>
          <p:cNvSpPr txBox="1"/>
          <p:nvPr/>
        </p:nvSpPr>
        <p:spPr>
          <a:xfrm>
            <a:off x="5726614" y="2280551"/>
            <a:ext cx="5283947" cy="523220"/>
          </a:xfrm>
          <a:prstGeom prst="rect">
            <a:avLst/>
          </a:prstGeom>
          <a:noFill/>
        </p:spPr>
        <p:txBody>
          <a:bodyPr wrap="square" rtlCol="0">
            <a:spAutoFit/>
          </a:bodyPr>
          <a:lstStyle/>
          <a:p>
            <a:pPr algn="ctr"/>
            <a:r>
              <a:rPr lang="en-US" sz="1400" dirty="0">
                <a:latin typeface="Google Sans" pitchFamily="2" charset="0"/>
                <a:ea typeface="Google Sans" pitchFamily="2" charset="0"/>
                <a:cs typeface="Google Sans" pitchFamily="2" charset="0"/>
              </a:rPr>
              <a:t>Even simple image edits can degrade bit accuracy and hurt provenance </a:t>
            </a:r>
            <a:r>
              <a:rPr lang="en-US" sz="1400" dirty="0" err="1">
                <a:latin typeface="Google Sans" pitchFamily="2" charset="0"/>
                <a:ea typeface="Google Sans" pitchFamily="2" charset="0"/>
                <a:cs typeface="Google Sans" pitchFamily="2" charset="0"/>
              </a:rPr>
              <a:t>credbility</a:t>
            </a:r>
            <a:r>
              <a:rPr lang="en-US" sz="1400" dirty="0">
                <a:latin typeface="Google Sans" pitchFamily="2" charset="0"/>
                <a:ea typeface="Google Sans" pitchFamily="2" charset="0"/>
                <a:cs typeface="Google Sans" pitchFamily="2" charset="0"/>
              </a:rPr>
              <a:t>.</a:t>
            </a:r>
          </a:p>
        </p:txBody>
      </p:sp>
      <p:sp>
        <p:nvSpPr>
          <p:cNvPr id="21" name="TextBox 20">
            <a:extLst>
              <a:ext uri="{FF2B5EF4-FFF2-40B4-BE49-F238E27FC236}">
                <a16:creationId xmlns:a16="http://schemas.microsoft.com/office/drawing/2014/main" id="{81FAFB55-2FC9-754C-EDAE-216E86B90423}"/>
              </a:ext>
            </a:extLst>
          </p:cNvPr>
          <p:cNvSpPr txBox="1"/>
          <p:nvPr/>
        </p:nvSpPr>
        <p:spPr>
          <a:xfrm>
            <a:off x="1055297" y="1838098"/>
            <a:ext cx="4275059" cy="523220"/>
          </a:xfrm>
          <a:prstGeom prst="rect">
            <a:avLst/>
          </a:prstGeom>
          <a:noFill/>
        </p:spPr>
        <p:txBody>
          <a:bodyPr wrap="square" rtlCol="0">
            <a:spAutoFit/>
          </a:bodyPr>
          <a:lstStyle/>
          <a:p>
            <a:pPr algn="ctr"/>
            <a:r>
              <a:rPr lang="en-US" sz="1400" dirty="0">
                <a:latin typeface="Google Sans" pitchFamily="2" charset="0"/>
                <a:ea typeface="Google Sans" pitchFamily="2" charset="0"/>
                <a:cs typeface="Google Sans" pitchFamily="2" charset="0"/>
              </a:rPr>
              <a:t>Various attacks showing watermarks can be removed while image quality is preserved.</a:t>
            </a:r>
          </a:p>
        </p:txBody>
      </p:sp>
      <p:sp>
        <p:nvSpPr>
          <p:cNvPr id="9" name="Text 4">
            <a:extLst>
              <a:ext uri="{FF2B5EF4-FFF2-40B4-BE49-F238E27FC236}">
                <a16:creationId xmlns:a16="http://schemas.microsoft.com/office/drawing/2014/main" id="{4C90FCB1-C17E-96FF-7697-87AAE8CA4ADA}"/>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10" name="Text 5">
            <a:extLst>
              <a:ext uri="{FF2B5EF4-FFF2-40B4-BE49-F238E27FC236}">
                <a16:creationId xmlns:a16="http://schemas.microsoft.com/office/drawing/2014/main" id="{DC11D645-0331-C6BB-F101-B584EA5817CD}"/>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14</a:t>
            </a:r>
            <a:endParaRPr lang="en-US" sz="1100" dirty="0">
              <a:latin typeface="Google Sans" pitchFamily="2" charset="0"/>
              <a:ea typeface="Google Sans" pitchFamily="2" charset="0"/>
              <a:cs typeface="Google Sans" pitchFamily="2" charset="0"/>
            </a:endParaRPr>
          </a:p>
        </p:txBody>
      </p:sp>
    </p:spTree>
    <p:extLst>
      <p:ext uri="{BB962C8B-B14F-4D97-AF65-F5344CB8AC3E}">
        <p14:creationId xmlns:p14="http://schemas.microsoft.com/office/powerpoint/2010/main" val="1388759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A67813F0-1019-BA97-72D2-0A97F59B041D}"/>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DD3F014A-CB49-B1F4-55D6-98C566FA5AF2}"/>
              </a:ext>
            </a:extLst>
          </p:cNvPr>
          <p:cNvSpPr/>
          <p:nvPr/>
        </p:nvSpPr>
        <p:spPr>
          <a:xfrm>
            <a:off x="658368" y="1228191"/>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07F1A3A7-3775-9D3A-0DA1-8900F78AC38B}"/>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A2A70293-F53B-82E4-0958-B2787F0CBFFA}"/>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21DDD5F6-18D6-B451-EAEC-4B50C7796AD2}"/>
              </a:ext>
            </a:extLst>
          </p:cNvPr>
          <p:cNvSpPr/>
          <p:nvPr/>
        </p:nvSpPr>
        <p:spPr>
          <a:xfrm>
            <a:off x="566928" y="448056"/>
            <a:ext cx="10789920" cy="384048"/>
          </a:xfrm>
          <a:prstGeom prst="rect">
            <a:avLst/>
          </a:prstGeom>
          <a:noFill/>
          <a:ln/>
        </p:spPr>
        <p:txBody>
          <a:bodyPr wrap="square" lIns="0" tIns="0" rIns="0" bIns="0" rtlCol="0" anchor="ctr"/>
          <a:lstStyle/>
          <a:p>
            <a:r>
              <a:rPr lang="en-US" sz="2400" b="1" dirty="0">
                <a:solidFill>
                  <a:srgbClr val="13293D"/>
                </a:solidFill>
                <a:latin typeface="Google Sans" pitchFamily="2" charset="0"/>
                <a:ea typeface="Google Sans" pitchFamily="2" charset="0"/>
                <a:cs typeface="Google Sans" pitchFamily="2" charset="0"/>
              </a:rPr>
              <a:t>Passive inference: fingerprinting</a:t>
            </a:r>
            <a:endParaRPr lang="en-US" sz="2400" dirty="0">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6606AC3F-9C94-2986-0595-5C16A5F4844B}"/>
              </a:ext>
            </a:extLst>
          </p:cNvPr>
          <p:cNvSpPr/>
          <p:nvPr/>
        </p:nvSpPr>
        <p:spPr>
          <a:xfrm>
            <a:off x="585216" y="834999"/>
            <a:ext cx="11100816" cy="274320"/>
          </a:xfrm>
          <a:prstGeom prst="rect">
            <a:avLst/>
          </a:prstGeom>
          <a:noFill/>
          <a:ln/>
        </p:spPr>
        <p:txBody>
          <a:bodyPr wrap="square" lIns="0" tIns="0" rIns="0" bIns="0" rtlCol="0" anchor="ctr"/>
          <a:lstStyle/>
          <a:p>
            <a:r>
              <a:rPr lang="en-US" sz="1600" dirty="0">
                <a:solidFill>
                  <a:srgbClr val="5B6670"/>
                </a:solidFill>
                <a:latin typeface="Google Sans" pitchFamily="2" charset="0"/>
                <a:ea typeface="Google Sans" pitchFamily="2" charset="0"/>
                <a:cs typeface="Google Sans" pitchFamily="2" charset="0"/>
              </a:rPr>
              <a:t>Another line of research focuses on fingerprinting – </a:t>
            </a:r>
            <a:r>
              <a:rPr lang="en-GB" sz="1600" dirty="0">
                <a:solidFill>
                  <a:srgbClr val="5B6670"/>
                </a:solidFill>
                <a:latin typeface="Google Sans" pitchFamily="2" charset="0"/>
                <a:ea typeface="Google Sans" pitchFamily="2" charset="0"/>
                <a:cs typeface="Google Sans" pitchFamily="2" charset="0"/>
              </a:rPr>
              <a:t>the extraction of </a:t>
            </a:r>
            <a:r>
              <a:rPr lang="en-GB" sz="1600" b="1" dirty="0">
                <a:solidFill>
                  <a:srgbClr val="5B6670"/>
                </a:solidFill>
                <a:latin typeface="Google Sans" pitchFamily="2" charset="0"/>
                <a:ea typeface="Google Sans" pitchFamily="2" charset="0"/>
                <a:cs typeface="Google Sans" pitchFamily="2" charset="0"/>
              </a:rPr>
              <a:t>intrinsic generator-specific traces and artifacts</a:t>
            </a:r>
            <a:r>
              <a:rPr lang="en-GB" sz="1600" dirty="0">
                <a:solidFill>
                  <a:srgbClr val="5B6670"/>
                </a:solidFill>
                <a:latin typeface="Google Sans" pitchFamily="2" charset="0"/>
                <a:ea typeface="Google Sans" pitchFamily="2" charset="0"/>
                <a:cs typeface="Google Sans" pitchFamily="2" charset="0"/>
              </a:rPr>
              <a:t>.</a:t>
            </a:r>
            <a:endParaRPr lang="en-US" sz="1600" dirty="0">
              <a:solidFill>
                <a:srgbClr val="5B6670"/>
              </a:solidFill>
              <a:latin typeface="Google Sans" pitchFamily="2" charset="0"/>
              <a:ea typeface="Google Sans" pitchFamily="2" charset="0"/>
              <a:cs typeface="Google Sans" pitchFamily="2" charset="0"/>
            </a:endParaRPr>
          </a:p>
        </p:txBody>
      </p:sp>
      <p:sp>
        <p:nvSpPr>
          <p:cNvPr id="17" name="Shape 14">
            <a:extLst>
              <a:ext uri="{FF2B5EF4-FFF2-40B4-BE49-F238E27FC236}">
                <a16:creationId xmlns:a16="http://schemas.microsoft.com/office/drawing/2014/main" id="{44ABDFE3-BB2D-3878-2880-05C2BF29DAC8}"/>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B980A54B-B9D6-B186-1018-584FCF4E5274}"/>
              </a:ext>
            </a:extLst>
          </p:cNvPr>
          <p:cNvSpPr/>
          <p:nvPr/>
        </p:nvSpPr>
        <p:spPr>
          <a:xfrm>
            <a:off x="854964" y="5861304"/>
            <a:ext cx="10469880" cy="164592"/>
          </a:xfrm>
          <a:prstGeom prst="rect">
            <a:avLst/>
          </a:prstGeom>
          <a:noFill/>
          <a:ln/>
        </p:spPr>
        <p:txBody>
          <a:bodyPr wrap="square" lIns="0" tIns="0" rIns="0" bIns="0" rtlCol="0" anchor="ctr"/>
          <a:lstStyle/>
          <a:p>
            <a:pPr marL="0" indent="0" algn="ctr">
              <a:buNone/>
            </a:pPr>
            <a:r>
              <a:rPr lang="en-US" sz="1500" dirty="0">
                <a:solidFill>
                  <a:srgbClr val="FFFFFF"/>
                </a:solidFill>
                <a:latin typeface="Google Sans" pitchFamily="2" charset="0"/>
                <a:ea typeface="Google Sans" pitchFamily="2" charset="0"/>
                <a:cs typeface="Google Sans" pitchFamily="2" charset="0"/>
              </a:rPr>
              <a:t>Fingerprinting leverages </a:t>
            </a:r>
            <a:r>
              <a:rPr lang="en-US" sz="1500" b="1" dirty="0">
                <a:solidFill>
                  <a:srgbClr val="FFFFFF"/>
                </a:solidFill>
                <a:latin typeface="Google Sans" pitchFamily="2" charset="0"/>
                <a:ea typeface="Google Sans" pitchFamily="2" charset="0"/>
                <a:cs typeface="Google Sans" pitchFamily="2" charset="0"/>
              </a:rPr>
              <a:t>intrinsic properties </a:t>
            </a:r>
            <a:r>
              <a:rPr lang="en-US" sz="1500" dirty="0">
                <a:solidFill>
                  <a:srgbClr val="FFFFFF"/>
                </a:solidFill>
                <a:latin typeface="Google Sans" pitchFamily="2" charset="0"/>
                <a:ea typeface="Google Sans" pitchFamily="2" charset="0"/>
                <a:cs typeface="Google Sans" pitchFamily="2" charset="0"/>
              </a:rPr>
              <a:t>of an image, without actively embed a signal.</a:t>
            </a:r>
            <a:endParaRPr lang="en-US" sz="1500" dirty="0">
              <a:latin typeface="Google Sans" pitchFamily="2" charset="0"/>
              <a:ea typeface="Google Sans" pitchFamily="2" charset="0"/>
              <a:cs typeface="Google Sans" pitchFamily="2" charset="0"/>
            </a:endParaRPr>
          </a:p>
        </p:txBody>
      </p:sp>
      <p:pic>
        <p:nvPicPr>
          <p:cNvPr id="9" name="Picture 8" descr="A close-up of several images&#10;&#10;AI-generated content may be incorrect.">
            <a:extLst>
              <a:ext uri="{FF2B5EF4-FFF2-40B4-BE49-F238E27FC236}">
                <a16:creationId xmlns:a16="http://schemas.microsoft.com/office/drawing/2014/main" id="{0F2CE834-0BE0-AECE-8EAB-1ED848DAEF3E}"/>
              </a:ext>
            </a:extLst>
          </p:cNvPr>
          <p:cNvPicPr>
            <a:picLocks noChangeAspect="1"/>
          </p:cNvPicPr>
          <p:nvPr/>
        </p:nvPicPr>
        <p:blipFill>
          <a:blip r:embed="rId3"/>
          <a:srcRect l="9107"/>
          <a:stretch>
            <a:fillRect/>
          </a:stretch>
        </p:blipFill>
        <p:spPr>
          <a:xfrm>
            <a:off x="1425184" y="1662934"/>
            <a:ext cx="3972349" cy="1533060"/>
          </a:xfrm>
          <a:prstGeom prst="rect">
            <a:avLst/>
          </a:prstGeom>
          <a:ln>
            <a:solidFill>
              <a:schemeClr val="tx1"/>
            </a:solidFill>
          </a:ln>
        </p:spPr>
      </p:pic>
      <p:sp>
        <p:nvSpPr>
          <p:cNvPr id="11" name="TextBox 10">
            <a:extLst>
              <a:ext uri="{FF2B5EF4-FFF2-40B4-BE49-F238E27FC236}">
                <a16:creationId xmlns:a16="http://schemas.microsoft.com/office/drawing/2014/main" id="{28ACC721-6631-11DB-4320-E23D1B369E1E}"/>
              </a:ext>
            </a:extLst>
          </p:cNvPr>
          <p:cNvSpPr txBox="1"/>
          <p:nvPr/>
        </p:nvSpPr>
        <p:spPr>
          <a:xfrm>
            <a:off x="1646098" y="3208263"/>
            <a:ext cx="3535119" cy="261610"/>
          </a:xfrm>
          <a:prstGeom prst="rect">
            <a:avLst/>
          </a:prstGeom>
          <a:noFill/>
        </p:spPr>
        <p:txBody>
          <a:bodyPr wrap="square">
            <a:spAutoFit/>
          </a:bodyPr>
          <a:lstStyle/>
          <a:p>
            <a:pPr algn="ctr"/>
            <a:r>
              <a:rPr lang="en-US" sz="1100" i="1" dirty="0">
                <a:latin typeface="Google Sans" pitchFamily="2" charset="0"/>
                <a:ea typeface="Google Sans" pitchFamily="2" charset="0"/>
                <a:cs typeface="Google Sans" pitchFamily="2" charset="0"/>
              </a:rPr>
              <a:t>Do GANs leave artificial fingerprints? Marra et al.</a:t>
            </a:r>
          </a:p>
        </p:txBody>
      </p:sp>
      <p:pic>
        <p:nvPicPr>
          <p:cNvPr id="12" name="Picture 11">
            <a:extLst>
              <a:ext uri="{FF2B5EF4-FFF2-40B4-BE49-F238E27FC236}">
                <a16:creationId xmlns:a16="http://schemas.microsoft.com/office/drawing/2014/main" id="{41D1891D-57A2-7F0B-C2E4-F2DE52844D81}"/>
              </a:ext>
            </a:extLst>
          </p:cNvPr>
          <p:cNvPicPr>
            <a:picLocks noChangeAspect="1"/>
          </p:cNvPicPr>
          <p:nvPr/>
        </p:nvPicPr>
        <p:blipFill>
          <a:blip r:embed="rId4"/>
          <a:srcRect l="-735"/>
          <a:stretch>
            <a:fillRect/>
          </a:stretch>
        </p:blipFill>
        <p:spPr>
          <a:xfrm>
            <a:off x="6794469" y="1662934"/>
            <a:ext cx="3481715" cy="1549806"/>
          </a:xfrm>
          <a:prstGeom prst="rect">
            <a:avLst/>
          </a:prstGeom>
          <a:ln>
            <a:solidFill>
              <a:schemeClr val="tx1"/>
            </a:solidFill>
          </a:ln>
        </p:spPr>
      </p:pic>
      <p:sp>
        <p:nvSpPr>
          <p:cNvPr id="13" name="TextBox 12">
            <a:extLst>
              <a:ext uri="{FF2B5EF4-FFF2-40B4-BE49-F238E27FC236}">
                <a16:creationId xmlns:a16="http://schemas.microsoft.com/office/drawing/2014/main" id="{F7BB3CF7-C6B9-3A90-FCF0-F02E8283610E}"/>
              </a:ext>
            </a:extLst>
          </p:cNvPr>
          <p:cNvSpPr txBox="1"/>
          <p:nvPr/>
        </p:nvSpPr>
        <p:spPr>
          <a:xfrm>
            <a:off x="5914136" y="3208263"/>
            <a:ext cx="5267283" cy="261610"/>
          </a:xfrm>
          <a:prstGeom prst="rect">
            <a:avLst/>
          </a:prstGeom>
          <a:noFill/>
        </p:spPr>
        <p:txBody>
          <a:bodyPr wrap="square">
            <a:spAutoFit/>
          </a:bodyPr>
          <a:lstStyle/>
          <a:p>
            <a:pPr algn="ctr"/>
            <a:r>
              <a:rPr lang="en-US" sz="1100" i="1" dirty="0">
                <a:latin typeface="Google Sans" pitchFamily="2" charset="0"/>
                <a:ea typeface="Google Sans" pitchFamily="2" charset="0"/>
                <a:cs typeface="Google Sans" pitchFamily="2" charset="0"/>
              </a:rPr>
              <a:t>Detecting GAN-generated Imagery using Color Cues. McCloskey et al.</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ABFD182-D05E-42ED-DBF9-97481A5770B6}"/>
                  </a:ext>
                </a:extLst>
              </p:cNvPr>
              <p:cNvSpPr txBox="1"/>
              <p:nvPr/>
            </p:nvSpPr>
            <p:spPr>
              <a:xfrm>
                <a:off x="1308753" y="1324380"/>
                <a:ext cx="4209807" cy="338554"/>
              </a:xfrm>
              <a:prstGeom prst="rect">
                <a:avLst/>
              </a:prstGeom>
              <a:noFill/>
            </p:spPr>
            <p:txBody>
              <a:bodyPr wrap="none" rtlCol="0">
                <a:spAutoFit/>
              </a:bodyPr>
              <a:lstStyle/>
              <a:p>
                <a:pPr algn="ctr"/>
                <a:r>
                  <a:rPr lang="en-US" sz="1600" b="1" dirty="0">
                    <a:latin typeface="Google Sans" pitchFamily="2" charset="0"/>
                    <a:ea typeface="Google Sans" pitchFamily="2" charset="0"/>
                    <a:cs typeface="Google Sans" pitchFamily="2" charset="0"/>
                  </a:rPr>
                  <a:t>Fingerprint </a:t>
                </a:r>
                <a14:m>
                  <m:oMath xmlns:m="http://schemas.openxmlformats.org/officeDocument/2006/math">
                    <m:r>
                      <a:rPr lang="en-US" sz="1600" b="1" i="1" smtClean="0">
                        <a:latin typeface="Cambria Math" panose="02040503050406030204" pitchFamily="18" charset="0"/>
                        <a:ea typeface="Cambria Math" panose="02040503050406030204" pitchFamily="18" charset="0"/>
                        <a:cs typeface="Google Sans" pitchFamily="2" charset="0"/>
                      </a:rPr>
                      <m:t>≜</m:t>
                    </m:r>
                  </m:oMath>
                </a14:m>
                <a:r>
                  <a:rPr lang="en-US" sz="1600" b="1" dirty="0">
                    <a:latin typeface="Google Sans" pitchFamily="2" charset="0"/>
                    <a:ea typeface="Google Sans" pitchFamily="2" charset="0"/>
                    <a:cs typeface="Google Sans" pitchFamily="2" charset="0"/>
                  </a:rPr>
                  <a:t> </a:t>
                </a:r>
                <a:r>
                  <a:rPr lang="en-US" sz="1600" b="1" dirty="0">
                    <a:solidFill>
                      <a:srgbClr val="0070C0"/>
                    </a:solidFill>
                    <a:latin typeface="Google Sans" pitchFamily="2" charset="0"/>
                    <a:ea typeface="Google Sans" pitchFamily="2" charset="0"/>
                    <a:cs typeface="Google Sans" pitchFamily="2" charset="0"/>
                  </a:rPr>
                  <a:t>Noise residuals </a:t>
                </a:r>
                <a:r>
                  <a:rPr lang="en-US" sz="1600" b="1" dirty="0">
                    <a:latin typeface="Google Sans" pitchFamily="2" charset="0"/>
                    <a:ea typeface="Google Sans" pitchFamily="2" charset="0"/>
                    <a:cs typeface="Google Sans" pitchFamily="2" charset="0"/>
                  </a:rPr>
                  <a:t>of an image</a:t>
                </a:r>
              </a:p>
            </p:txBody>
          </p:sp>
        </mc:Choice>
        <mc:Fallback xmlns="">
          <p:sp>
            <p:nvSpPr>
              <p:cNvPr id="14" name="TextBox 13">
                <a:extLst>
                  <a:ext uri="{FF2B5EF4-FFF2-40B4-BE49-F238E27FC236}">
                    <a16:creationId xmlns:a16="http://schemas.microsoft.com/office/drawing/2014/main" id="{FABFD182-D05E-42ED-DBF9-97481A5770B6}"/>
                  </a:ext>
                </a:extLst>
              </p:cNvPr>
              <p:cNvSpPr txBox="1">
                <a:spLocks noRot="1" noChangeAspect="1" noMove="1" noResize="1" noEditPoints="1" noAdjustHandles="1" noChangeArrowheads="1" noChangeShapeType="1" noTextEdit="1"/>
              </p:cNvSpPr>
              <p:nvPr/>
            </p:nvSpPr>
            <p:spPr>
              <a:xfrm>
                <a:off x="1308753" y="1324380"/>
                <a:ext cx="4209807" cy="338554"/>
              </a:xfrm>
              <a:prstGeom prst="rect">
                <a:avLst/>
              </a:prstGeom>
              <a:blipFill>
                <a:blip r:embed="rId5"/>
                <a:stretch>
                  <a:fillRect l="-301" t="-7143" r="-301" b="-17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AB3153D-683C-5543-8D12-C6C448213145}"/>
                  </a:ext>
                </a:extLst>
              </p:cNvPr>
              <p:cNvSpPr txBox="1"/>
              <p:nvPr/>
            </p:nvSpPr>
            <p:spPr>
              <a:xfrm>
                <a:off x="5924304" y="1324380"/>
                <a:ext cx="5246950" cy="338554"/>
              </a:xfrm>
              <a:prstGeom prst="rect">
                <a:avLst/>
              </a:prstGeom>
              <a:noFill/>
            </p:spPr>
            <p:txBody>
              <a:bodyPr wrap="none" rtlCol="0">
                <a:spAutoFit/>
              </a:bodyPr>
              <a:lstStyle/>
              <a:p>
                <a:pPr algn="ctr"/>
                <a:r>
                  <a:rPr lang="en-US" sz="1600" b="1" dirty="0">
                    <a:latin typeface="Google Sans" pitchFamily="2" charset="0"/>
                    <a:ea typeface="Google Sans" pitchFamily="2" charset="0"/>
                    <a:cs typeface="Google Sans" pitchFamily="2" charset="0"/>
                  </a:rPr>
                  <a:t>Fingerprint </a:t>
                </a:r>
                <a14:m>
                  <m:oMath xmlns:m="http://schemas.openxmlformats.org/officeDocument/2006/math">
                    <m:r>
                      <a:rPr lang="en-US" sz="1600" b="1" i="1" smtClean="0">
                        <a:latin typeface="Cambria Math" panose="02040503050406030204" pitchFamily="18" charset="0"/>
                        <a:ea typeface="Cambria Math" panose="02040503050406030204" pitchFamily="18" charset="0"/>
                        <a:cs typeface="Google Sans" pitchFamily="2" charset="0"/>
                      </a:rPr>
                      <m:t>≜</m:t>
                    </m:r>
                  </m:oMath>
                </a14:m>
                <a:r>
                  <a:rPr lang="en-US" sz="1600" b="1" dirty="0">
                    <a:latin typeface="Google Sans" pitchFamily="2" charset="0"/>
                    <a:ea typeface="Google Sans" pitchFamily="2" charset="0"/>
                    <a:cs typeface="Google Sans" pitchFamily="2" charset="0"/>
                  </a:rPr>
                  <a:t> </a:t>
                </a:r>
                <a:r>
                  <a:rPr lang="en-US" sz="1600" b="1" dirty="0">
                    <a:solidFill>
                      <a:srgbClr val="0070C0"/>
                    </a:solidFill>
                    <a:latin typeface="Google Sans" pitchFamily="2" charset="0"/>
                    <a:ea typeface="Google Sans" pitchFamily="2" charset="0"/>
                    <a:cs typeface="Google Sans" pitchFamily="2" charset="0"/>
                  </a:rPr>
                  <a:t>Pixel intensity histograms </a:t>
                </a:r>
                <a:r>
                  <a:rPr lang="en-US" sz="1600" b="1" dirty="0">
                    <a:latin typeface="Google Sans" pitchFamily="2" charset="0"/>
                    <a:ea typeface="Google Sans" pitchFamily="2" charset="0"/>
                    <a:cs typeface="Google Sans" pitchFamily="2" charset="0"/>
                  </a:rPr>
                  <a:t>of an image</a:t>
                </a:r>
              </a:p>
            </p:txBody>
          </p:sp>
        </mc:Choice>
        <mc:Fallback xmlns="">
          <p:sp>
            <p:nvSpPr>
              <p:cNvPr id="16" name="TextBox 15">
                <a:extLst>
                  <a:ext uri="{FF2B5EF4-FFF2-40B4-BE49-F238E27FC236}">
                    <a16:creationId xmlns:a16="http://schemas.microsoft.com/office/drawing/2014/main" id="{AAB3153D-683C-5543-8D12-C6C448213145}"/>
                  </a:ext>
                </a:extLst>
              </p:cNvPr>
              <p:cNvSpPr txBox="1">
                <a:spLocks noRot="1" noChangeAspect="1" noMove="1" noResize="1" noEditPoints="1" noAdjustHandles="1" noChangeArrowheads="1" noChangeShapeType="1" noTextEdit="1"/>
              </p:cNvSpPr>
              <p:nvPr/>
            </p:nvSpPr>
            <p:spPr>
              <a:xfrm>
                <a:off x="5924304" y="1324380"/>
                <a:ext cx="5246950" cy="338554"/>
              </a:xfrm>
              <a:prstGeom prst="rect">
                <a:avLst/>
              </a:prstGeom>
              <a:blipFill>
                <a:blip r:embed="rId6"/>
                <a:stretch>
                  <a:fillRect t="-7143" r="-242" b="-17857"/>
                </a:stretch>
              </a:blipFill>
            </p:spPr>
            <p:txBody>
              <a:bodyPr/>
              <a:lstStyle/>
              <a:p>
                <a:r>
                  <a:rPr lang="en-US">
                    <a:noFill/>
                  </a:rPr>
                  <a:t> </a:t>
                </a:r>
              </a:p>
            </p:txBody>
          </p:sp>
        </mc:Fallback>
      </mc:AlternateContent>
      <p:pic>
        <p:nvPicPr>
          <p:cNvPr id="20" name="Picture 19" descr="A graph of two people&#10;&#10;AI-generated content may be incorrect.">
            <a:extLst>
              <a:ext uri="{FF2B5EF4-FFF2-40B4-BE49-F238E27FC236}">
                <a16:creationId xmlns:a16="http://schemas.microsoft.com/office/drawing/2014/main" id="{90D5F657-B6F2-4E7A-7EFE-2134EE0112BB}"/>
              </a:ext>
            </a:extLst>
          </p:cNvPr>
          <p:cNvPicPr>
            <a:picLocks noChangeAspect="1"/>
          </p:cNvPicPr>
          <p:nvPr/>
        </p:nvPicPr>
        <p:blipFill>
          <a:blip r:embed="rId7"/>
          <a:srcRect t="2650" b="5367"/>
          <a:stretch>
            <a:fillRect/>
          </a:stretch>
        </p:blipFill>
        <p:spPr>
          <a:xfrm>
            <a:off x="2904066" y="3856519"/>
            <a:ext cx="5901267" cy="1417079"/>
          </a:xfrm>
          <a:prstGeom prst="rect">
            <a:avLst/>
          </a:prstGeom>
          <a:ln>
            <a:solidFill>
              <a:schemeClr val="tx1"/>
            </a:solidFill>
          </a:ln>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0870591-7B8F-CB89-7FF1-E806DD53D7C3}"/>
                  </a:ext>
                </a:extLst>
              </p:cNvPr>
              <p:cNvSpPr txBox="1"/>
              <p:nvPr/>
            </p:nvSpPr>
            <p:spPr>
              <a:xfrm>
                <a:off x="3680995" y="3517966"/>
                <a:ext cx="4466287" cy="338554"/>
              </a:xfrm>
              <a:prstGeom prst="rect">
                <a:avLst/>
              </a:prstGeom>
              <a:noFill/>
            </p:spPr>
            <p:txBody>
              <a:bodyPr wrap="none" rtlCol="0">
                <a:spAutoFit/>
              </a:bodyPr>
              <a:lstStyle/>
              <a:p>
                <a:pPr algn="ctr"/>
                <a:r>
                  <a:rPr lang="en-US" sz="1600" b="1" dirty="0">
                    <a:latin typeface="Google Sans" pitchFamily="2" charset="0"/>
                    <a:ea typeface="Google Sans" pitchFamily="2" charset="0"/>
                    <a:cs typeface="Google Sans" pitchFamily="2" charset="0"/>
                  </a:rPr>
                  <a:t>Fingerprint </a:t>
                </a:r>
                <a14:m>
                  <m:oMath xmlns:m="http://schemas.openxmlformats.org/officeDocument/2006/math">
                    <m:r>
                      <a:rPr lang="en-US" sz="1600" b="1" i="1" smtClean="0">
                        <a:latin typeface="Cambria Math" panose="02040503050406030204" pitchFamily="18" charset="0"/>
                        <a:ea typeface="Cambria Math" panose="02040503050406030204" pitchFamily="18" charset="0"/>
                        <a:cs typeface="Google Sans" pitchFamily="2" charset="0"/>
                      </a:rPr>
                      <m:t>≜</m:t>
                    </m:r>
                  </m:oMath>
                </a14:m>
                <a:r>
                  <a:rPr lang="en-US" sz="1600" b="1" dirty="0">
                    <a:latin typeface="Google Sans" pitchFamily="2" charset="0"/>
                    <a:ea typeface="Google Sans" pitchFamily="2" charset="0"/>
                    <a:cs typeface="Google Sans" pitchFamily="2" charset="0"/>
                  </a:rPr>
                  <a:t> </a:t>
                </a:r>
                <a:r>
                  <a:rPr lang="en-US" sz="1600" b="1" dirty="0">
                    <a:solidFill>
                      <a:srgbClr val="0070C0"/>
                    </a:solidFill>
                    <a:latin typeface="Google Sans" pitchFamily="2" charset="0"/>
                    <a:ea typeface="Google Sans" pitchFamily="2" charset="0"/>
                    <a:cs typeface="Google Sans" pitchFamily="2" charset="0"/>
                  </a:rPr>
                  <a:t>Power Spectrums </a:t>
                </a:r>
                <a:r>
                  <a:rPr lang="en-US" sz="1600" b="1" dirty="0">
                    <a:latin typeface="Google Sans" pitchFamily="2" charset="0"/>
                    <a:ea typeface="Google Sans" pitchFamily="2" charset="0"/>
                    <a:cs typeface="Google Sans" pitchFamily="2" charset="0"/>
                  </a:rPr>
                  <a:t>of an image</a:t>
                </a:r>
              </a:p>
            </p:txBody>
          </p:sp>
        </mc:Choice>
        <mc:Fallback xmlns="">
          <p:sp>
            <p:nvSpPr>
              <p:cNvPr id="21" name="TextBox 20">
                <a:extLst>
                  <a:ext uri="{FF2B5EF4-FFF2-40B4-BE49-F238E27FC236}">
                    <a16:creationId xmlns:a16="http://schemas.microsoft.com/office/drawing/2014/main" id="{00870591-7B8F-CB89-7FF1-E806DD53D7C3}"/>
                  </a:ext>
                </a:extLst>
              </p:cNvPr>
              <p:cNvSpPr txBox="1">
                <a:spLocks noRot="1" noChangeAspect="1" noMove="1" noResize="1" noEditPoints="1" noAdjustHandles="1" noChangeArrowheads="1" noChangeShapeType="1" noTextEdit="1"/>
              </p:cNvSpPr>
              <p:nvPr/>
            </p:nvSpPr>
            <p:spPr>
              <a:xfrm>
                <a:off x="3680995" y="3517966"/>
                <a:ext cx="4466287" cy="338554"/>
              </a:xfrm>
              <a:prstGeom prst="rect">
                <a:avLst/>
              </a:prstGeom>
              <a:blipFill>
                <a:blip r:embed="rId8"/>
                <a:stretch>
                  <a:fillRect l="-283" t="-3571" r="-283" b="-21429"/>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4CB9F7E6-DF07-A975-6FF4-8C21F81783FE}"/>
              </a:ext>
            </a:extLst>
          </p:cNvPr>
          <p:cNvSpPr txBox="1"/>
          <p:nvPr/>
        </p:nvSpPr>
        <p:spPr>
          <a:xfrm>
            <a:off x="1035535" y="5313852"/>
            <a:ext cx="9852705" cy="261610"/>
          </a:xfrm>
          <a:prstGeom prst="rect">
            <a:avLst/>
          </a:prstGeom>
          <a:noFill/>
        </p:spPr>
        <p:txBody>
          <a:bodyPr wrap="square">
            <a:spAutoFit/>
          </a:bodyPr>
          <a:lstStyle>
            <a:lvl1pPr algn="ctr">
              <a:defRPr sz="1200" i="1">
                <a:latin typeface="Google Sans" pitchFamily="2" charset="0"/>
                <a:ea typeface="Google Sans" pitchFamily="2" charset="0"/>
                <a:cs typeface="Google Sans" pitchFamily="2" charset="0"/>
              </a:defRPr>
            </a:lvl1pPr>
          </a:lstStyle>
          <a:p>
            <a:r>
              <a:rPr lang="en-US" sz="1100" dirty="0"/>
              <a:t>Watch your Up-Convolution: CNN Based Generative Deep Neural Networks are Failing to Reproduce Spectral Distributions. Durall et al.</a:t>
            </a:r>
          </a:p>
        </p:txBody>
      </p:sp>
      <p:sp>
        <p:nvSpPr>
          <p:cNvPr id="10" name="Text 4">
            <a:extLst>
              <a:ext uri="{FF2B5EF4-FFF2-40B4-BE49-F238E27FC236}">
                <a16:creationId xmlns:a16="http://schemas.microsoft.com/office/drawing/2014/main" id="{6C63FEDC-D682-1275-601D-F7340FD51B69}"/>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15" name="Text 5">
            <a:extLst>
              <a:ext uri="{FF2B5EF4-FFF2-40B4-BE49-F238E27FC236}">
                <a16:creationId xmlns:a16="http://schemas.microsoft.com/office/drawing/2014/main" id="{DC2DECAD-C39A-5189-DA9A-C0CAFA945E70}"/>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15</a:t>
            </a:r>
            <a:endParaRPr lang="en-US" sz="1100" dirty="0">
              <a:latin typeface="Google Sans" pitchFamily="2" charset="0"/>
              <a:ea typeface="Google Sans" pitchFamily="2" charset="0"/>
              <a:cs typeface="Google Sans" pitchFamily="2" charset="0"/>
            </a:endParaRPr>
          </a:p>
        </p:txBody>
      </p:sp>
    </p:spTree>
    <p:extLst>
      <p:ext uri="{BB962C8B-B14F-4D97-AF65-F5344CB8AC3E}">
        <p14:creationId xmlns:p14="http://schemas.microsoft.com/office/powerpoint/2010/main" val="2270952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dissolve">
                                      <p:cBhvr>
                                        <p:cTn id="10" dur="500"/>
                                        <p:tgtEl>
                                          <p:spTgt spid="11"/>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dissolv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dissolve">
                                      <p:cBhvr>
                                        <p:cTn id="18" dur="500"/>
                                        <p:tgtEl>
                                          <p:spTgt spid="12"/>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dissolve">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dissolve">
                                      <p:cBhvr>
                                        <p:cTn id="29" dur="500"/>
                                        <p:tgtEl>
                                          <p:spTgt spid="20"/>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dissolve">
                                      <p:cBhvr>
                                        <p:cTn id="32" dur="500"/>
                                        <p:tgtEl>
                                          <p:spTgt spid="21"/>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dissolve">
                                      <p:cBhvr>
                                        <p:cTn id="3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p:bldP spid="16" grpId="0"/>
      <p:bldP spid="21" grpId="0"/>
      <p:bldP spid="23"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BCCCCEFD-1798-BCE4-E6D0-FCCF74329A16}"/>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4894B801-FAA2-5241-8066-4CE8B4FE8B28}"/>
              </a:ext>
            </a:extLst>
          </p:cNvPr>
          <p:cNvSpPr/>
          <p:nvPr/>
        </p:nvSpPr>
        <p:spPr>
          <a:xfrm>
            <a:off x="658368" y="1228191"/>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dirty="0">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C120CBCB-DFAF-7464-50AC-B7762DA158F0}"/>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F95F4345-8262-A08A-9A54-07A0AA582C90}"/>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EC5BF1C0-DE29-D49D-984F-595DDFDB4C3B}"/>
              </a:ext>
            </a:extLst>
          </p:cNvPr>
          <p:cNvSpPr/>
          <p:nvPr/>
        </p:nvSpPr>
        <p:spPr>
          <a:xfrm>
            <a:off x="566928" y="448056"/>
            <a:ext cx="10789920" cy="384048"/>
          </a:xfrm>
          <a:prstGeom prst="rect">
            <a:avLst/>
          </a:prstGeom>
          <a:noFill/>
          <a:ln/>
        </p:spPr>
        <p:txBody>
          <a:bodyPr wrap="square" lIns="0" tIns="0" rIns="0" bIns="0" rtlCol="0" anchor="ctr"/>
          <a:lstStyle/>
          <a:p>
            <a:r>
              <a:rPr lang="en-US" sz="2400" b="1" dirty="0">
                <a:solidFill>
                  <a:srgbClr val="13293D"/>
                </a:solidFill>
                <a:latin typeface="Google Sans" pitchFamily="2" charset="0"/>
                <a:ea typeface="Google Sans" pitchFamily="2" charset="0"/>
                <a:cs typeface="Google Sans" pitchFamily="2" charset="0"/>
              </a:rPr>
              <a:t>Fingerprinting for model attribution</a:t>
            </a:r>
            <a:endParaRPr lang="en-US" sz="2400" dirty="0">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1E97C857-46CC-712F-A5CD-EED05496B381}"/>
              </a:ext>
            </a:extLst>
          </p:cNvPr>
          <p:cNvSpPr/>
          <p:nvPr/>
        </p:nvSpPr>
        <p:spPr>
          <a:xfrm>
            <a:off x="585216" y="834999"/>
            <a:ext cx="10972800" cy="274320"/>
          </a:xfrm>
          <a:prstGeom prst="rect">
            <a:avLst/>
          </a:prstGeom>
          <a:noFill/>
          <a:ln/>
        </p:spPr>
        <p:txBody>
          <a:bodyPr wrap="square" lIns="0" tIns="0" rIns="0" bIns="0" rtlCol="0" anchor="ctr"/>
          <a:lstStyle/>
          <a:p>
            <a:r>
              <a:rPr lang="en-US" sz="1600" dirty="0">
                <a:solidFill>
                  <a:srgbClr val="13293D"/>
                </a:solidFill>
                <a:latin typeface="Google Sans" pitchFamily="2" charset="0"/>
                <a:ea typeface="Google Sans" pitchFamily="2" charset="0"/>
                <a:cs typeface="Google Sans" pitchFamily="2" charset="0"/>
              </a:rPr>
              <a:t>Fingerprints can also be used for model attribution (which model generated this image?) with high accuracy.</a:t>
            </a:r>
            <a:endParaRPr lang="en-US" sz="1600" dirty="0">
              <a:latin typeface="Google Sans" pitchFamily="2" charset="0"/>
              <a:ea typeface="Google Sans" pitchFamily="2" charset="0"/>
              <a:cs typeface="Google Sans" pitchFamily="2" charset="0"/>
            </a:endParaRPr>
          </a:p>
        </p:txBody>
      </p:sp>
      <p:sp>
        <p:nvSpPr>
          <p:cNvPr id="17" name="Shape 14">
            <a:extLst>
              <a:ext uri="{FF2B5EF4-FFF2-40B4-BE49-F238E27FC236}">
                <a16:creationId xmlns:a16="http://schemas.microsoft.com/office/drawing/2014/main" id="{1E46EF1B-A1FA-2FAB-F987-1C008B1106CF}"/>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32D43D3F-54CE-3893-D5E0-31A2A7151B79}"/>
              </a:ext>
            </a:extLst>
          </p:cNvPr>
          <p:cNvSpPr/>
          <p:nvPr/>
        </p:nvSpPr>
        <p:spPr>
          <a:xfrm>
            <a:off x="854964" y="5861304"/>
            <a:ext cx="10469880" cy="164592"/>
          </a:xfrm>
          <a:prstGeom prst="rect">
            <a:avLst/>
          </a:prstGeom>
          <a:noFill/>
          <a:ln/>
        </p:spPr>
        <p:txBody>
          <a:bodyPr wrap="square" lIns="0" tIns="0" rIns="0" bIns="0" rtlCol="0" anchor="ctr"/>
          <a:lstStyle/>
          <a:p>
            <a:pPr marL="0" indent="0" algn="ctr">
              <a:buNone/>
            </a:pPr>
            <a:r>
              <a:rPr lang="en-US" sz="1500" dirty="0">
                <a:solidFill>
                  <a:srgbClr val="FFFFFF"/>
                </a:solidFill>
                <a:latin typeface="Google Sans" pitchFamily="2" charset="0"/>
                <a:ea typeface="Google Sans" pitchFamily="2" charset="0"/>
                <a:cs typeface="Google Sans" pitchFamily="2" charset="0"/>
              </a:rPr>
              <a:t>Fingerprinting works, but …</a:t>
            </a:r>
            <a:endParaRPr lang="en-US" sz="1500" dirty="0">
              <a:latin typeface="Google Sans" pitchFamily="2" charset="0"/>
              <a:ea typeface="Google Sans" pitchFamily="2" charset="0"/>
              <a:cs typeface="Google Sans" pitchFamily="2" charset="0"/>
            </a:endParaRPr>
          </a:p>
        </p:txBody>
      </p:sp>
      <p:sp>
        <p:nvSpPr>
          <p:cNvPr id="11" name="TextBox 10">
            <a:extLst>
              <a:ext uri="{FF2B5EF4-FFF2-40B4-BE49-F238E27FC236}">
                <a16:creationId xmlns:a16="http://schemas.microsoft.com/office/drawing/2014/main" id="{3F3CF1DA-E5E7-FF23-55B2-388B69E6143C}"/>
              </a:ext>
            </a:extLst>
          </p:cNvPr>
          <p:cNvSpPr txBox="1"/>
          <p:nvPr/>
        </p:nvSpPr>
        <p:spPr>
          <a:xfrm>
            <a:off x="915754" y="1360653"/>
            <a:ext cx="10358797" cy="523220"/>
          </a:xfrm>
          <a:prstGeom prst="rect">
            <a:avLst/>
          </a:prstGeom>
          <a:noFill/>
        </p:spPr>
        <p:txBody>
          <a:bodyPr wrap="square" rtlCol="0">
            <a:spAutoFit/>
          </a:bodyPr>
          <a:lstStyle/>
          <a:p>
            <a:r>
              <a:rPr lang="en-US" sz="1400" dirty="0">
                <a:latin typeface="Google Sans" pitchFamily="2" charset="0"/>
                <a:ea typeface="Google Sans" pitchFamily="2" charset="0"/>
                <a:cs typeface="Google Sans" pitchFamily="2" charset="0"/>
              </a:rPr>
              <a:t>M</a:t>
            </a:r>
            <a:r>
              <a:rPr lang="en-GB" sz="1400" dirty="0" err="1">
                <a:latin typeface="Google Sans" pitchFamily="2" charset="0"/>
                <a:ea typeface="Google Sans" pitchFamily="2" charset="0"/>
                <a:cs typeface="Google Sans" pitchFamily="2" charset="0"/>
              </a:rPr>
              <a:t>ost</a:t>
            </a:r>
            <a:r>
              <a:rPr lang="en-GB" sz="1400" dirty="0">
                <a:latin typeface="Google Sans" pitchFamily="2" charset="0"/>
                <a:ea typeface="Google Sans" pitchFamily="2" charset="0"/>
                <a:cs typeface="Google Sans" pitchFamily="2" charset="0"/>
              </a:rPr>
              <a:t> fingerprinting techniques achieve </a:t>
            </a:r>
            <a:r>
              <a:rPr lang="en-GB" sz="1400" b="1" dirty="0">
                <a:latin typeface="Google Sans" pitchFamily="2" charset="0"/>
                <a:ea typeface="Google Sans" pitchFamily="2" charset="0"/>
                <a:cs typeface="Google Sans" pitchFamily="2" charset="0"/>
              </a:rPr>
              <a:t>&gt;80% </a:t>
            </a:r>
            <a:r>
              <a:rPr lang="en-GB" sz="1400" dirty="0">
                <a:latin typeface="Google Sans" pitchFamily="2" charset="0"/>
                <a:ea typeface="Google Sans" pitchFamily="2" charset="0"/>
                <a:cs typeface="Google Sans" pitchFamily="2" charset="0"/>
              </a:rPr>
              <a:t>attribution accuracy in distinguishing facial images generated by different pre-trained GAN, VAE, and diffusion models trained on the same dataset. Some achieves </a:t>
            </a:r>
            <a:r>
              <a:rPr lang="en-GB" sz="1400" b="1" dirty="0">
                <a:latin typeface="Google Sans" pitchFamily="2" charset="0"/>
                <a:ea typeface="Google Sans" pitchFamily="2" charset="0"/>
                <a:cs typeface="Google Sans" pitchFamily="2" charset="0"/>
              </a:rPr>
              <a:t>&gt;95% </a:t>
            </a:r>
            <a:r>
              <a:rPr lang="en-GB" sz="1400" dirty="0">
                <a:latin typeface="Google Sans" pitchFamily="2" charset="0"/>
                <a:ea typeface="Google Sans" pitchFamily="2" charset="0"/>
                <a:cs typeface="Google Sans" pitchFamily="2" charset="0"/>
              </a:rPr>
              <a:t>accuracy.</a:t>
            </a:r>
            <a:endParaRPr lang="en-US" sz="1400" dirty="0">
              <a:latin typeface="Google Sans" pitchFamily="2" charset="0"/>
              <a:ea typeface="Google Sans" pitchFamily="2" charset="0"/>
              <a:cs typeface="Google Sans" pitchFamily="2" charset="0"/>
            </a:endParaRPr>
          </a:p>
        </p:txBody>
      </p:sp>
      <p:sp>
        <p:nvSpPr>
          <p:cNvPr id="12" name="TextBox 11">
            <a:extLst>
              <a:ext uri="{FF2B5EF4-FFF2-40B4-BE49-F238E27FC236}">
                <a16:creationId xmlns:a16="http://schemas.microsoft.com/office/drawing/2014/main" id="{DA2E6119-22D9-97D2-7923-1C99F18C0D25}"/>
              </a:ext>
            </a:extLst>
          </p:cNvPr>
          <p:cNvSpPr txBox="1"/>
          <p:nvPr/>
        </p:nvSpPr>
        <p:spPr>
          <a:xfrm>
            <a:off x="2530501" y="2103329"/>
            <a:ext cx="6862776" cy="338554"/>
          </a:xfrm>
          <a:prstGeom prst="rect">
            <a:avLst/>
          </a:prstGeom>
          <a:noFill/>
        </p:spPr>
        <p:txBody>
          <a:bodyPr wrap="none" rtlCol="0">
            <a:spAutoFit/>
          </a:bodyPr>
          <a:lstStyle/>
          <a:p>
            <a:pPr algn="ctr"/>
            <a:r>
              <a:rPr lang="en-US" sz="1600" b="1" dirty="0">
                <a:latin typeface="Google Sans" pitchFamily="2" charset="0"/>
                <a:ea typeface="Google Sans" pitchFamily="2" charset="0"/>
                <a:cs typeface="Google Sans" pitchFamily="2" charset="0"/>
              </a:rPr>
              <a:t>Model attribution accuracy of 14 different fingerprinting techniques</a:t>
            </a:r>
          </a:p>
        </p:txBody>
      </p:sp>
      <p:sp>
        <p:nvSpPr>
          <p:cNvPr id="14" name="TextBox 13">
            <a:extLst>
              <a:ext uri="{FF2B5EF4-FFF2-40B4-BE49-F238E27FC236}">
                <a16:creationId xmlns:a16="http://schemas.microsoft.com/office/drawing/2014/main" id="{DCDB9239-13C7-153E-6FD6-1C36FC7426B0}"/>
              </a:ext>
            </a:extLst>
          </p:cNvPr>
          <p:cNvSpPr txBox="1"/>
          <p:nvPr/>
        </p:nvSpPr>
        <p:spPr>
          <a:xfrm>
            <a:off x="2302981" y="4968436"/>
            <a:ext cx="7537270" cy="261610"/>
          </a:xfrm>
          <a:prstGeom prst="rect">
            <a:avLst/>
          </a:prstGeom>
          <a:noFill/>
        </p:spPr>
        <p:txBody>
          <a:bodyPr wrap="square">
            <a:spAutoFit/>
          </a:bodyPr>
          <a:lstStyle/>
          <a:p>
            <a:pPr algn="ctr"/>
            <a:r>
              <a:rPr lang="en-US" sz="1100" i="1" dirty="0">
                <a:latin typeface="Google Sans" pitchFamily="2" charset="0"/>
                <a:ea typeface="Google Sans" pitchFamily="2" charset="0"/>
                <a:cs typeface="Google Sans" pitchFamily="2" charset="0"/>
              </a:rPr>
              <a:t>Smudged Fingerprints: A Systematic Evaluation of the Robustness of AI Image Fingerprints</a:t>
            </a:r>
            <a:r>
              <a:rPr lang="en-US" altLang="zh-CN" sz="1100" i="1" dirty="0">
                <a:latin typeface="Google Sans" pitchFamily="2" charset="0"/>
                <a:ea typeface="Google Sans" pitchFamily="2" charset="0"/>
                <a:cs typeface="Google Sans" pitchFamily="2" charset="0"/>
              </a:rPr>
              <a:t>. Yao and Juarez.</a:t>
            </a:r>
            <a:endParaRPr lang="en-US" sz="1100" i="1" dirty="0">
              <a:latin typeface="Google Sans" pitchFamily="2" charset="0"/>
              <a:ea typeface="Google Sans" pitchFamily="2" charset="0"/>
              <a:cs typeface="Google Sans" pitchFamily="2" charset="0"/>
            </a:endParaRPr>
          </a:p>
        </p:txBody>
      </p:sp>
      <p:pic>
        <p:nvPicPr>
          <p:cNvPr id="13" name="Picture 12" descr="A table with numbers and symbols&#10;&#10;AI-generated content may be incorrect.">
            <a:extLst>
              <a:ext uri="{FF2B5EF4-FFF2-40B4-BE49-F238E27FC236}">
                <a16:creationId xmlns:a16="http://schemas.microsoft.com/office/drawing/2014/main" id="{1E8F142E-B3A0-64AF-803F-34458CD74852}"/>
              </a:ext>
            </a:extLst>
          </p:cNvPr>
          <p:cNvPicPr>
            <a:picLocks noChangeAspect="1"/>
          </p:cNvPicPr>
          <p:nvPr/>
        </p:nvPicPr>
        <p:blipFill>
          <a:blip r:embed="rId3"/>
          <a:stretch>
            <a:fillRect/>
          </a:stretch>
        </p:blipFill>
        <p:spPr>
          <a:xfrm>
            <a:off x="3344428" y="2441883"/>
            <a:ext cx="5234920" cy="2596576"/>
          </a:xfrm>
          <a:prstGeom prst="rect">
            <a:avLst/>
          </a:prstGeom>
        </p:spPr>
      </p:pic>
      <p:sp>
        <p:nvSpPr>
          <p:cNvPr id="9" name="Text 4">
            <a:extLst>
              <a:ext uri="{FF2B5EF4-FFF2-40B4-BE49-F238E27FC236}">
                <a16:creationId xmlns:a16="http://schemas.microsoft.com/office/drawing/2014/main" id="{1B639145-86AD-5826-716C-0FCB082FE809}"/>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10" name="Text 5">
            <a:extLst>
              <a:ext uri="{FF2B5EF4-FFF2-40B4-BE49-F238E27FC236}">
                <a16:creationId xmlns:a16="http://schemas.microsoft.com/office/drawing/2014/main" id="{94242457-6CD0-E7EB-8D0E-A843B1748E16}"/>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16</a:t>
            </a:r>
            <a:endParaRPr lang="en-US" sz="1100" dirty="0">
              <a:latin typeface="Google Sans" pitchFamily="2" charset="0"/>
              <a:ea typeface="Google Sans" pitchFamily="2" charset="0"/>
              <a:cs typeface="Google Sans" pitchFamily="2" charset="0"/>
            </a:endParaRPr>
          </a:p>
        </p:txBody>
      </p:sp>
    </p:spTree>
    <p:extLst>
      <p:ext uri="{BB962C8B-B14F-4D97-AF65-F5344CB8AC3E}">
        <p14:creationId xmlns:p14="http://schemas.microsoft.com/office/powerpoint/2010/main" val="4167668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0467D80B-89F6-7960-A650-F1FCD693F1F5}"/>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F7113B92-20FD-D146-2F24-9E61357F96A1}"/>
              </a:ext>
            </a:extLst>
          </p:cNvPr>
          <p:cNvSpPr/>
          <p:nvPr/>
        </p:nvSpPr>
        <p:spPr>
          <a:xfrm>
            <a:off x="658368" y="1228191"/>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dirty="0">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D2F823E3-2E79-3BD8-B942-2F894EC3B01D}"/>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9E7D82D2-B65C-532F-D03F-0B99B34F614A}"/>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C1DF6798-F779-D981-1B39-995B60AC8F5E}"/>
              </a:ext>
            </a:extLst>
          </p:cNvPr>
          <p:cNvSpPr/>
          <p:nvPr/>
        </p:nvSpPr>
        <p:spPr>
          <a:xfrm>
            <a:off x="566928" y="448056"/>
            <a:ext cx="10789920" cy="384048"/>
          </a:xfrm>
          <a:prstGeom prst="rect">
            <a:avLst/>
          </a:prstGeom>
          <a:noFill/>
          <a:ln/>
        </p:spPr>
        <p:txBody>
          <a:bodyPr wrap="square" lIns="0" tIns="0" rIns="0" bIns="0" rtlCol="0" anchor="ctr"/>
          <a:lstStyle/>
          <a:p>
            <a:r>
              <a:rPr lang="en-US" sz="2400" b="1" dirty="0">
                <a:solidFill>
                  <a:srgbClr val="13293D"/>
                </a:solidFill>
                <a:latin typeface="Google Sans" pitchFamily="2" charset="0"/>
                <a:ea typeface="Google Sans" pitchFamily="2" charset="0"/>
                <a:cs typeface="Google Sans" pitchFamily="2" charset="0"/>
              </a:rPr>
              <a:t>Do fingerprints survive edits and attacks?</a:t>
            </a:r>
            <a:endParaRPr lang="en-US" sz="2400" dirty="0">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150453F9-09DA-C314-817C-98D94548363E}"/>
              </a:ext>
            </a:extLst>
          </p:cNvPr>
          <p:cNvSpPr/>
          <p:nvPr/>
        </p:nvSpPr>
        <p:spPr>
          <a:xfrm>
            <a:off x="585216" y="834999"/>
            <a:ext cx="10972800" cy="274320"/>
          </a:xfrm>
          <a:prstGeom prst="rect">
            <a:avLst/>
          </a:prstGeom>
          <a:noFill/>
          <a:ln/>
        </p:spPr>
        <p:txBody>
          <a:bodyPr wrap="square" lIns="0" tIns="0" rIns="0" bIns="0" rtlCol="0" anchor="ctr"/>
          <a:lstStyle/>
          <a:p>
            <a:r>
              <a:rPr lang="en-GB" sz="1600" dirty="0">
                <a:solidFill>
                  <a:srgbClr val="5B6670"/>
                </a:solidFill>
                <a:latin typeface="Google Sans" pitchFamily="2" charset="0"/>
                <a:ea typeface="Google Sans" pitchFamily="2" charset="0"/>
                <a:cs typeface="Google Sans" pitchFamily="2" charset="0"/>
              </a:rPr>
              <a:t>However, fingerprints are similarly fragile and offer no more robustness than active watermarks.</a:t>
            </a:r>
          </a:p>
        </p:txBody>
      </p:sp>
      <p:sp>
        <p:nvSpPr>
          <p:cNvPr id="17" name="Shape 14">
            <a:extLst>
              <a:ext uri="{FF2B5EF4-FFF2-40B4-BE49-F238E27FC236}">
                <a16:creationId xmlns:a16="http://schemas.microsoft.com/office/drawing/2014/main" id="{CC14B1BC-DD69-2301-7550-3C1E6D58B87B}"/>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EED07ED3-4E01-585C-1AAE-153450661F79}"/>
              </a:ext>
            </a:extLst>
          </p:cNvPr>
          <p:cNvSpPr/>
          <p:nvPr/>
        </p:nvSpPr>
        <p:spPr>
          <a:xfrm>
            <a:off x="854964" y="5861304"/>
            <a:ext cx="10469880" cy="164592"/>
          </a:xfrm>
          <a:prstGeom prst="rect">
            <a:avLst/>
          </a:prstGeom>
          <a:noFill/>
          <a:ln/>
        </p:spPr>
        <p:txBody>
          <a:bodyPr wrap="square" lIns="0" tIns="0" rIns="0" bIns="0" rtlCol="0" anchor="ctr"/>
          <a:lstStyle/>
          <a:p>
            <a:pPr marL="0" indent="0" algn="ctr">
              <a:buNone/>
            </a:pPr>
            <a:r>
              <a:rPr lang="en-US" sz="1500" dirty="0">
                <a:solidFill>
                  <a:srgbClr val="FFFFFF"/>
                </a:solidFill>
                <a:latin typeface="Google Sans" pitchFamily="2" charset="0"/>
                <a:ea typeface="Google Sans" pitchFamily="2" charset="0"/>
                <a:cs typeface="Google Sans" pitchFamily="2" charset="0"/>
              </a:rPr>
              <a:t>Fingerprints are also fragile and can be easily manipulated by an active adversary.</a:t>
            </a:r>
            <a:endParaRPr lang="en-US" sz="1500" dirty="0">
              <a:latin typeface="Google Sans" pitchFamily="2" charset="0"/>
              <a:ea typeface="Google Sans" pitchFamily="2" charset="0"/>
              <a:cs typeface="Google Sans" pitchFamily="2" charset="0"/>
            </a:endParaRPr>
          </a:p>
        </p:txBody>
      </p:sp>
      <p:pic>
        <p:nvPicPr>
          <p:cNvPr id="10" name="Picture 9" descr="A table with numbers and symbols&#10;&#10;AI-generated content may be incorrect.">
            <a:extLst>
              <a:ext uri="{FF2B5EF4-FFF2-40B4-BE49-F238E27FC236}">
                <a16:creationId xmlns:a16="http://schemas.microsoft.com/office/drawing/2014/main" id="{1625A22E-0D6D-0578-87E8-9CCC96E5C6D6}"/>
              </a:ext>
            </a:extLst>
          </p:cNvPr>
          <p:cNvPicPr>
            <a:picLocks noChangeAspect="1"/>
          </p:cNvPicPr>
          <p:nvPr/>
        </p:nvPicPr>
        <p:blipFill>
          <a:blip r:embed="rId3"/>
          <a:stretch>
            <a:fillRect/>
          </a:stretch>
        </p:blipFill>
        <p:spPr>
          <a:xfrm>
            <a:off x="1786999" y="2549057"/>
            <a:ext cx="8349778" cy="2446612"/>
          </a:xfrm>
          <a:prstGeom prst="rect">
            <a:avLst/>
          </a:prstGeom>
        </p:spPr>
      </p:pic>
      <p:sp>
        <p:nvSpPr>
          <p:cNvPr id="11" name="TextBox 10">
            <a:extLst>
              <a:ext uri="{FF2B5EF4-FFF2-40B4-BE49-F238E27FC236}">
                <a16:creationId xmlns:a16="http://schemas.microsoft.com/office/drawing/2014/main" id="{A8C36565-96FE-8E5A-43EF-A8A96DFE01A3}"/>
              </a:ext>
            </a:extLst>
          </p:cNvPr>
          <p:cNvSpPr txBox="1"/>
          <p:nvPr/>
        </p:nvSpPr>
        <p:spPr>
          <a:xfrm>
            <a:off x="915755" y="1360653"/>
            <a:ext cx="9855200" cy="738664"/>
          </a:xfrm>
          <a:prstGeom prst="rect">
            <a:avLst/>
          </a:prstGeom>
          <a:noFill/>
        </p:spPr>
        <p:txBody>
          <a:bodyPr wrap="square" rtlCol="0">
            <a:spAutoFit/>
          </a:bodyPr>
          <a:lstStyle/>
          <a:p>
            <a:r>
              <a:rPr lang="en-GB" sz="1400" dirty="0">
                <a:latin typeface="Google Sans" pitchFamily="2" charset="0"/>
                <a:ea typeface="Google Sans" pitchFamily="2" charset="0"/>
                <a:cs typeface="Google Sans" pitchFamily="2" charset="0"/>
              </a:rPr>
              <a:t>Across the 14 fingerprinting methods we benchmarked, the removal success rate is very high under white‑box attacks, where the adversary has access to the fingerprinting mechanism. Even under black‑box editing attacks, such as JPEG compression, the success rate remains non‑negligible.</a:t>
            </a:r>
            <a:endParaRPr lang="en-US" sz="1400" dirty="0">
              <a:latin typeface="Google Sans" pitchFamily="2" charset="0"/>
              <a:ea typeface="Google Sans" pitchFamily="2" charset="0"/>
              <a:cs typeface="Google Sans" pitchFamily="2" charset="0"/>
            </a:endParaRPr>
          </a:p>
        </p:txBody>
      </p:sp>
      <p:sp>
        <p:nvSpPr>
          <p:cNvPr id="12" name="TextBox 11">
            <a:extLst>
              <a:ext uri="{FF2B5EF4-FFF2-40B4-BE49-F238E27FC236}">
                <a16:creationId xmlns:a16="http://schemas.microsoft.com/office/drawing/2014/main" id="{A07E0BB2-4D52-6284-C0FB-50FD542B4CA7}"/>
              </a:ext>
            </a:extLst>
          </p:cNvPr>
          <p:cNvSpPr txBox="1"/>
          <p:nvPr/>
        </p:nvSpPr>
        <p:spPr>
          <a:xfrm>
            <a:off x="2455960" y="2318773"/>
            <a:ext cx="7011856" cy="307777"/>
          </a:xfrm>
          <a:prstGeom prst="rect">
            <a:avLst/>
          </a:prstGeom>
          <a:noFill/>
        </p:spPr>
        <p:txBody>
          <a:bodyPr wrap="none" rtlCol="0">
            <a:spAutoFit/>
          </a:bodyPr>
          <a:lstStyle/>
          <a:p>
            <a:pPr algn="ctr"/>
            <a:r>
              <a:rPr lang="en-US" sz="1400" b="1" dirty="0">
                <a:latin typeface="Google Sans" pitchFamily="2" charset="0"/>
                <a:ea typeface="Google Sans" pitchFamily="2" charset="0"/>
                <a:cs typeface="Google Sans" pitchFamily="2" charset="0"/>
              </a:rPr>
              <a:t>Attack success rate (in %) of removal attacks against 14 fingerprinting methods</a:t>
            </a:r>
          </a:p>
        </p:txBody>
      </p:sp>
      <p:sp>
        <p:nvSpPr>
          <p:cNvPr id="14" name="TextBox 13">
            <a:extLst>
              <a:ext uri="{FF2B5EF4-FFF2-40B4-BE49-F238E27FC236}">
                <a16:creationId xmlns:a16="http://schemas.microsoft.com/office/drawing/2014/main" id="{4C145C3F-D8B8-8434-571B-792AA308093A}"/>
              </a:ext>
            </a:extLst>
          </p:cNvPr>
          <p:cNvSpPr txBox="1"/>
          <p:nvPr/>
        </p:nvSpPr>
        <p:spPr>
          <a:xfrm>
            <a:off x="2302981" y="4953515"/>
            <a:ext cx="7537270" cy="261610"/>
          </a:xfrm>
          <a:prstGeom prst="rect">
            <a:avLst/>
          </a:prstGeom>
          <a:noFill/>
        </p:spPr>
        <p:txBody>
          <a:bodyPr wrap="square">
            <a:spAutoFit/>
          </a:bodyPr>
          <a:lstStyle/>
          <a:p>
            <a:pPr algn="ctr"/>
            <a:r>
              <a:rPr lang="en-US" sz="1100" i="1" dirty="0">
                <a:latin typeface="Google Sans" pitchFamily="2" charset="0"/>
                <a:ea typeface="Google Sans" pitchFamily="2" charset="0"/>
                <a:cs typeface="Google Sans" pitchFamily="2" charset="0"/>
              </a:rPr>
              <a:t>Smudged Fingerprints: A Systematic Evaluation of the Robustness of AI Image Fingerprints</a:t>
            </a:r>
            <a:r>
              <a:rPr lang="en-US" altLang="zh-CN" sz="1100" i="1" dirty="0">
                <a:latin typeface="Google Sans" pitchFamily="2" charset="0"/>
                <a:ea typeface="Google Sans" pitchFamily="2" charset="0"/>
                <a:cs typeface="Google Sans" pitchFamily="2" charset="0"/>
              </a:rPr>
              <a:t>. Yao and Juarez.</a:t>
            </a:r>
            <a:endParaRPr lang="en-US" sz="1100" i="1" dirty="0">
              <a:latin typeface="Google Sans" pitchFamily="2" charset="0"/>
              <a:ea typeface="Google Sans" pitchFamily="2" charset="0"/>
              <a:cs typeface="Google Sans" pitchFamily="2" charset="0"/>
            </a:endParaRPr>
          </a:p>
        </p:txBody>
      </p:sp>
      <p:sp>
        <p:nvSpPr>
          <p:cNvPr id="9" name="Text 4">
            <a:extLst>
              <a:ext uri="{FF2B5EF4-FFF2-40B4-BE49-F238E27FC236}">
                <a16:creationId xmlns:a16="http://schemas.microsoft.com/office/drawing/2014/main" id="{51D5FA81-26E5-43CA-554C-9F42B2161AB4}"/>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13" name="Text 5">
            <a:extLst>
              <a:ext uri="{FF2B5EF4-FFF2-40B4-BE49-F238E27FC236}">
                <a16:creationId xmlns:a16="http://schemas.microsoft.com/office/drawing/2014/main" id="{A8466EC8-34AC-0395-711C-90C74E0F4503}"/>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17</a:t>
            </a:r>
            <a:endParaRPr lang="en-US" sz="1100" dirty="0">
              <a:latin typeface="Google Sans" pitchFamily="2" charset="0"/>
              <a:ea typeface="Google Sans" pitchFamily="2" charset="0"/>
              <a:cs typeface="Google Sans" pitchFamily="2" charset="0"/>
            </a:endParaRPr>
          </a:p>
        </p:txBody>
      </p:sp>
    </p:spTree>
    <p:extLst>
      <p:ext uri="{BB962C8B-B14F-4D97-AF65-F5344CB8AC3E}">
        <p14:creationId xmlns:p14="http://schemas.microsoft.com/office/powerpoint/2010/main" val="37721298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CA82F387-BE55-345E-3299-CCD208C20A31}"/>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D68B4849-521F-11ED-F488-8259BC5FB9DE}"/>
              </a:ext>
            </a:extLst>
          </p:cNvPr>
          <p:cNvSpPr/>
          <p:nvPr/>
        </p:nvSpPr>
        <p:spPr>
          <a:xfrm>
            <a:off x="658368" y="1228191"/>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dirty="0">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6A43504C-181C-0EAA-43D2-D95A47BFC8CC}"/>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34CCFC04-6C39-FB95-CC93-790D735ED12C}"/>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8FFB80D1-3E09-11F5-6A86-56882B8CD830}"/>
              </a:ext>
            </a:extLst>
          </p:cNvPr>
          <p:cNvSpPr/>
          <p:nvPr/>
        </p:nvSpPr>
        <p:spPr>
          <a:xfrm>
            <a:off x="566928" y="448056"/>
            <a:ext cx="10789920" cy="384048"/>
          </a:xfrm>
          <a:prstGeom prst="rect">
            <a:avLst/>
          </a:prstGeom>
          <a:noFill/>
          <a:ln/>
        </p:spPr>
        <p:txBody>
          <a:bodyPr wrap="square" lIns="0" tIns="0" rIns="0" bIns="0" rtlCol="0" anchor="ctr"/>
          <a:lstStyle/>
          <a:p>
            <a:r>
              <a:rPr lang="en-US" sz="2400" b="1" dirty="0">
                <a:solidFill>
                  <a:srgbClr val="13293D"/>
                </a:solidFill>
                <a:latin typeface="Google Sans" pitchFamily="2" charset="0"/>
                <a:ea typeface="Google Sans" pitchFamily="2" charset="0"/>
                <a:cs typeface="Google Sans" pitchFamily="2" charset="0"/>
              </a:rPr>
              <a:t>Summary: the “yes, but …”</a:t>
            </a:r>
            <a:endParaRPr lang="en-US" sz="2400" dirty="0">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F1A07313-2518-35FA-7A55-F3BEAA6FB057}"/>
              </a:ext>
            </a:extLst>
          </p:cNvPr>
          <p:cNvSpPr/>
          <p:nvPr/>
        </p:nvSpPr>
        <p:spPr>
          <a:xfrm>
            <a:off x="585216" y="834999"/>
            <a:ext cx="10972800" cy="274320"/>
          </a:xfrm>
          <a:prstGeom prst="rect">
            <a:avLst/>
          </a:prstGeom>
          <a:noFill/>
          <a:ln/>
        </p:spPr>
        <p:txBody>
          <a:bodyPr wrap="square" lIns="0" tIns="0" rIns="0" bIns="0" rtlCol="0" anchor="ctr"/>
          <a:lstStyle/>
          <a:p>
            <a:r>
              <a:rPr lang="en-US" sz="1600" dirty="0">
                <a:solidFill>
                  <a:srgbClr val="5B6670"/>
                </a:solidFill>
                <a:latin typeface="Google Sans" pitchFamily="2" charset="0"/>
                <a:ea typeface="Google Sans" pitchFamily="2" charset="0"/>
                <a:cs typeface="Google Sans" pitchFamily="2" charset="0"/>
              </a:rPr>
              <a:t>All current image provenance techniques seem to fall short on robustness.</a:t>
            </a:r>
            <a:endParaRPr lang="en-US" sz="1600" dirty="0">
              <a:latin typeface="Google Sans" pitchFamily="2" charset="0"/>
              <a:ea typeface="Google Sans" pitchFamily="2" charset="0"/>
              <a:cs typeface="Google Sans" pitchFamily="2" charset="0"/>
            </a:endParaRPr>
          </a:p>
        </p:txBody>
      </p:sp>
      <p:sp>
        <p:nvSpPr>
          <p:cNvPr id="17" name="Shape 14">
            <a:extLst>
              <a:ext uri="{FF2B5EF4-FFF2-40B4-BE49-F238E27FC236}">
                <a16:creationId xmlns:a16="http://schemas.microsoft.com/office/drawing/2014/main" id="{A0582067-3FC5-FCF8-B7BE-F116BCF8CA82}"/>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A1C13BF5-08E3-65C7-2C7B-F2E738122DBC}"/>
              </a:ext>
            </a:extLst>
          </p:cNvPr>
          <p:cNvSpPr/>
          <p:nvPr/>
        </p:nvSpPr>
        <p:spPr>
          <a:xfrm>
            <a:off x="854964" y="5861304"/>
            <a:ext cx="10469880" cy="164592"/>
          </a:xfrm>
          <a:prstGeom prst="rect">
            <a:avLst/>
          </a:prstGeom>
          <a:noFill/>
          <a:ln/>
        </p:spPr>
        <p:txBody>
          <a:bodyPr wrap="square" lIns="0" tIns="0" rIns="0" bIns="0" rtlCol="0" anchor="ctr"/>
          <a:lstStyle/>
          <a:p>
            <a:pPr algn="ctr"/>
            <a:r>
              <a:rPr lang="en-US" sz="1500" dirty="0">
                <a:solidFill>
                  <a:srgbClr val="FFFFFF"/>
                </a:solidFill>
                <a:latin typeface="Google Sans" pitchFamily="2" charset="0"/>
                <a:ea typeface="Google Sans" pitchFamily="2" charset="0"/>
                <a:cs typeface="Google Sans" pitchFamily="2" charset="0"/>
              </a:rPr>
              <a:t>Most current image provenance signals can be stripped or corrupted by common edits and advanced ML-based attacks.</a:t>
            </a:r>
            <a:endParaRPr lang="en-US" sz="1500" dirty="0">
              <a:latin typeface="Google Sans" pitchFamily="2" charset="0"/>
              <a:ea typeface="Google Sans" pitchFamily="2" charset="0"/>
              <a:cs typeface="Google Sans" pitchFamily="2" charset="0"/>
            </a:endParaRPr>
          </a:p>
        </p:txBody>
      </p:sp>
      <p:sp>
        <p:nvSpPr>
          <p:cNvPr id="9" name="TextBox 8">
            <a:extLst>
              <a:ext uri="{FF2B5EF4-FFF2-40B4-BE49-F238E27FC236}">
                <a16:creationId xmlns:a16="http://schemas.microsoft.com/office/drawing/2014/main" id="{DEF4BA24-0159-065F-6C2F-EECB719B9341}"/>
              </a:ext>
            </a:extLst>
          </p:cNvPr>
          <p:cNvSpPr txBox="1"/>
          <p:nvPr/>
        </p:nvSpPr>
        <p:spPr>
          <a:xfrm>
            <a:off x="997644" y="1665313"/>
            <a:ext cx="3070071" cy="338554"/>
          </a:xfrm>
          <a:prstGeom prst="rect">
            <a:avLst/>
          </a:prstGeom>
          <a:noFill/>
        </p:spPr>
        <p:txBody>
          <a:bodyPr wrap="none" rtlCol="0">
            <a:spAutoFit/>
          </a:bodyPr>
          <a:lstStyle/>
          <a:p>
            <a:r>
              <a:rPr lang="en-US" sz="1600" b="1" dirty="0">
                <a:latin typeface="Google Sans" pitchFamily="2" charset="0"/>
                <a:ea typeface="Google Sans" pitchFamily="2" charset="0"/>
                <a:cs typeface="Google Sans" pitchFamily="2" charset="0"/>
              </a:rPr>
              <a:t>C2PA doesn’t recognize edits</a:t>
            </a:r>
          </a:p>
        </p:txBody>
      </p:sp>
      <p:sp>
        <p:nvSpPr>
          <p:cNvPr id="10" name="TextBox 9">
            <a:extLst>
              <a:ext uri="{FF2B5EF4-FFF2-40B4-BE49-F238E27FC236}">
                <a16:creationId xmlns:a16="http://schemas.microsoft.com/office/drawing/2014/main" id="{A7E0DC4B-3D7B-DE58-8CAB-B8052E36A872}"/>
              </a:ext>
            </a:extLst>
          </p:cNvPr>
          <p:cNvSpPr txBox="1"/>
          <p:nvPr/>
        </p:nvSpPr>
        <p:spPr>
          <a:xfrm>
            <a:off x="4538296" y="1665313"/>
            <a:ext cx="3118161" cy="338554"/>
          </a:xfrm>
          <a:prstGeom prst="rect">
            <a:avLst/>
          </a:prstGeom>
          <a:noFill/>
        </p:spPr>
        <p:txBody>
          <a:bodyPr wrap="none" rtlCol="0">
            <a:spAutoFit/>
          </a:bodyPr>
          <a:lstStyle/>
          <a:p>
            <a:r>
              <a:rPr lang="en-US" sz="1600" b="1" dirty="0">
                <a:latin typeface="Google Sans" pitchFamily="2" charset="0"/>
                <a:ea typeface="Google Sans" pitchFamily="2" charset="0"/>
                <a:cs typeface="Google Sans" pitchFamily="2" charset="0"/>
              </a:rPr>
              <a:t>Watermarks can be unreliable</a:t>
            </a:r>
          </a:p>
        </p:txBody>
      </p:sp>
      <p:sp>
        <p:nvSpPr>
          <p:cNvPr id="11" name="TextBox 10">
            <a:extLst>
              <a:ext uri="{FF2B5EF4-FFF2-40B4-BE49-F238E27FC236}">
                <a16:creationId xmlns:a16="http://schemas.microsoft.com/office/drawing/2014/main" id="{DAAEBC6D-2038-4937-E838-A45C72FF6A59}"/>
              </a:ext>
            </a:extLst>
          </p:cNvPr>
          <p:cNvSpPr txBox="1"/>
          <p:nvPr/>
        </p:nvSpPr>
        <p:spPr>
          <a:xfrm>
            <a:off x="7758639" y="1665313"/>
            <a:ext cx="3576620" cy="338554"/>
          </a:xfrm>
          <a:prstGeom prst="rect">
            <a:avLst/>
          </a:prstGeom>
          <a:noFill/>
        </p:spPr>
        <p:txBody>
          <a:bodyPr wrap="none" rtlCol="0">
            <a:spAutoFit/>
          </a:bodyPr>
          <a:lstStyle/>
          <a:p>
            <a:r>
              <a:rPr lang="en-US" sz="1600" b="1" dirty="0">
                <a:latin typeface="Google Sans" pitchFamily="2" charset="0"/>
                <a:ea typeface="Google Sans" pitchFamily="2" charset="0"/>
                <a:cs typeface="Google Sans" pitchFamily="2" charset="0"/>
              </a:rPr>
              <a:t>Fingerprints can be stripped easily</a:t>
            </a:r>
          </a:p>
        </p:txBody>
      </p:sp>
      <p:pic>
        <p:nvPicPr>
          <p:cNvPr id="13" name="Picture 12" descr="A screenshot of a computer&#10;&#10;AI-generated content may be incorrect.">
            <a:extLst>
              <a:ext uri="{FF2B5EF4-FFF2-40B4-BE49-F238E27FC236}">
                <a16:creationId xmlns:a16="http://schemas.microsoft.com/office/drawing/2014/main" id="{709B5ABF-F099-CE3D-BE5D-FB9F51BAA39A}"/>
              </a:ext>
            </a:extLst>
          </p:cNvPr>
          <p:cNvPicPr>
            <a:picLocks noChangeAspect="1"/>
          </p:cNvPicPr>
          <p:nvPr/>
        </p:nvPicPr>
        <p:blipFill>
          <a:blip r:embed="rId3"/>
          <a:stretch>
            <a:fillRect/>
          </a:stretch>
        </p:blipFill>
        <p:spPr>
          <a:xfrm>
            <a:off x="854964" y="2198643"/>
            <a:ext cx="1827870" cy="2175920"/>
          </a:xfrm>
          <a:prstGeom prst="rect">
            <a:avLst/>
          </a:prstGeom>
          <a:ln>
            <a:solidFill>
              <a:schemeClr val="tx1"/>
            </a:solidFill>
          </a:ln>
        </p:spPr>
      </p:pic>
      <p:pic>
        <p:nvPicPr>
          <p:cNvPr id="15" name="Picture 14" descr="A screenshot of a phone&#10;&#10;AI-generated content may be incorrect.">
            <a:extLst>
              <a:ext uri="{FF2B5EF4-FFF2-40B4-BE49-F238E27FC236}">
                <a16:creationId xmlns:a16="http://schemas.microsoft.com/office/drawing/2014/main" id="{EDDA7193-5114-D99A-E66F-82B23328DEF2}"/>
              </a:ext>
            </a:extLst>
          </p:cNvPr>
          <p:cNvPicPr>
            <a:picLocks noChangeAspect="1"/>
          </p:cNvPicPr>
          <p:nvPr/>
        </p:nvPicPr>
        <p:blipFill>
          <a:blip r:embed="rId4"/>
          <a:stretch>
            <a:fillRect/>
          </a:stretch>
        </p:blipFill>
        <p:spPr>
          <a:xfrm>
            <a:off x="2364477" y="3059922"/>
            <a:ext cx="1827870" cy="2261913"/>
          </a:xfrm>
          <a:prstGeom prst="rect">
            <a:avLst/>
          </a:prstGeom>
          <a:ln>
            <a:solidFill>
              <a:schemeClr val="tx1"/>
            </a:solidFill>
          </a:ln>
        </p:spPr>
      </p:pic>
      <p:pic>
        <p:nvPicPr>
          <p:cNvPr id="16" name="Picture 15" descr="A diagram of different types of identification&#10;&#10;AI-generated content may be incorrect.">
            <a:extLst>
              <a:ext uri="{FF2B5EF4-FFF2-40B4-BE49-F238E27FC236}">
                <a16:creationId xmlns:a16="http://schemas.microsoft.com/office/drawing/2014/main" id="{562140A7-5A7E-4FA2-0021-DA8F334A29BB}"/>
              </a:ext>
            </a:extLst>
          </p:cNvPr>
          <p:cNvPicPr>
            <a:picLocks noChangeAspect="1"/>
          </p:cNvPicPr>
          <p:nvPr/>
        </p:nvPicPr>
        <p:blipFill>
          <a:blip r:embed="rId5"/>
          <a:stretch>
            <a:fillRect/>
          </a:stretch>
        </p:blipFill>
        <p:spPr>
          <a:xfrm>
            <a:off x="4976721" y="2048296"/>
            <a:ext cx="2189788" cy="1836053"/>
          </a:xfrm>
          <a:prstGeom prst="rect">
            <a:avLst/>
          </a:prstGeom>
          <a:ln>
            <a:solidFill>
              <a:schemeClr val="tx1"/>
            </a:solidFill>
          </a:ln>
        </p:spPr>
      </p:pic>
      <p:pic>
        <p:nvPicPr>
          <p:cNvPr id="19" name="Picture 18" descr="A person with brown hair wearing a hat&#10;&#10;AI-generated content may be incorrect.">
            <a:extLst>
              <a:ext uri="{FF2B5EF4-FFF2-40B4-BE49-F238E27FC236}">
                <a16:creationId xmlns:a16="http://schemas.microsoft.com/office/drawing/2014/main" id="{91FACC44-21D6-C53D-A675-276F2ED38FD4}"/>
              </a:ext>
            </a:extLst>
          </p:cNvPr>
          <p:cNvPicPr>
            <a:picLocks noChangeAspect="1"/>
          </p:cNvPicPr>
          <p:nvPr/>
        </p:nvPicPr>
        <p:blipFill>
          <a:blip r:embed="rId6"/>
          <a:stretch>
            <a:fillRect/>
          </a:stretch>
        </p:blipFill>
        <p:spPr>
          <a:xfrm>
            <a:off x="7995131" y="2280288"/>
            <a:ext cx="2945859" cy="1013723"/>
          </a:xfrm>
          <a:prstGeom prst="rect">
            <a:avLst/>
          </a:prstGeom>
        </p:spPr>
      </p:pic>
      <p:sp>
        <p:nvSpPr>
          <p:cNvPr id="20" name="TextBox 19">
            <a:extLst>
              <a:ext uri="{FF2B5EF4-FFF2-40B4-BE49-F238E27FC236}">
                <a16:creationId xmlns:a16="http://schemas.microsoft.com/office/drawing/2014/main" id="{993FD779-392F-694E-4FA9-F4DD6F6DF17E}"/>
              </a:ext>
            </a:extLst>
          </p:cNvPr>
          <p:cNvSpPr txBox="1"/>
          <p:nvPr/>
        </p:nvSpPr>
        <p:spPr>
          <a:xfrm>
            <a:off x="8125410" y="2011855"/>
            <a:ext cx="811441" cy="307777"/>
          </a:xfrm>
          <a:prstGeom prst="rect">
            <a:avLst/>
          </a:prstGeom>
          <a:noFill/>
        </p:spPr>
        <p:txBody>
          <a:bodyPr wrap="none" rtlCol="0">
            <a:spAutoFit/>
          </a:bodyPr>
          <a:lstStyle/>
          <a:p>
            <a:r>
              <a:rPr lang="en-US" sz="1400" dirty="0">
                <a:latin typeface="Google Sans" pitchFamily="2" charset="0"/>
                <a:ea typeface="Google Sans" pitchFamily="2" charset="0"/>
                <a:cs typeface="Google Sans" pitchFamily="2" charset="0"/>
              </a:rPr>
              <a:t>Original</a:t>
            </a:r>
          </a:p>
        </p:txBody>
      </p:sp>
      <p:sp>
        <p:nvSpPr>
          <p:cNvPr id="21" name="TextBox 20">
            <a:extLst>
              <a:ext uri="{FF2B5EF4-FFF2-40B4-BE49-F238E27FC236}">
                <a16:creationId xmlns:a16="http://schemas.microsoft.com/office/drawing/2014/main" id="{84812890-BAB1-CD04-E9C6-B45845A30A45}"/>
              </a:ext>
            </a:extLst>
          </p:cNvPr>
          <p:cNvSpPr txBox="1"/>
          <p:nvPr/>
        </p:nvSpPr>
        <p:spPr>
          <a:xfrm>
            <a:off x="9054038" y="2011855"/>
            <a:ext cx="925253" cy="307777"/>
          </a:xfrm>
          <a:prstGeom prst="rect">
            <a:avLst/>
          </a:prstGeom>
          <a:noFill/>
        </p:spPr>
        <p:txBody>
          <a:bodyPr wrap="none" rtlCol="0">
            <a:spAutoFit/>
          </a:bodyPr>
          <a:lstStyle/>
          <a:p>
            <a:r>
              <a:rPr lang="en-US" sz="1400" dirty="0">
                <a:latin typeface="Google Sans" pitchFamily="2" charset="0"/>
                <a:ea typeface="Google Sans" pitchFamily="2" charset="0"/>
                <a:cs typeface="Google Sans" pitchFamily="2" charset="0"/>
              </a:rPr>
              <a:t>Attacked</a:t>
            </a:r>
          </a:p>
        </p:txBody>
      </p:sp>
      <p:sp>
        <p:nvSpPr>
          <p:cNvPr id="22" name="TextBox 21">
            <a:extLst>
              <a:ext uri="{FF2B5EF4-FFF2-40B4-BE49-F238E27FC236}">
                <a16:creationId xmlns:a16="http://schemas.microsoft.com/office/drawing/2014/main" id="{7485DFC1-EF68-F590-6038-45FD71D0BEB0}"/>
              </a:ext>
            </a:extLst>
          </p:cNvPr>
          <p:cNvSpPr txBox="1"/>
          <p:nvPr/>
        </p:nvSpPr>
        <p:spPr>
          <a:xfrm>
            <a:off x="10248096" y="2015303"/>
            <a:ext cx="521297" cy="307777"/>
          </a:xfrm>
          <a:prstGeom prst="rect">
            <a:avLst/>
          </a:prstGeom>
          <a:noFill/>
        </p:spPr>
        <p:txBody>
          <a:bodyPr wrap="none" rtlCol="0">
            <a:spAutoFit/>
          </a:bodyPr>
          <a:lstStyle/>
          <a:p>
            <a:r>
              <a:rPr lang="en-US" sz="1400" dirty="0">
                <a:latin typeface="Google Sans" pitchFamily="2" charset="0"/>
                <a:ea typeface="Google Sans" pitchFamily="2" charset="0"/>
                <a:cs typeface="Google Sans" pitchFamily="2" charset="0"/>
              </a:rPr>
              <a:t>Diff.</a:t>
            </a:r>
          </a:p>
        </p:txBody>
      </p:sp>
      <p:pic>
        <p:nvPicPr>
          <p:cNvPr id="23" name="Picture 22" descr="A screenshot of a chat&#10;&#10;AI-generated content may be incorrect.">
            <a:extLst>
              <a:ext uri="{FF2B5EF4-FFF2-40B4-BE49-F238E27FC236}">
                <a16:creationId xmlns:a16="http://schemas.microsoft.com/office/drawing/2014/main" id="{5D7850DC-0BD3-E4B5-8C35-9448CA2AF546}"/>
              </a:ext>
            </a:extLst>
          </p:cNvPr>
          <p:cNvPicPr>
            <a:picLocks noChangeAspect="1"/>
          </p:cNvPicPr>
          <p:nvPr/>
        </p:nvPicPr>
        <p:blipFill>
          <a:blip r:embed="rId7"/>
          <a:stretch>
            <a:fillRect/>
          </a:stretch>
        </p:blipFill>
        <p:spPr>
          <a:xfrm>
            <a:off x="4796218" y="4003221"/>
            <a:ext cx="2587371" cy="1460326"/>
          </a:xfrm>
          <a:prstGeom prst="rect">
            <a:avLst/>
          </a:prstGeom>
          <a:ln>
            <a:solidFill>
              <a:schemeClr val="tx1"/>
            </a:solidFill>
          </a:ln>
        </p:spPr>
      </p:pic>
      <p:sp>
        <p:nvSpPr>
          <p:cNvPr id="12" name="Text 4">
            <a:extLst>
              <a:ext uri="{FF2B5EF4-FFF2-40B4-BE49-F238E27FC236}">
                <a16:creationId xmlns:a16="http://schemas.microsoft.com/office/drawing/2014/main" id="{D216E5C6-F02F-5D5F-6E83-F06D816FC975}"/>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14" name="Text 5">
            <a:extLst>
              <a:ext uri="{FF2B5EF4-FFF2-40B4-BE49-F238E27FC236}">
                <a16:creationId xmlns:a16="http://schemas.microsoft.com/office/drawing/2014/main" id="{15F66F9E-409E-90A7-328B-B9C613AB2882}"/>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18</a:t>
            </a:r>
            <a:endParaRPr lang="en-US" sz="1100" dirty="0">
              <a:latin typeface="Google Sans" pitchFamily="2" charset="0"/>
              <a:ea typeface="Google Sans" pitchFamily="2" charset="0"/>
              <a:cs typeface="Google Sans" pitchFamily="2" charset="0"/>
            </a:endParaRPr>
          </a:p>
        </p:txBody>
      </p:sp>
      <p:pic>
        <p:nvPicPr>
          <p:cNvPr id="6" name="Picture 5">
            <a:extLst>
              <a:ext uri="{FF2B5EF4-FFF2-40B4-BE49-F238E27FC236}">
                <a16:creationId xmlns:a16="http://schemas.microsoft.com/office/drawing/2014/main" id="{C8A0DFCD-3094-2CC3-9A57-69506697563F}"/>
              </a:ext>
            </a:extLst>
          </p:cNvPr>
          <p:cNvPicPr>
            <a:picLocks noChangeAspect="1"/>
          </p:cNvPicPr>
          <p:nvPr/>
        </p:nvPicPr>
        <p:blipFill>
          <a:blip r:embed="rId8"/>
          <a:srcRect b="5411"/>
          <a:stretch>
            <a:fillRect/>
          </a:stretch>
        </p:blipFill>
        <p:spPr>
          <a:xfrm>
            <a:off x="7964739" y="3293929"/>
            <a:ext cx="3031016" cy="1041646"/>
          </a:xfrm>
          <a:prstGeom prst="rect">
            <a:avLst/>
          </a:prstGeom>
        </p:spPr>
      </p:pic>
      <p:pic>
        <p:nvPicPr>
          <p:cNvPr id="7" name="Picture 6">
            <a:extLst>
              <a:ext uri="{FF2B5EF4-FFF2-40B4-BE49-F238E27FC236}">
                <a16:creationId xmlns:a16="http://schemas.microsoft.com/office/drawing/2014/main" id="{FABDD120-F378-52A3-C481-0613B08C3D2F}"/>
              </a:ext>
            </a:extLst>
          </p:cNvPr>
          <p:cNvPicPr>
            <a:picLocks noChangeAspect="1"/>
          </p:cNvPicPr>
          <p:nvPr/>
        </p:nvPicPr>
        <p:blipFill>
          <a:blip r:embed="rId9"/>
          <a:stretch>
            <a:fillRect/>
          </a:stretch>
        </p:blipFill>
        <p:spPr>
          <a:xfrm>
            <a:off x="7978845" y="4349348"/>
            <a:ext cx="2990107" cy="1080635"/>
          </a:xfrm>
          <a:prstGeom prst="rect">
            <a:avLst/>
          </a:prstGeom>
        </p:spPr>
      </p:pic>
    </p:spTree>
    <p:extLst>
      <p:ext uri="{BB962C8B-B14F-4D97-AF65-F5344CB8AC3E}">
        <p14:creationId xmlns:p14="http://schemas.microsoft.com/office/powerpoint/2010/main" val="2041269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par>
                                <p:cTn id="8" presetID="9"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dissolve">
                                      <p:cBhvr>
                                        <p:cTn id="10" dur="500"/>
                                        <p:tgtEl>
                                          <p:spTgt spid="13"/>
                                        </p:tgtEl>
                                      </p:cBhvr>
                                    </p:animEffect>
                                  </p:childTnLst>
                                </p:cTn>
                              </p:par>
                              <p:par>
                                <p:cTn id="11" presetID="9"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dissolve">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dissolve">
                                      <p:cBhvr>
                                        <p:cTn id="18" dur="500"/>
                                        <p:tgtEl>
                                          <p:spTgt spid="10"/>
                                        </p:tgtEl>
                                      </p:cBhvr>
                                    </p:animEffect>
                                  </p:childTnLst>
                                </p:cTn>
                              </p:par>
                              <p:par>
                                <p:cTn id="19" presetID="9"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dissolve">
                                      <p:cBhvr>
                                        <p:cTn id="21" dur="500"/>
                                        <p:tgtEl>
                                          <p:spTgt spid="16"/>
                                        </p:tgtEl>
                                      </p:cBhvr>
                                    </p:animEffect>
                                  </p:childTnLst>
                                </p:cTn>
                              </p:par>
                              <p:par>
                                <p:cTn id="22" presetID="9" presetClass="entr" presetSubtype="0" fill="hold"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dissolve">
                                      <p:cBhvr>
                                        <p:cTn id="24" dur="50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dissolve">
                                      <p:cBhvr>
                                        <p:cTn id="29" dur="500"/>
                                        <p:tgtEl>
                                          <p:spTgt spid="11"/>
                                        </p:tgtEl>
                                      </p:cBhvr>
                                    </p:animEffect>
                                  </p:childTnLst>
                                </p:cTn>
                              </p:par>
                              <p:par>
                                <p:cTn id="30" presetID="9"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dissolve">
                                      <p:cBhvr>
                                        <p:cTn id="32" dur="500"/>
                                        <p:tgtEl>
                                          <p:spTgt spid="19"/>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dissolve">
                                      <p:cBhvr>
                                        <p:cTn id="35" dur="500"/>
                                        <p:tgtEl>
                                          <p:spTgt spid="20"/>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dissolve">
                                      <p:cBhvr>
                                        <p:cTn id="38" dur="500"/>
                                        <p:tgtEl>
                                          <p:spTgt spid="21"/>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dissolve">
                                      <p:cBhvr>
                                        <p:cTn id="41" dur="500"/>
                                        <p:tgtEl>
                                          <p:spTgt spid="22"/>
                                        </p:tgtEl>
                                      </p:cBhvr>
                                    </p:animEffect>
                                  </p:childTnLst>
                                </p:cTn>
                              </p:par>
                              <p:par>
                                <p:cTn id="42" presetID="9" presetClass="entr" presetSubtype="0" fill="hold" nodeType="with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dissolve">
                                      <p:cBhvr>
                                        <p:cTn id="44" dur="500"/>
                                        <p:tgtEl>
                                          <p:spTgt spid="6"/>
                                        </p:tgtEl>
                                      </p:cBhvr>
                                    </p:animEffect>
                                  </p:childTnLst>
                                </p:cTn>
                              </p:par>
                              <p:par>
                                <p:cTn id="45" presetID="9" presetClass="entr" presetSubtype="0" fill="hold" nodeType="with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dissolve">
                                      <p:cBhvr>
                                        <p:cTn id="4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20" grpId="0"/>
      <p:bldP spid="21" grpId="0"/>
      <p:bldP spid="2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a:extLst>
            <a:ext uri="{FF2B5EF4-FFF2-40B4-BE49-F238E27FC236}">
              <a16:creationId xmlns:a16="http://schemas.microsoft.com/office/drawing/2014/main" id="{6CB7198F-748F-92AB-93A2-6238E28D9AEE}"/>
            </a:ext>
          </a:extLst>
        </p:cNvPr>
        <p:cNvGrpSpPr/>
        <p:nvPr/>
      </p:nvGrpSpPr>
      <p:grpSpPr>
        <a:xfrm>
          <a:off x="0" y="0"/>
          <a:ext cx="0" cy="0"/>
          <a:chOff x="0" y="0"/>
          <a:chExt cx="0" cy="0"/>
        </a:xfrm>
      </p:grpSpPr>
      <p:sp>
        <p:nvSpPr>
          <p:cNvPr id="8" name="Shape 6">
            <a:extLst>
              <a:ext uri="{FF2B5EF4-FFF2-40B4-BE49-F238E27FC236}">
                <a16:creationId xmlns:a16="http://schemas.microsoft.com/office/drawing/2014/main" id="{BCB7C281-735C-4DB2-CDEE-9932A17C5160}"/>
              </a:ext>
            </a:extLst>
          </p:cNvPr>
          <p:cNvSpPr/>
          <p:nvPr/>
        </p:nvSpPr>
        <p:spPr>
          <a:xfrm>
            <a:off x="658368" y="1228191"/>
            <a:ext cx="10863072" cy="4395365"/>
          </a:xfrm>
          <a:prstGeom prst="roundRect">
            <a:avLst>
              <a:gd name="adj" fmla="val 1633"/>
            </a:avLst>
          </a:prstGeom>
          <a:solidFill>
            <a:srgbClr val="FFFFFF"/>
          </a:solidFill>
          <a:ln w="12700">
            <a:solidFill>
              <a:srgbClr val="D0D7DE"/>
            </a:solidFill>
            <a:prstDash val="solid"/>
          </a:ln>
          <a:effectLst>
            <a:outerShdw blurRad="19050" dist="15240" dir="2700000" algn="bl" rotWithShape="0">
              <a:srgbClr val="000000">
                <a:alpha val="16000"/>
              </a:srgbClr>
            </a:outerShdw>
          </a:effectLst>
        </p:spPr>
        <p:txBody>
          <a:bodyPr/>
          <a:lstStyle/>
          <a:p>
            <a:endParaRPr lang="en-US">
              <a:latin typeface="Google Sans" pitchFamily="2" charset="0"/>
              <a:ea typeface="Google Sans" pitchFamily="2" charset="0"/>
              <a:cs typeface="Google Sans" pitchFamily="2" charset="0"/>
            </a:endParaRPr>
          </a:p>
        </p:txBody>
      </p:sp>
      <p:sp>
        <p:nvSpPr>
          <p:cNvPr id="2" name="Shape 0">
            <a:extLst>
              <a:ext uri="{FF2B5EF4-FFF2-40B4-BE49-F238E27FC236}">
                <a16:creationId xmlns:a16="http://schemas.microsoft.com/office/drawing/2014/main" id="{8F43D5CC-0B73-A228-E7E1-704222AC95B2}"/>
              </a:ext>
            </a:extLst>
          </p:cNvPr>
          <p:cNvSpPr/>
          <p:nvPr/>
        </p:nvSpPr>
        <p:spPr>
          <a:xfrm>
            <a:off x="0" y="0"/>
            <a:ext cx="12191695" cy="109728"/>
          </a:xfrm>
          <a:prstGeom prst="rect">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3" name="Shape 1">
            <a:extLst>
              <a:ext uri="{FF2B5EF4-FFF2-40B4-BE49-F238E27FC236}">
                <a16:creationId xmlns:a16="http://schemas.microsoft.com/office/drawing/2014/main" id="{A335A3AB-CE96-3BD9-C262-AE541D69016E}"/>
              </a:ext>
            </a:extLst>
          </p:cNvPr>
          <p:cNvSpPr/>
          <p:nvPr/>
        </p:nvSpPr>
        <p:spPr>
          <a:xfrm>
            <a:off x="502920" y="6364224"/>
            <a:ext cx="11183112" cy="0"/>
          </a:xfrm>
          <a:prstGeom prst="line">
            <a:avLst/>
          </a:prstGeom>
          <a:noFill/>
          <a:ln w="12700">
            <a:solidFill>
              <a:srgbClr val="D0D7DE"/>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4" name="Text 2">
            <a:extLst>
              <a:ext uri="{FF2B5EF4-FFF2-40B4-BE49-F238E27FC236}">
                <a16:creationId xmlns:a16="http://schemas.microsoft.com/office/drawing/2014/main" id="{54A744BD-9524-3950-2F77-EEE2DB22A7EA}"/>
              </a:ext>
            </a:extLst>
          </p:cNvPr>
          <p:cNvSpPr/>
          <p:nvPr/>
        </p:nvSpPr>
        <p:spPr>
          <a:xfrm>
            <a:off x="566928" y="448056"/>
            <a:ext cx="10789920" cy="384048"/>
          </a:xfrm>
          <a:prstGeom prst="rect">
            <a:avLst/>
          </a:prstGeom>
          <a:noFill/>
          <a:ln/>
        </p:spPr>
        <p:txBody>
          <a:bodyPr wrap="square" lIns="0" tIns="0" rIns="0" bIns="0" rtlCol="0" anchor="ctr"/>
          <a:lstStyle/>
          <a:p>
            <a:r>
              <a:rPr lang="en-US" sz="2400" b="1" dirty="0">
                <a:solidFill>
                  <a:srgbClr val="13293D"/>
                </a:solidFill>
                <a:latin typeface="Google Sans" pitchFamily="2" charset="0"/>
                <a:ea typeface="Google Sans" pitchFamily="2" charset="0"/>
                <a:cs typeface="Google Sans" pitchFamily="2" charset="0"/>
              </a:rPr>
              <a:t>What is the future landscape of AI image provenance?</a:t>
            </a:r>
            <a:endParaRPr lang="en-US" sz="2400" dirty="0">
              <a:latin typeface="Google Sans" pitchFamily="2" charset="0"/>
              <a:ea typeface="Google Sans" pitchFamily="2" charset="0"/>
              <a:cs typeface="Google Sans" pitchFamily="2" charset="0"/>
            </a:endParaRPr>
          </a:p>
        </p:txBody>
      </p:sp>
      <p:sp>
        <p:nvSpPr>
          <p:cNvPr id="5" name="Text 3">
            <a:extLst>
              <a:ext uri="{FF2B5EF4-FFF2-40B4-BE49-F238E27FC236}">
                <a16:creationId xmlns:a16="http://schemas.microsoft.com/office/drawing/2014/main" id="{44AC40B2-BF4F-7C13-6435-C8511EE2CA5C}"/>
              </a:ext>
            </a:extLst>
          </p:cNvPr>
          <p:cNvSpPr/>
          <p:nvPr/>
        </p:nvSpPr>
        <p:spPr>
          <a:xfrm>
            <a:off x="585216" y="834999"/>
            <a:ext cx="10972800" cy="274320"/>
          </a:xfrm>
          <a:prstGeom prst="rect">
            <a:avLst/>
          </a:prstGeom>
          <a:noFill/>
          <a:ln/>
        </p:spPr>
        <p:txBody>
          <a:bodyPr wrap="square" lIns="0" tIns="0" rIns="0" bIns="0" rtlCol="0" anchor="ctr"/>
          <a:lstStyle/>
          <a:p>
            <a:r>
              <a:rPr lang="en-US" sz="1600" dirty="0">
                <a:solidFill>
                  <a:srgbClr val="5B6670"/>
                </a:solidFill>
                <a:latin typeface="Google Sans" pitchFamily="2" charset="0"/>
                <a:ea typeface="Google Sans" pitchFamily="2" charset="0"/>
                <a:cs typeface="Google Sans" pitchFamily="2" charset="0"/>
              </a:rPr>
              <a:t>Going forward, what can we infer about this research field?</a:t>
            </a:r>
            <a:endParaRPr lang="en-US" sz="1600" dirty="0">
              <a:latin typeface="Google Sans" pitchFamily="2" charset="0"/>
              <a:ea typeface="Google Sans" pitchFamily="2" charset="0"/>
              <a:cs typeface="Google Sans" pitchFamily="2" charset="0"/>
            </a:endParaRPr>
          </a:p>
        </p:txBody>
      </p:sp>
      <p:sp>
        <p:nvSpPr>
          <p:cNvPr id="17" name="Shape 14">
            <a:extLst>
              <a:ext uri="{FF2B5EF4-FFF2-40B4-BE49-F238E27FC236}">
                <a16:creationId xmlns:a16="http://schemas.microsoft.com/office/drawing/2014/main" id="{4E918B34-D59D-81ED-DF39-C461E2B8864B}"/>
              </a:ext>
            </a:extLst>
          </p:cNvPr>
          <p:cNvSpPr/>
          <p:nvPr/>
        </p:nvSpPr>
        <p:spPr>
          <a:xfrm>
            <a:off x="658368" y="5742432"/>
            <a:ext cx="10863072" cy="402336"/>
          </a:xfrm>
          <a:prstGeom prst="roundRect">
            <a:avLst>
              <a:gd name="adj" fmla="val 18182"/>
            </a:avLst>
          </a:prstGeom>
          <a:solidFill>
            <a:srgbClr val="13293D"/>
          </a:solidFill>
          <a:ln w="12700">
            <a:solidFill>
              <a:srgbClr val="13293D"/>
            </a:solidFill>
            <a:prstDash val="solid"/>
          </a:ln>
        </p:spPr>
        <p:txBody>
          <a:bodyPr/>
          <a:lstStyle/>
          <a:p>
            <a:endParaRPr lang="en-US">
              <a:latin typeface="Google Sans" pitchFamily="2" charset="0"/>
              <a:ea typeface="Google Sans" pitchFamily="2" charset="0"/>
              <a:cs typeface="Google Sans" pitchFamily="2" charset="0"/>
            </a:endParaRPr>
          </a:p>
        </p:txBody>
      </p:sp>
      <p:sp>
        <p:nvSpPr>
          <p:cNvPr id="18" name="Text 15">
            <a:extLst>
              <a:ext uri="{FF2B5EF4-FFF2-40B4-BE49-F238E27FC236}">
                <a16:creationId xmlns:a16="http://schemas.microsoft.com/office/drawing/2014/main" id="{7C746389-C0A8-1BC4-7316-E5C6E5789CAF}"/>
              </a:ext>
            </a:extLst>
          </p:cNvPr>
          <p:cNvSpPr/>
          <p:nvPr/>
        </p:nvSpPr>
        <p:spPr>
          <a:xfrm>
            <a:off x="854964" y="5861304"/>
            <a:ext cx="10469880" cy="164592"/>
          </a:xfrm>
          <a:prstGeom prst="rect">
            <a:avLst/>
          </a:prstGeom>
          <a:noFill/>
          <a:ln/>
        </p:spPr>
        <p:txBody>
          <a:bodyPr wrap="square" lIns="0" tIns="0" rIns="0" bIns="0" rtlCol="0" anchor="ctr"/>
          <a:lstStyle/>
          <a:p>
            <a:pPr marL="0" indent="0" algn="ctr">
              <a:buNone/>
            </a:pPr>
            <a:r>
              <a:rPr lang="en-US" sz="1500" dirty="0">
                <a:solidFill>
                  <a:srgbClr val="FFFFFF"/>
                </a:solidFill>
                <a:latin typeface="Google Sans" pitchFamily="2" charset="0"/>
                <a:ea typeface="Google Sans" pitchFamily="2" charset="0"/>
                <a:cs typeface="Google Sans" pitchFamily="2" charset="0"/>
              </a:rPr>
              <a:t>The research in AI image provenance should be more use-case-centered and deployment-facing.</a:t>
            </a:r>
            <a:endParaRPr lang="en-US" sz="1500" dirty="0">
              <a:latin typeface="Google Sans" pitchFamily="2" charset="0"/>
              <a:ea typeface="Google Sans" pitchFamily="2" charset="0"/>
              <a:cs typeface="Google Sans" pitchFamily="2" charset="0"/>
            </a:endParaRPr>
          </a:p>
        </p:txBody>
      </p:sp>
      <p:sp>
        <p:nvSpPr>
          <p:cNvPr id="11" name="TextBox 10">
            <a:extLst>
              <a:ext uri="{FF2B5EF4-FFF2-40B4-BE49-F238E27FC236}">
                <a16:creationId xmlns:a16="http://schemas.microsoft.com/office/drawing/2014/main" id="{F42928ED-0548-1878-86D5-FAA7B8CD2E95}"/>
              </a:ext>
            </a:extLst>
          </p:cNvPr>
          <p:cNvSpPr txBox="1"/>
          <p:nvPr/>
        </p:nvSpPr>
        <p:spPr>
          <a:xfrm>
            <a:off x="2441359" y="1936062"/>
            <a:ext cx="8915489" cy="3046988"/>
          </a:xfrm>
          <a:prstGeom prst="rect">
            <a:avLst/>
          </a:prstGeom>
          <a:noFill/>
        </p:spPr>
        <p:txBody>
          <a:bodyPr wrap="square">
            <a:spAutoFit/>
          </a:bodyPr>
          <a:lstStyle/>
          <a:p>
            <a:r>
              <a:rPr lang="en-GB" sz="1600" b="1" dirty="0">
                <a:solidFill>
                  <a:srgbClr val="4E71AE"/>
                </a:solidFill>
                <a:latin typeface="Google Sans" pitchFamily="2" charset="0"/>
                <a:ea typeface="Google Sans" pitchFamily="2" charset="0"/>
                <a:cs typeface="Google Sans" pitchFamily="2" charset="0"/>
              </a:rPr>
              <a:t>Use-Case</a:t>
            </a:r>
            <a:r>
              <a:rPr lang="en-GB" sz="1600" b="1" dirty="0">
                <a:latin typeface="Google Sans" pitchFamily="2" charset="0"/>
                <a:ea typeface="Google Sans" pitchFamily="2" charset="0"/>
                <a:cs typeface="Google Sans" pitchFamily="2" charset="0"/>
              </a:rPr>
              <a:t>-</a:t>
            </a:r>
            <a:r>
              <a:rPr lang="en-GB" sz="1600" b="1" dirty="0" err="1">
                <a:latin typeface="Google Sans" pitchFamily="2" charset="0"/>
                <a:ea typeface="Google Sans" pitchFamily="2" charset="0"/>
                <a:cs typeface="Google Sans" pitchFamily="2" charset="0"/>
              </a:rPr>
              <a:t>Centered</a:t>
            </a:r>
            <a:r>
              <a:rPr lang="en-GB" sz="1600" b="1" dirty="0">
                <a:latin typeface="Google Sans" pitchFamily="2" charset="0"/>
                <a:ea typeface="Google Sans" pitchFamily="2" charset="0"/>
                <a:cs typeface="Google Sans" pitchFamily="2" charset="0"/>
              </a:rPr>
              <a:t> Design: </a:t>
            </a:r>
            <a:r>
              <a:rPr lang="en-GB" sz="1600" dirty="0">
                <a:latin typeface="Google Sans" pitchFamily="2" charset="0"/>
                <a:ea typeface="Google Sans" pitchFamily="2" charset="0"/>
                <a:cs typeface="Google Sans" pitchFamily="2" charset="0"/>
              </a:rPr>
              <a:t>Provenance techniques must be tailored to specific threat models—[IP protection] assumes malicious forgers, while [forensics] assumes malicious erasers</a:t>
            </a:r>
          </a:p>
          <a:p>
            <a:endParaRPr lang="en-US" sz="1600" dirty="0">
              <a:solidFill>
                <a:srgbClr val="5B6670"/>
              </a:solidFill>
              <a:latin typeface="Google Sans" pitchFamily="2" charset="0"/>
              <a:ea typeface="Google Sans" pitchFamily="2" charset="0"/>
              <a:cs typeface="Google Sans" pitchFamily="2" charset="0"/>
            </a:endParaRPr>
          </a:p>
          <a:p>
            <a:endParaRPr lang="en-US" sz="1600" dirty="0">
              <a:solidFill>
                <a:srgbClr val="5B6670"/>
              </a:solidFill>
              <a:latin typeface="Google Sans" pitchFamily="2" charset="0"/>
              <a:ea typeface="Google Sans" pitchFamily="2" charset="0"/>
              <a:cs typeface="Google Sans" pitchFamily="2" charset="0"/>
            </a:endParaRPr>
          </a:p>
          <a:p>
            <a:endParaRPr lang="en-US" sz="1600" dirty="0">
              <a:solidFill>
                <a:srgbClr val="4E71AE"/>
              </a:solidFill>
              <a:latin typeface="Google Sans" pitchFamily="2" charset="0"/>
              <a:ea typeface="Google Sans" pitchFamily="2" charset="0"/>
              <a:cs typeface="Google Sans" pitchFamily="2" charset="0"/>
            </a:endParaRPr>
          </a:p>
          <a:p>
            <a:r>
              <a:rPr lang="en-GB" sz="1600" b="1" dirty="0">
                <a:solidFill>
                  <a:srgbClr val="4E71AE"/>
                </a:solidFill>
                <a:latin typeface="Google Sans" pitchFamily="2" charset="0"/>
                <a:ea typeface="Google Sans" pitchFamily="2" charset="0"/>
                <a:cs typeface="Google Sans" pitchFamily="2" charset="0"/>
              </a:rPr>
              <a:t>Multi-Layer </a:t>
            </a:r>
            <a:r>
              <a:rPr lang="en-GB" sz="1600" b="1" dirty="0" err="1">
                <a:latin typeface="Google Sans" pitchFamily="2" charset="0"/>
                <a:ea typeface="Google Sans" pitchFamily="2" charset="0"/>
                <a:cs typeface="Google Sans" pitchFamily="2" charset="0"/>
              </a:rPr>
              <a:t>Defense</a:t>
            </a:r>
            <a:r>
              <a:rPr lang="en-GB" sz="1600" b="1" dirty="0">
                <a:latin typeface="Google Sans" pitchFamily="2" charset="0"/>
                <a:ea typeface="Google Sans" pitchFamily="2" charset="0"/>
                <a:cs typeface="Google Sans" pitchFamily="2" charset="0"/>
              </a:rPr>
              <a:t> Systems</a:t>
            </a:r>
            <a:r>
              <a:rPr lang="en-US" sz="1600" dirty="0">
                <a:solidFill>
                  <a:srgbClr val="5B6670"/>
                </a:solidFill>
                <a:latin typeface="Google Sans" pitchFamily="2" charset="0"/>
                <a:ea typeface="Google Sans" pitchFamily="2" charset="0"/>
                <a:cs typeface="Google Sans" pitchFamily="2" charset="0"/>
              </a:rPr>
              <a:t>: </a:t>
            </a:r>
            <a:r>
              <a:rPr lang="en-GB" sz="1600" dirty="0">
                <a:latin typeface="Google Sans" pitchFamily="2" charset="0"/>
                <a:ea typeface="Google Sans" pitchFamily="2" charset="0"/>
                <a:cs typeface="Google Sans" pitchFamily="2" charset="0"/>
              </a:rPr>
              <a:t>Combine C2PA hard binding + watermarking + fingerprinting into integrated three-layer provenance architectures for comprehensive attack resistance</a:t>
            </a:r>
          </a:p>
          <a:p>
            <a:endParaRPr lang="en-US" sz="1600" dirty="0">
              <a:solidFill>
                <a:srgbClr val="5B6670"/>
              </a:solidFill>
              <a:latin typeface="Google Sans" pitchFamily="2" charset="0"/>
              <a:ea typeface="Google Sans" pitchFamily="2" charset="0"/>
              <a:cs typeface="Google Sans" pitchFamily="2" charset="0"/>
            </a:endParaRPr>
          </a:p>
          <a:p>
            <a:endParaRPr lang="en-US" sz="1600" dirty="0">
              <a:solidFill>
                <a:srgbClr val="5B6670"/>
              </a:solidFill>
              <a:latin typeface="Google Sans" pitchFamily="2" charset="0"/>
              <a:ea typeface="Google Sans" pitchFamily="2" charset="0"/>
              <a:cs typeface="Google Sans" pitchFamily="2" charset="0"/>
            </a:endParaRPr>
          </a:p>
          <a:p>
            <a:endParaRPr lang="en-US" sz="1600" dirty="0">
              <a:solidFill>
                <a:srgbClr val="5B6670"/>
              </a:solidFill>
              <a:latin typeface="Google Sans" pitchFamily="2" charset="0"/>
              <a:ea typeface="Google Sans" pitchFamily="2" charset="0"/>
              <a:cs typeface="Google Sans" pitchFamily="2" charset="0"/>
            </a:endParaRPr>
          </a:p>
          <a:p>
            <a:r>
              <a:rPr lang="en-GB" sz="1600" b="1" dirty="0">
                <a:latin typeface="Google Sans" pitchFamily="2" charset="0"/>
                <a:ea typeface="Google Sans" pitchFamily="2" charset="0"/>
                <a:cs typeface="Google Sans" pitchFamily="2" charset="0"/>
              </a:rPr>
              <a:t>Urgent Need for </a:t>
            </a:r>
            <a:r>
              <a:rPr lang="en-GB" sz="1600" b="1" dirty="0">
                <a:solidFill>
                  <a:srgbClr val="4E71AE"/>
                </a:solidFill>
                <a:latin typeface="Google Sans" pitchFamily="2" charset="0"/>
                <a:ea typeface="Google Sans" pitchFamily="2" charset="0"/>
                <a:cs typeface="Google Sans" pitchFamily="2" charset="0"/>
              </a:rPr>
              <a:t>Video Provenance</a:t>
            </a:r>
            <a:r>
              <a:rPr lang="en-US" sz="1600" b="1" dirty="0">
                <a:solidFill>
                  <a:srgbClr val="5B6670"/>
                </a:solidFill>
                <a:latin typeface="Google Sans" pitchFamily="2" charset="0"/>
                <a:ea typeface="Google Sans" pitchFamily="2" charset="0"/>
                <a:cs typeface="Google Sans" pitchFamily="2" charset="0"/>
              </a:rPr>
              <a:t>: </a:t>
            </a:r>
            <a:r>
              <a:rPr lang="en-GB" sz="1600" dirty="0">
                <a:latin typeface="Google Sans" pitchFamily="2" charset="0"/>
                <a:ea typeface="Google Sans" pitchFamily="2" charset="0"/>
                <a:cs typeface="Google Sans" pitchFamily="2" charset="0"/>
              </a:rPr>
              <a:t>Recent breakthroughs (e.g., </a:t>
            </a:r>
            <a:r>
              <a:rPr lang="en-US" sz="1600" dirty="0">
                <a:latin typeface="Google Sans" pitchFamily="2" charset="0"/>
                <a:ea typeface="Google Sans" pitchFamily="2" charset="0"/>
                <a:cs typeface="Google Sans" pitchFamily="2" charset="0"/>
              </a:rPr>
              <a:t>Sora, </a:t>
            </a:r>
            <a:r>
              <a:rPr lang="en-GB" sz="1600" dirty="0" err="1">
                <a:latin typeface="Google Sans" pitchFamily="2" charset="0"/>
                <a:ea typeface="Google Sans" pitchFamily="2" charset="0"/>
                <a:cs typeface="Google Sans" pitchFamily="2" charset="0"/>
              </a:rPr>
              <a:t>Seedance</a:t>
            </a:r>
            <a:r>
              <a:rPr lang="en-GB" sz="1600" dirty="0">
                <a:latin typeface="Google Sans" pitchFamily="2" charset="0"/>
                <a:ea typeface="Google Sans" pitchFamily="2" charset="0"/>
                <a:cs typeface="Google Sans" pitchFamily="2" charset="0"/>
              </a:rPr>
              <a:t> 2.0) deliver hyper-realistic video generation—robust video provenance solutions are getting critical</a:t>
            </a:r>
          </a:p>
        </p:txBody>
      </p:sp>
      <p:pic>
        <p:nvPicPr>
          <p:cNvPr id="13" name="Picture 12">
            <a:extLst>
              <a:ext uri="{FF2B5EF4-FFF2-40B4-BE49-F238E27FC236}">
                <a16:creationId xmlns:a16="http://schemas.microsoft.com/office/drawing/2014/main" id="{3C7DC0EB-6664-7B66-1DFA-85B46C87D2C1}"/>
              </a:ext>
            </a:extLst>
          </p:cNvPr>
          <p:cNvPicPr>
            <a:picLocks noChangeAspect="1"/>
          </p:cNvPicPr>
          <p:nvPr/>
        </p:nvPicPr>
        <p:blipFill>
          <a:blip r:embed="rId3"/>
          <a:srcRect l="15687" t="13385" r="17751" b="10059"/>
          <a:stretch>
            <a:fillRect/>
          </a:stretch>
        </p:blipFill>
        <p:spPr>
          <a:xfrm>
            <a:off x="1173000" y="1694244"/>
            <a:ext cx="939474" cy="1080523"/>
          </a:xfrm>
          <a:prstGeom prst="rect">
            <a:avLst/>
          </a:prstGeom>
        </p:spPr>
      </p:pic>
      <p:pic>
        <p:nvPicPr>
          <p:cNvPr id="14" name="Picture 13">
            <a:extLst>
              <a:ext uri="{FF2B5EF4-FFF2-40B4-BE49-F238E27FC236}">
                <a16:creationId xmlns:a16="http://schemas.microsoft.com/office/drawing/2014/main" id="{58C54467-58E3-C370-FDF0-CCD485654733}"/>
              </a:ext>
            </a:extLst>
          </p:cNvPr>
          <p:cNvPicPr>
            <a:picLocks noChangeAspect="1"/>
          </p:cNvPicPr>
          <p:nvPr/>
        </p:nvPicPr>
        <p:blipFill>
          <a:blip r:embed="rId4"/>
          <a:srcRect l="29374" t="8034" r="21072" b="5973"/>
          <a:stretch>
            <a:fillRect/>
          </a:stretch>
        </p:blipFill>
        <p:spPr>
          <a:xfrm>
            <a:off x="1199128" y="2893643"/>
            <a:ext cx="1063381" cy="1005567"/>
          </a:xfrm>
          <a:prstGeom prst="rect">
            <a:avLst/>
          </a:prstGeom>
        </p:spPr>
      </p:pic>
      <p:pic>
        <p:nvPicPr>
          <p:cNvPr id="15" name="Picture 14">
            <a:extLst>
              <a:ext uri="{FF2B5EF4-FFF2-40B4-BE49-F238E27FC236}">
                <a16:creationId xmlns:a16="http://schemas.microsoft.com/office/drawing/2014/main" id="{69CADA40-03F5-7248-49FE-0A355FE7F392}"/>
              </a:ext>
            </a:extLst>
          </p:cNvPr>
          <p:cNvPicPr>
            <a:picLocks noChangeAspect="1"/>
          </p:cNvPicPr>
          <p:nvPr/>
        </p:nvPicPr>
        <p:blipFill>
          <a:blip r:embed="rId5"/>
          <a:srcRect l="26389" t="13974" r="24995" b="13031"/>
          <a:stretch>
            <a:fillRect/>
          </a:stretch>
        </p:blipFill>
        <p:spPr>
          <a:xfrm>
            <a:off x="1028132" y="4118666"/>
            <a:ext cx="1277333" cy="1045090"/>
          </a:xfrm>
          <a:prstGeom prst="rect">
            <a:avLst/>
          </a:prstGeom>
        </p:spPr>
      </p:pic>
      <p:sp>
        <p:nvSpPr>
          <p:cNvPr id="9" name="Text 4">
            <a:extLst>
              <a:ext uri="{FF2B5EF4-FFF2-40B4-BE49-F238E27FC236}">
                <a16:creationId xmlns:a16="http://schemas.microsoft.com/office/drawing/2014/main" id="{F806594F-11CA-B438-5817-F5F72DC7C215}"/>
              </a:ext>
            </a:extLst>
          </p:cNvPr>
          <p:cNvSpPr/>
          <p:nvPr/>
        </p:nvSpPr>
        <p:spPr>
          <a:xfrm>
            <a:off x="502920" y="6463479"/>
            <a:ext cx="3114487" cy="177954"/>
          </a:xfrm>
          <a:prstGeom prst="rect">
            <a:avLst/>
          </a:prstGeom>
          <a:noFill/>
          <a:ln/>
        </p:spPr>
        <p:txBody>
          <a:bodyPr wrap="square" lIns="0" tIns="0" rIns="0" bIns="0" rtlCol="0" anchor="ctr"/>
          <a:lstStyle/>
          <a:p>
            <a:pPr marL="0" indent="0">
              <a:buNone/>
            </a:pPr>
            <a:r>
              <a:rPr lang="en-US" sz="1100" dirty="0">
                <a:solidFill>
                  <a:srgbClr val="5B6670"/>
                </a:solidFill>
                <a:latin typeface="Google Sans" pitchFamily="2" charset="0"/>
                <a:ea typeface="Google Sans" pitchFamily="2" charset="0"/>
                <a:cs typeface="Google Sans" pitchFamily="2" charset="0"/>
              </a:rPr>
              <a:t>Privacy and Security with Machine Learning</a:t>
            </a:r>
            <a:endParaRPr lang="en-US" sz="1100" dirty="0">
              <a:latin typeface="Google Sans" pitchFamily="2" charset="0"/>
              <a:ea typeface="Google Sans" pitchFamily="2" charset="0"/>
              <a:cs typeface="Google Sans" pitchFamily="2" charset="0"/>
            </a:endParaRPr>
          </a:p>
        </p:txBody>
      </p:sp>
      <p:sp>
        <p:nvSpPr>
          <p:cNvPr id="10" name="Text 5">
            <a:extLst>
              <a:ext uri="{FF2B5EF4-FFF2-40B4-BE49-F238E27FC236}">
                <a16:creationId xmlns:a16="http://schemas.microsoft.com/office/drawing/2014/main" id="{63FAD625-986D-D63A-9C02-224DC4AFC1BF}"/>
              </a:ext>
            </a:extLst>
          </p:cNvPr>
          <p:cNvSpPr/>
          <p:nvPr/>
        </p:nvSpPr>
        <p:spPr>
          <a:xfrm>
            <a:off x="11274552" y="6463478"/>
            <a:ext cx="411480" cy="120197"/>
          </a:xfrm>
          <a:prstGeom prst="rect">
            <a:avLst/>
          </a:prstGeom>
          <a:noFill/>
          <a:ln/>
        </p:spPr>
        <p:txBody>
          <a:bodyPr wrap="square" lIns="0" tIns="0" rIns="0" bIns="0" rtlCol="0" anchor="ctr"/>
          <a:lstStyle/>
          <a:p>
            <a:pPr marL="0" indent="0" algn="r">
              <a:buNone/>
            </a:pPr>
            <a:r>
              <a:rPr lang="en-US" sz="1100" dirty="0">
                <a:solidFill>
                  <a:srgbClr val="5B6670"/>
                </a:solidFill>
                <a:latin typeface="Google Sans" pitchFamily="2" charset="0"/>
                <a:ea typeface="Google Sans" pitchFamily="2" charset="0"/>
                <a:cs typeface="Google Sans" pitchFamily="2" charset="0"/>
              </a:rPr>
              <a:t>19</a:t>
            </a:r>
            <a:endParaRPr lang="en-US" sz="1100" dirty="0">
              <a:latin typeface="Google Sans" pitchFamily="2" charset="0"/>
              <a:ea typeface="Google Sans" pitchFamily="2" charset="0"/>
              <a:cs typeface="Google Sans" pitchFamily="2" charset="0"/>
            </a:endParaRPr>
          </a:p>
        </p:txBody>
      </p:sp>
    </p:spTree>
    <p:extLst>
      <p:ext uri="{BB962C8B-B14F-4D97-AF65-F5344CB8AC3E}">
        <p14:creationId xmlns:p14="http://schemas.microsoft.com/office/powerpoint/2010/main" val="3572803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15356</TotalTime>
  <Words>2006</Words>
  <Application>Microsoft Macintosh PowerPoint</Application>
  <PresentationFormat>Widescreen</PresentationFormat>
  <Paragraphs>244</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Cambria Math</vt:lpstr>
      <vt:lpstr>Google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Kai Yao</cp:lastModifiedBy>
  <cp:revision>432</cp:revision>
  <dcterms:created xsi:type="dcterms:W3CDTF">2026-03-06T14:42:05Z</dcterms:created>
  <dcterms:modified xsi:type="dcterms:W3CDTF">2026-03-25T05:08:24Z</dcterms:modified>
  <cp:category/>
</cp:coreProperties>
</file>